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notesMasterIdLst>
    <p:notesMasterId r:id="rId20"/>
  </p:notesMasterIdLst>
  <p:sldIdLst>
    <p:sldId id="256" r:id="rId2"/>
    <p:sldId id="257" r:id="rId3"/>
    <p:sldId id="258" r:id="rId4"/>
    <p:sldId id="259" r:id="rId5"/>
    <p:sldId id="260" r:id="rId6"/>
    <p:sldId id="270" r:id="rId7"/>
    <p:sldId id="261" r:id="rId8"/>
    <p:sldId id="271" r:id="rId9"/>
    <p:sldId id="262" r:id="rId10"/>
    <p:sldId id="269" r:id="rId11"/>
    <p:sldId id="263" r:id="rId12"/>
    <p:sldId id="272" r:id="rId13"/>
    <p:sldId id="273" r:id="rId14"/>
    <p:sldId id="264" r:id="rId15"/>
    <p:sldId id="274" r:id="rId16"/>
    <p:sldId id="266" r:id="rId17"/>
    <p:sldId id="267"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ovind Patidar" initials="GP" lastIdx="2" clrIdx="0">
    <p:extLst>
      <p:ext uri="{19B8F6BF-5375-455C-9EA6-DF929625EA0E}">
        <p15:presenceInfo xmlns:p15="http://schemas.microsoft.com/office/powerpoint/2012/main" userId="3b53cf6d602f48f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AEB"/>
    <a:srgbClr val="CFCFC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144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200" b="1" i="0" u="none" strike="noStrike" kern="1200" cap="all" spc="150" baseline="0">
              <a:solidFill>
                <a:schemeClr val="tx1">
                  <a:lumMod val="50000"/>
                  <a:lumOff val="50000"/>
                </a:schemeClr>
              </a:solidFill>
              <a:latin typeface="+mn-lt"/>
              <a:ea typeface="+mn-ea"/>
              <a:cs typeface="+mn-cs"/>
            </a:defRPr>
          </a:pPr>
          <a:endParaRPr lang="en-US"/>
        </a:p>
      </c:txPr>
    </c:title>
    <c:autoTitleDeleted val="0"/>
    <c:plotArea>
      <c:layout>
        <c:manualLayout>
          <c:layoutTarget val="inner"/>
          <c:xMode val="edge"/>
          <c:yMode val="edge"/>
          <c:x val="3.3336609200337347E-2"/>
          <c:y val="0.10934032989307875"/>
          <c:w val="0.90333131348563356"/>
          <c:h val="0.82416327541120582"/>
        </c:manualLayout>
      </c:layout>
      <c:lineChart>
        <c:grouping val="standard"/>
        <c:varyColors val="0"/>
        <c:ser>
          <c:idx val="0"/>
          <c:order val="0"/>
          <c:tx>
            <c:strRef>
              <c:f>Sheet1!$B$1</c:f>
              <c:strCache>
                <c:ptCount val="1"/>
                <c:pt idx="0">
                  <c:v>Revenue</c:v>
                </c:pt>
              </c:strCache>
            </c:strRef>
          </c:tx>
          <c:spPr>
            <a:ln w="38100" cap="flat" cmpd="dbl" algn="ctr">
              <a:solidFill>
                <a:schemeClr val="accent1"/>
              </a:solidFill>
              <a:miter lim="800000"/>
            </a:ln>
            <a:effectLst/>
          </c:spPr>
          <c:marker>
            <c:symbol val="none"/>
          </c:marker>
          <c:dLbls>
            <c:delete val="1"/>
          </c:dLbls>
          <c:cat>
            <c:numRef>
              <c:f>Sheet1!$A$2:$A$7</c:f>
              <c:numCache>
                <c:formatCode>General</c:formatCode>
                <c:ptCount val="6"/>
                <c:pt idx="0">
                  <c:v>2021</c:v>
                </c:pt>
                <c:pt idx="1">
                  <c:v>2022</c:v>
                </c:pt>
                <c:pt idx="2">
                  <c:v>2023</c:v>
                </c:pt>
                <c:pt idx="3">
                  <c:v>2024</c:v>
                </c:pt>
                <c:pt idx="4">
                  <c:v>2025</c:v>
                </c:pt>
                <c:pt idx="5">
                  <c:v>2026</c:v>
                </c:pt>
              </c:numCache>
            </c:numRef>
          </c:cat>
          <c:val>
            <c:numRef>
              <c:f>Sheet1!$B$2:$B$7</c:f>
              <c:numCache>
                <c:formatCode>0.00%</c:formatCode>
                <c:ptCount val="6"/>
                <c:pt idx="0">
                  <c:v>0.1041</c:v>
                </c:pt>
                <c:pt idx="1">
                  <c:v>0.14628790299438488</c:v>
                </c:pt>
                <c:pt idx="2">
                  <c:v>0.13193734257523237</c:v>
                </c:pt>
                <c:pt idx="3">
                  <c:v>0.27541082174806419</c:v>
                </c:pt>
                <c:pt idx="4">
                  <c:v>-0.1718598386727167</c:v>
                </c:pt>
                <c:pt idx="5">
                  <c:v>0.14617880995329058</c:v>
                </c:pt>
              </c:numCache>
            </c:numRef>
          </c:val>
          <c:smooth val="0"/>
          <c:extLst>
            <c:ext xmlns:c16="http://schemas.microsoft.com/office/drawing/2014/chart" uri="{C3380CC4-5D6E-409C-BE32-E72D297353CC}">
              <c16:uniqueId val="{00000000-6D37-4081-BF14-1C733C06B379}"/>
            </c:ext>
          </c:extLst>
        </c:ser>
        <c:dLbls>
          <c:dLblPos val="ctr"/>
          <c:showLegendKey val="0"/>
          <c:showVal val="1"/>
          <c:showCatName val="0"/>
          <c:showSerName val="0"/>
          <c:showPercent val="0"/>
          <c:showBubbleSize val="0"/>
        </c:dLbls>
        <c:smooth val="0"/>
        <c:axId val="516376664"/>
        <c:axId val="516374864"/>
        <c:extLst>
          <c:ext xmlns:c15="http://schemas.microsoft.com/office/drawing/2012/chart" uri="{02D57815-91ED-43cb-92C2-25804820EDAC}">
            <c15:filteredLineSeries>
              <c15:ser>
                <c:idx val="1"/>
                <c:order val="1"/>
                <c:tx>
                  <c:strRef>
                    <c:extLst>
                      <c:ext uri="{02D57815-91ED-43cb-92C2-25804820EDAC}">
                        <c15:formulaRef>
                          <c15:sqref>Sheet1!$C$1</c15:sqref>
                        </c15:formulaRef>
                      </c:ext>
                    </c:extLst>
                    <c:strCache>
                      <c:ptCount val="1"/>
                      <c:pt idx="0">
                        <c:v>Column1</c:v>
                      </c:pt>
                    </c:strCache>
                  </c:strRef>
                </c:tx>
                <c:spPr>
                  <a:ln w="38100" cap="flat" cmpd="dbl" algn="ctr">
                    <a:solidFill>
                      <a:schemeClr val="accent3"/>
                    </a:solidFill>
                    <a:miter lim="800000"/>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uri="{CE6537A1-D6FC-4f65-9D91-7224C49458BB}">
                      <c15:showLeaderLines val="1"/>
                      <c15:leaderLines>
                        <c:spPr>
                          <a:ln w="9525">
                            <a:solidFill>
                              <a:schemeClr val="tx1">
                                <a:lumMod val="35000"/>
                                <a:lumOff val="65000"/>
                              </a:schemeClr>
                            </a:solidFill>
                          </a:ln>
                          <a:effectLst/>
                        </c:spPr>
                      </c15:leaderLines>
                    </c:ext>
                  </c:extLst>
                </c:dLbls>
                <c:cat>
                  <c:numRef>
                    <c:extLst>
                      <c:ext uri="{02D57815-91ED-43cb-92C2-25804820EDAC}">
                        <c15:formulaRef>
                          <c15:sqref>Sheet1!$A$2:$A$7</c15:sqref>
                        </c15:formulaRef>
                      </c:ext>
                    </c:extLst>
                    <c:numCache>
                      <c:formatCode>General</c:formatCode>
                      <c:ptCount val="6"/>
                      <c:pt idx="0">
                        <c:v>2021</c:v>
                      </c:pt>
                      <c:pt idx="1">
                        <c:v>2022</c:v>
                      </c:pt>
                      <c:pt idx="2">
                        <c:v>2023</c:v>
                      </c:pt>
                      <c:pt idx="3">
                        <c:v>2024</c:v>
                      </c:pt>
                      <c:pt idx="4">
                        <c:v>2025</c:v>
                      </c:pt>
                      <c:pt idx="5">
                        <c:v>2026</c:v>
                      </c:pt>
                    </c:numCache>
                  </c:numRef>
                </c:cat>
                <c:val>
                  <c:numRef>
                    <c:extLst>
                      <c:ext uri="{02D57815-91ED-43cb-92C2-25804820EDAC}">
                        <c15:formulaRef>
                          <c15:sqref>Sheet1!$C$2:$C$7</c15:sqref>
                        </c15:formulaRef>
                      </c:ext>
                    </c:extLst>
                    <c:numCache>
                      <c:formatCode>General</c:formatCode>
                      <c:ptCount val="6"/>
                    </c:numCache>
                  </c:numRef>
                </c:val>
                <c:smooth val="0"/>
                <c:extLst>
                  <c:ext xmlns:c16="http://schemas.microsoft.com/office/drawing/2014/chart" uri="{C3380CC4-5D6E-409C-BE32-E72D297353CC}">
                    <c16:uniqueId val="{00000001-6D37-4081-BF14-1C733C06B379}"/>
                  </c:ext>
                </c:extLst>
              </c15:ser>
            </c15:filteredLineSeries>
            <c15:filteredLineSeries>
              <c15:ser>
                <c:idx val="2"/>
                <c:order val="2"/>
                <c:tx>
                  <c:strRef>
                    <c:extLst xmlns:c15="http://schemas.microsoft.com/office/drawing/2012/chart">
                      <c:ext xmlns:c15="http://schemas.microsoft.com/office/drawing/2012/chart" uri="{02D57815-91ED-43cb-92C2-25804820EDAC}">
                        <c15:formulaRef>
                          <c15:sqref>Sheet1!$D$1</c15:sqref>
                        </c15:formulaRef>
                      </c:ext>
                    </c:extLst>
                    <c:strCache>
                      <c:ptCount val="1"/>
                      <c:pt idx="0">
                        <c:v>Column2</c:v>
                      </c:pt>
                    </c:strCache>
                  </c:strRef>
                </c:tx>
                <c:spPr>
                  <a:ln w="38100" cap="flat" cmpd="dbl" algn="ctr">
                    <a:solidFill>
                      <a:schemeClr val="accent5"/>
                    </a:solidFill>
                    <a:miter lim="800000"/>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extLst xmlns:c15="http://schemas.microsoft.com/office/drawing/2012/chart">
                      <c:ext xmlns:c15="http://schemas.microsoft.com/office/drawing/2012/chart" uri="{02D57815-91ED-43cb-92C2-25804820EDAC}">
                        <c15:formulaRef>
                          <c15:sqref>Sheet1!$A$2:$A$7</c15:sqref>
                        </c15:formulaRef>
                      </c:ext>
                    </c:extLst>
                    <c:numCache>
                      <c:formatCode>General</c:formatCode>
                      <c:ptCount val="6"/>
                      <c:pt idx="0">
                        <c:v>2021</c:v>
                      </c:pt>
                      <c:pt idx="1">
                        <c:v>2022</c:v>
                      </c:pt>
                      <c:pt idx="2">
                        <c:v>2023</c:v>
                      </c:pt>
                      <c:pt idx="3">
                        <c:v>2024</c:v>
                      </c:pt>
                      <c:pt idx="4">
                        <c:v>2025</c:v>
                      </c:pt>
                      <c:pt idx="5">
                        <c:v>2026</c:v>
                      </c:pt>
                    </c:numCache>
                  </c:numRef>
                </c:cat>
                <c:val>
                  <c:numRef>
                    <c:extLst xmlns:c15="http://schemas.microsoft.com/office/drawing/2012/chart">
                      <c:ext xmlns:c15="http://schemas.microsoft.com/office/drawing/2012/chart" uri="{02D57815-91ED-43cb-92C2-25804820EDAC}">
                        <c15:formulaRef>
                          <c15:sqref>Sheet1!$D$2:$D$7</c15:sqref>
                        </c15:formulaRef>
                      </c:ext>
                    </c:extLst>
                    <c:numCache>
                      <c:formatCode>General</c:formatCode>
                      <c:ptCount val="6"/>
                    </c:numCache>
                  </c:numRef>
                </c:val>
                <c:smooth val="0"/>
                <c:extLst xmlns:c15="http://schemas.microsoft.com/office/drawing/2012/chart">
                  <c:ext xmlns:c16="http://schemas.microsoft.com/office/drawing/2014/chart" uri="{C3380CC4-5D6E-409C-BE32-E72D297353CC}">
                    <c16:uniqueId val="{00000002-6D37-4081-BF14-1C733C06B379}"/>
                  </c:ext>
                </c:extLst>
              </c15:ser>
            </c15:filteredLineSeries>
          </c:ext>
        </c:extLst>
      </c:lineChart>
      <c:catAx>
        <c:axId val="516376664"/>
        <c:scaling>
          <c:orientation val="minMax"/>
        </c:scaling>
        <c:delete val="0"/>
        <c:axPos val="b"/>
        <c:majorGridlines>
          <c:spPr>
            <a:ln w="9525" cap="flat" cmpd="sng" algn="ctr">
              <a:solidFill>
                <a:schemeClr val="tx1">
                  <a:lumMod val="15000"/>
                  <a:lumOff val="85000"/>
                  <a:alpha val="32000"/>
                </a:schemeClr>
              </a:solidFill>
              <a:round/>
            </a:ln>
            <a:effectLst/>
          </c:spPr>
        </c:majorGridlines>
        <c:numFmt formatCode="General" sourceLinked="1"/>
        <c:majorTickMark val="none"/>
        <c:minorTickMark val="none"/>
        <c:tickLblPos val="nextTo"/>
        <c:spPr>
          <a:noFill/>
          <a:ln w="3175" cap="flat" cmpd="sng" algn="ctr">
            <a:solidFill>
              <a:schemeClr val="tx1">
                <a:lumMod val="15000"/>
                <a:lumOff val="85000"/>
              </a:schemeClr>
            </a:solidFill>
            <a:round/>
            <a:tailEnd type="none" w="med" len="lg"/>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516374864"/>
        <c:crosses val="autoZero"/>
        <c:auto val="1"/>
        <c:lblAlgn val="ctr"/>
        <c:lblOffset val="100"/>
        <c:noMultiLvlLbl val="0"/>
      </c:catAx>
      <c:valAx>
        <c:axId val="516374864"/>
        <c:scaling>
          <c:orientation val="minMax"/>
        </c:scaling>
        <c:delete val="0"/>
        <c:axPos val="l"/>
        <c:majorGridlines>
          <c:spPr>
            <a:ln w="9525" cap="flat" cmpd="sng" algn="ctr">
              <a:solidFill>
                <a:schemeClr val="tx1">
                  <a:lumMod val="15000"/>
                  <a:lumOff val="85000"/>
                  <a:alpha val="32000"/>
                </a:schemeClr>
              </a:solidFill>
              <a:round/>
            </a:ln>
            <a:effectLst/>
          </c:spPr>
        </c:majorGridlines>
        <c:numFmt formatCode="0.00%" sourceLinked="1"/>
        <c:majorTickMark val="none"/>
        <c:minorTickMark val="none"/>
        <c:tickLblPos val="nextTo"/>
        <c:spPr>
          <a:noFill/>
          <a:ln w="3175" cap="flat" cmpd="sng" algn="ctr">
            <a:solidFill>
              <a:schemeClr val="tx1">
                <a:lumMod val="15000"/>
                <a:lumOff val="85000"/>
              </a:schemeClr>
            </a:solidFill>
            <a:round/>
            <a:tailEnd type="none" w="med" len="lg"/>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1637666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a:glow rad="228600">
        <a:schemeClr val="accent2">
          <a:satMod val="175000"/>
          <a:alpha val="40000"/>
        </a:schemeClr>
      </a:glow>
      <a:innerShdw blurRad="63500" dist="50800" dir="16200000">
        <a:prstClr val="black">
          <a:alpha val="50000"/>
        </a:prstClr>
      </a:innerShdw>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dirty="0"/>
              <a:t>Net Profit </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1060788180640645"/>
          <c:y val="0.10727990141744861"/>
          <c:w val="0.87143927649199782"/>
          <c:h val="0.7947113143219392"/>
        </c:manualLayout>
      </c:layout>
      <c:lineChart>
        <c:grouping val="stacked"/>
        <c:varyColors val="0"/>
        <c:ser>
          <c:idx val="0"/>
          <c:order val="0"/>
          <c:tx>
            <c:strRef>
              <c:f>Sheet1!$A$1</c:f>
              <c:strCache>
                <c:ptCount val="1"/>
                <c:pt idx="0">
                  <c:v>Net Profit</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2021</c:v>
                </c:pt>
                <c:pt idx="1">
                  <c:v>2022</c:v>
                </c:pt>
                <c:pt idx="2">
                  <c:v>2023</c:v>
                </c:pt>
                <c:pt idx="3">
                  <c:v>2024</c:v>
                </c:pt>
                <c:pt idx="4">
                  <c:v>2025</c:v>
                </c:pt>
                <c:pt idx="5">
                  <c:v>2026</c:v>
                </c:pt>
              </c:numCache>
            </c:numRef>
          </c:cat>
          <c:val>
            <c:numRef>
              <c:f>Sheet1!$B$2:$B$7</c:f>
              <c:numCache>
                <c:formatCode>0.00%</c:formatCode>
                <c:ptCount val="6"/>
                <c:pt idx="0">
                  <c:v>7.1464937560038022E-2</c:v>
                </c:pt>
                <c:pt idx="1">
                  <c:v>2.3520815495855496E-2</c:v>
                </c:pt>
                <c:pt idx="2">
                  <c:v>0.26274274502246886</c:v>
                </c:pt>
                <c:pt idx="3">
                  <c:v>0.30892385811450596</c:v>
                </c:pt>
                <c:pt idx="4">
                  <c:v>-0.21500854564966809</c:v>
                </c:pt>
                <c:pt idx="5">
                  <c:v>0.14242651327959321</c:v>
                </c:pt>
              </c:numCache>
            </c:numRef>
          </c:val>
          <c:smooth val="0"/>
          <c:extLst>
            <c:ext xmlns:c16="http://schemas.microsoft.com/office/drawing/2014/chart" uri="{C3380CC4-5D6E-409C-BE32-E72D297353CC}">
              <c16:uniqueId val="{00000000-43AD-4AA8-AA72-28121FD79A97}"/>
            </c:ext>
          </c:extLst>
        </c:ser>
        <c:ser>
          <c:idx val="1"/>
          <c:order val="1"/>
          <c:tx>
            <c:strRef>
              <c:f>Sheet1!$C$1</c:f>
              <c:strCache>
                <c:ptCount val="1"/>
                <c:pt idx="0">
                  <c:v>.2</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2021</c:v>
                </c:pt>
                <c:pt idx="1">
                  <c:v>2022</c:v>
                </c:pt>
                <c:pt idx="2">
                  <c:v>2023</c:v>
                </c:pt>
                <c:pt idx="3">
                  <c:v>2024</c:v>
                </c:pt>
                <c:pt idx="4">
                  <c:v>2025</c:v>
                </c:pt>
                <c:pt idx="5">
                  <c:v>2026</c:v>
                </c:pt>
              </c:numCache>
            </c:numRef>
          </c:cat>
          <c:val>
            <c:numRef>
              <c:f>Sheet1!$C$2:$C$7</c:f>
              <c:numCache>
                <c:formatCode>General</c:formatCode>
                <c:ptCount val="6"/>
              </c:numCache>
            </c:numRef>
          </c:val>
          <c:smooth val="0"/>
          <c:extLst>
            <c:ext xmlns:c16="http://schemas.microsoft.com/office/drawing/2014/chart" uri="{C3380CC4-5D6E-409C-BE32-E72D297353CC}">
              <c16:uniqueId val="{00000001-43AD-4AA8-AA72-28121FD79A97}"/>
            </c:ext>
          </c:extLst>
        </c:ser>
        <c:ser>
          <c:idx val="2"/>
          <c:order val="2"/>
          <c:tx>
            <c:strRef>
              <c:f>Sheet1!$D$1</c:f>
              <c:strCache>
                <c:ptCount val="1"/>
                <c:pt idx="0">
                  <c:v>Column1</c:v>
                </c:pt>
              </c:strCache>
            </c:strRef>
          </c:tx>
          <c:spPr>
            <a:ln w="28575" cap="rnd">
              <a:solidFill>
                <a:srgbClr val="C00000"/>
              </a:solidFill>
              <a:round/>
            </a:ln>
            <a:effectLst/>
          </c:spPr>
          <c:marker>
            <c:symbol val="circle"/>
            <c:size val="5"/>
            <c:spPr>
              <a:solidFill>
                <a:schemeClr val="accent5"/>
              </a:solidFill>
              <a:ln w="9525">
                <a:solidFill>
                  <a:srgbClr val="C00000"/>
                </a:solidFill>
              </a:ln>
              <a:effectLst/>
            </c:spPr>
          </c:marker>
          <c:cat>
            <c:numRef>
              <c:f>Sheet1!$A$2:$A$7</c:f>
              <c:numCache>
                <c:formatCode>General</c:formatCode>
                <c:ptCount val="6"/>
                <c:pt idx="0">
                  <c:v>2021</c:v>
                </c:pt>
                <c:pt idx="1">
                  <c:v>2022</c:v>
                </c:pt>
                <c:pt idx="2">
                  <c:v>2023</c:v>
                </c:pt>
                <c:pt idx="3">
                  <c:v>2024</c:v>
                </c:pt>
                <c:pt idx="4">
                  <c:v>2025</c:v>
                </c:pt>
                <c:pt idx="5">
                  <c:v>2026</c:v>
                </c:pt>
              </c:numCache>
            </c:numRef>
          </c:cat>
          <c:val>
            <c:numRef>
              <c:f>Sheet1!$D$2:$D$7</c:f>
              <c:numCache>
                <c:formatCode>General</c:formatCode>
                <c:ptCount val="6"/>
              </c:numCache>
            </c:numRef>
          </c:val>
          <c:smooth val="0"/>
          <c:extLst>
            <c:ext xmlns:c16="http://schemas.microsoft.com/office/drawing/2014/chart" uri="{C3380CC4-5D6E-409C-BE32-E72D297353CC}">
              <c16:uniqueId val="{00000002-43AD-4AA8-AA72-28121FD79A97}"/>
            </c:ext>
          </c:extLst>
        </c:ser>
        <c:dLbls>
          <c:showLegendKey val="0"/>
          <c:showVal val="0"/>
          <c:showCatName val="0"/>
          <c:showSerName val="0"/>
          <c:showPercent val="0"/>
          <c:showBubbleSize val="0"/>
        </c:dLbls>
        <c:marker val="1"/>
        <c:smooth val="0"/>
        <c:axId val="516377744"/>
        <c:axId val="516367664"/>
      </c:lineChart>
      <c:catAx>
        <c:axId val="5163777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16367664"/>
        <c:crosses val="autoZero"/>
        <c:auto val="1"/>
        <c:lblAlgn val="ctr"/>
        <c:lblOffset val="100"/>
        <c:noMultiLvlLbl val="0"/>
      </c:catAx>
      <c:valAx>
        <c:axId val="516367664"/>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16377744"/>
        <c:crosses val="autoZero"/>
        <c:crossBetween val="between"/>
      </c:valAx>
      <c:spPr>
        <a:noFill/>
        <a:ln>
          <a:noFill/>
        </a:ln>
        <a:effectLst/>
      </c:spPr>
    </c:plotArea>
    <c:legend>
      <c:legendPos val="b"/>
      <c:legendEntry>
        <c:idx val="1"/>
        <c:delete val="1"/>
      </c:legendEntry>
      <c:legendEntry>
        <c:idx val="2"/>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7">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3175" cap="flat" cmpd="sng" algn="ctr">
        <a:solidFill>
          <a:schemeClr val="tx1">
            <a:lumMod val="15000"/>
            <a:lumOff val="85000"/>
          </a:schemeClr>
        </a:solidFill>
        <a:round/>
        <a:tailEnd type="none" w="med" len="lg"/>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38100" cap="flat" cmpd="dbl" algn="ctr">
        <a:solidFill>
          <a:schemeClr val="phClr"/>
        </a:solidFill>
        <a:miter lim="800000"/>
      </a:ln>
    </cs:spPr>
  </cs:dataPointLine>
  <cs:dataPointMarker>
    <cs:lnRef idx="0">
      <cs:styleClr val="auto"/>
    </cs:lnRef>
    <cs:fillRef idx="0">
      <cs:styleClr val="auto"/>
    </cs:fillRef>
    <cs:effectRef idx="0"/>
    <cs:fontRef idx="minor">
      <a:schemeClr val="tx1"/>
    </cs:fontRef>
    <cs:spPr>
      <a:solidFill>
        <a:schemeClr val="phClr"/>
      </a:solidFill>
      <a:ln w="9525" cap="flat" cmpd="sng" algn="ctr">
        <a:solidFill>
          <a:schemeClr val="lt1"/>
        </a:solidFill>
        <a:round/>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tx1"/>
    </cs:fontRef>
    <cs:spPr>
      <a:ln w="9525">
        <a:solidFill>
          <a:schemeClr val="tx1">
            <a:lumMod val="35000"/>
            <a:lumOff val="65000"/>
          </a:schemeClr>
        </a:solidFill>
      </a:ln>
    </cs:spPr>
  </cs:dropLine>
  <cs:errorBar>
    <cs:lnRef idx="0"/>
    <cs:fillRef idx="0"/>
    <cs:effectRef idx="0"/>
    <cs:fontRef idx="minor">
      <a:schemeClr val="tx1"/>
    </cs:fontRef>
    <cs:spPr>
      <a:ln w="9525">
        <a:solidFill>
          <a:schemeClr val="tx1">
            <a:lumMod val="65000"/>
            <a:lumOff val="35000"/>
          </a:schemeClr>
        </a:solidFill>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alpha val="32000"/>
          </a:schemeClr>
        </a:solidFill>
        <a:round/>
      </a:ln>
    </cs:spPr>
  </cs:gridlineMajor>
  <cs:gridlineMinor>
    <cs:lnRef idx="0"/>
    <cs:fillRef idx="0"/>
    <cs:effectRef idx="0"/>
    <cs:fontRef idx="minor">
      <a:schemeClr val="tx1"/>
    </cs:fontRef>
    <cs:spPr>
      <a:ln>
        <a:solidFill>
          <a:schemeClr val="tx1">
            <a:lumMod val="5000"/>
            <a:lumOff val="95000"/>
            <a:alpha val="32000"/>
          </a:schemeClr>
        </a:solidFill>
      </a:ln>
    </cs:spPr>
  </cs:gridlineMinor>
  <cs:hiLoLine>
    <cs:lnRef idx="0"/>
    <cs:fillRef idx="0"/>
    <cs:effectRef idx="0"/>
    <cs:fontRef idx="minor">
      <a:schemeClr val="tx1"/>
    </cs:fontRef>
    <cs:spPr>
      <a:ln w="9525">
        <a:solidFill>
          <a:schemeClr val="tx1"/>
        </a:solidFill>
      </a:ln>
    </cs:spPr>
  </cs:hiLoLine>
  <cs:leaderLine>
    <cs:lnRef idx="0"/>
    <cs:fillRef idx="0"/>
    <cs:effectRef idx="0"/>
    <cs:fontRef idx="minor">
      <a:schemeClr val="tx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cs:fontRef>
    <cs:spPr>
      <a:ln w="3175" cap="flat" cmpd="sng" algn="ctr">
        <a:solidFill>
          <a:schemeClr val="tx1">
            <a:lumMod val="15000"/>
            <a:lumOff val="85000"/>
          </a:schemeClr>
        </a:solidFill>
        <a:round/>
        <a:tailEnd type="none" w="med" len="lg"/>
      </a:ln>
    </cs:spPr>
    <cs:defRPr sz="1197" kern="1200"/>
  </cs:seriesAxis>
  <cs:seriesLine>
    <cs:lnRef idx="0"/>
    <cs:fillRef idx="0"/>
    <cs:effectRef idx="0"/>
    <cs:fontRef idx="minor">
      <a:schemeClr val="tx1"/>
    </cs:fontRef>
    <cs:spPr>
      <a:ln w="9525">
        <a:solidFill>
          <a:schemeClr val="tx1">
            <a:lumMod val="35000"/>
            <a:lumOff val="65000"/>
          </a:schemeClr>
        </a:solidFill>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0"/>
    <cs:effectRef idx="0"/>
    <cs:fontRef idx="minor">
      <a:schemeClr val="tx1"/>
    </cs:fontRef>
    <cs:spPr>
      <a:ln w="12700" cap="rnd"/>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3175" cap="flat" cmpd="sng" algn="ctr">
        <a:solidFill>
          <a:schemeClr val="tx1">
            <a:lumMod val="15000"/>
            <a:lumOff val="85000"/>
          </a:schemeClr>
        </a:solidFill>
        <a:round/>
        <a:tailEnd type="none" w="med" len="lg"/>
      </a:ln>
    </cs:spPr>
    <cs:defRPr sz="1197"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_rels/data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image" Target="../media/image4.png"/></Relationships>
</file>

<file path=ppt/diagrams/_rels/data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diagrams/_rels/drawing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image" Target="../media/image4.png"/></Relationships>
</file>

<file path=ppt/diagrams/_rels/drawing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1566F85-A418-416B-8B68-CDBC66CD6528}" type="doc">
      <dgm:prSet loTypeId="urn:microsoft.com/office/officeart/2005/8/layout/vList2" loCatId="list" qsTypeId="urn:microsoft.com/office/officeart/2005/8/quickstyle/3d2" qsCatId="3D" csTypeId="urn:microsoft.com/office/officeart/2005/8/colors/colorful4" csCatId="colorful"/>
      <dgm:spPr/>
      <dgm:t>
        <a:bodyPr/>
        <a:lstStyle/>
        <a:p>
          <a:endParaRPr lang="en-IN"/>
        </a:p>
      </dgm:t>
    </dgm:pt>
    <dgm:pt modelId="{892BB1F5-5180-4A49-B13F-9C67AFC066F2}">
      <dgm:prSet/>
      <dgm:spPr/>
      <dgm:t>
        <a:bodyPr/>
        <a:lstStyle/>
        <a:p>
          <a:r>
            <a:rPr lang="en-US" b="0" i="0" dirty="0"/>
            <a:t>The profit trend graph shows significant changes between 2021 and 2026. Net profit begins at a slightly positive level in 2021. It dips a bit in 2022, then rises sharply to around 30% by 2024. This rise reflects strong growth. However, in 2025, it drops to nearly -25%. </a:t>
          </a:r>
          <a:endParaRPr lang="en-IN" dirty="0"/>
        </a:p>
      </dgm:t>
    </dgm:pt>
    <dgm:pt modelId="{F75786F5-6F2C-45B6-A4DF-884BE1557FDD}" type="parTrans" cxnId="{98E8E340-178B-4BA9-9AE8-202AB001488E}">
      <dgm:prSet/>
      <dgm:spPr/>
      <dgm:t>
        <a:bodyPr/>
        <a:lstStyle/>
        <a:p>
          <a:endParaRPr lang="en-IN"/>
        </a:p>
      </dgm:t>
    </dgm:pt>
    <dgm:pt modelId="{8822DBD5-1392-4FE0-B3C2-09F554984018}" type="sibTrans" cxnId="{98E8E340-178B-4BA9-9AE8-202AB001488E}">
      <dgm:prSet/>
      <dgm:spPr/>
      <dgm:t>
        <a:bodyPr/>
        <a:lstStyle/>
        <a:p>
          <a:endParaRPr lang="en-IN"/>
        </a:p>
      </dgm:t>
    </dgm:pt>
    <dgm:pt modelId="{110C5618-D837-4FC6-972A-1A7ED626134F}">
      <dgm:prSet/>
      <dgm:spPr/>
      <dgm:t>
        <a:bodyPr/>
        <a:lstStyle/>
        <a:p>
          <a:r>
            <a:rPr lang="en-US" b="0" i="0"/>
            <a:t>This decline indicates major challenges, such as rising costs or weak demand. By 2026, profits recover to about 15%, suggesting stabilization. Overall, the data highlights volatility caused by both internal efficiency and external market pressures.</a:t>
          </a:r>
          <a:endParaRPr lang="en-IN"/>
        </a:p>
      </dgm:t>
    </dgm:pt>
    <dgm:pt modelId="{0CFF0097-8E58-4C34-A3DC-2E9BE8A67173}" type="parTrans" cxnId="{39A52F20-9B45-42BC-A3BF-1E37A1DC3DE5}">
      <dgm:prSet/>
      <dgm:spPr/>
      <dgm:t>
        <a:bodyPr/>
        <a:lstStyle/>
        <a:p>
          <a:endParaRPr lang="en-IN"/>
        </a:p>
      </dgm:t>
    </dgm:pt>
    <dgm:pt modelId="{424D583A-BAA2-4339-9A67-DF8F93F2B08B}" type="sibTrans" cxnId="{39A52F20-9B45-42BC-A3BF-1E37A1DC3DE5}">
      <dgm:prSet/>
      <dgm:spPr/>
      <dgm:t>
        <a:bodyPr/>
        <a:lstStyle/>
        <a:p>
          <a:endParaRPr lang="en-IN"/>
        </a:p>
      </dgm:t>
    </dgm:pt>
    <dgm:pt modelId="{9AAC292E-5A15-46DB-8E71-FB45EAAE99BD}" type="pres">
      <dgm:prSet presAssocID="{D1566F85-A418-416B-8B68-CDBC66CD6528}" presName="linear" presStyleCnt="0">
        <dgm:presLayoutVars>
          <dgm:animLvl val="lvl"/>
          <dgm:resizeHandles val="exact"/>
        </dgm:presLayoutVars>
      </dgm:prSet>
      <dgm:spPr/>
    </dgm:pt>
    <dgm:pt modelId="{DD3E24F8-8204-4DF6-BDDF-A1B20C3306F8}" type="pres">
      <dgm:prSet presAssocID="{892BB1F5-5180-4A49-B13F-9C67AFC066F2}" presName="parentText" presStyleLbl="node1" presStyleIdx="0" presStyleCnt="2">
        <dgm:presLayoutVars>
          <dgm:chMax val="0"/>
          <dgm:bulletEnabled val="1"/>
        </dgm:presLayoutVars>
      </dgm:prSet>
      <dgm:spPr/>
    </dgm:pt>
    <dgm:pt modelId="{336BC721-0BB0-45E6-B170-8E1B5FBFD9EB}" type="pres">
      <dgm:prSet presAssocID="{8822DBD5-1392-4FE0-B3C2-09F554984018}" presName="spacer" presStyleCnt="0"/>
      <dgm:spPr/>
    </dgm:pt>
    <dgm:pt modelId="{271525E2-9DF1-49EE-99E5-6B42F230D9F8}" type="pres">
      <dgm:prSet presAssocID="{110C5618-D837-4FC6-972A-1A7ED626134F}" presName="parentText" presStyleLbl="node1" presStyleIdx="1" presStyleCnt="2">
        <dgm:presLayoutVars>
          <dgm:chMax val="0"/>
          <dgm:bulletEnabled val="1"/>
        </dgm:presLayoutVars>
      </dgm:prSet>
      <dgm:spPr/>
    </dgm:pt>
  </dgm:ptLst>
  <dgm:cxnLst>
    <dgm:cxn modelId="{3E76D80B-01EA-4679-A3CF-DDA718D6190A}" type="presOf" srcId="{892BB1F5-5180-4A49-B13F-9C67AFC066F2}" destId="{DD3E24F8-8204-4DF6-BDDF-A1B20C3306F8}" srcOrd="0" destOrd="0" presId="urn:microsoft.com/office/officeart/2005/8/layout/vList2"/>
    <dgm:cxn modelId="{39A52F20-9B45-42BC-A3BF-1E37A1DC3DE5}" srcId="{D1566F85-A418-416B-8B68-CDBC66CD6528}" destId="{110C5618-D837-4FC6-972A-1A7ED626134F}" srcOrd="1" destOrd="0" parTransId="{0CFF0097-8E58-4C34-A3DC-2E9BE8A67173}" sibTransId="{424D583A-BAA2-4339-9A67-DF8F93F2B08B}"/>
    <dgm:cxn modelId="{98E8E340-178B-4BA9-9AE8-202AB001488E}" srcId="{D1566F85-A418-416B-8B68-CDBC66CD6528}" destId="{892BB1F5-5180-4A49-B13F-9C67AFC066F2}" srcOrd="0" destOrd="0" parTransId="{F75786F5-6F2C-45B6-A4DF-884BE1557FDD}" sibTransId="{8822DBD5-1392-4FE0-B3C2-09F554984018}"/>
    <dgm:cxn modelId="{FFE7AE64-0BCD-4F5F-8042-C9E6E58C2591}" type="presOf" srcId="{110C5618-D837-4FC6-972A-1A7ED626134F}" destId="{271525E2-9DF1-49EE-99E5-6B42F230D9F8}" srcOrd="0" destOrd="0" presId="urn:microsoft.com/office/officeart/2005/8/layout/vList2"/>
    <dgm:cxn modelId="{AF4E40C3-D992-42AC-8828-3DC0B9259CC4}" type="presOf" srcId="{D1566F85-A418-416B-8B68-CDBC66CD6528}" destId="{9AAC292E-5A15-46DB-8E71-FB45EAAE99BD}" srcOrd="0" destOrd="0" presId="urn:microsoft.com/office/officeart/2005/8/layout/vList2"/>
    <dgm:cxn modelId="{5423D9A9-7DF7-4C96-9CD5-8579127A09B7}" type="presParOf" srcId="{9AAC292E-5A15-46DB-8E71-FB45EAAE99BD}" destId="{DD3E24F8-8204-4DF6-BDDF-A1B20C3306F8}" srcOrd="0" destOrd="0" presId="urn:microsoft.com/office/officeart/2005/8/layout/vList2"/>
    <dgm:cxn modelId="{19B12D25-0006-43B6-A84D-A56C5CD4366B}" type="presParOf" srcId="{9AAC292E-5A15-46DB-8E71-FB45EAAE99BD}" destId="{336BC721-0BB0-45E6-B170-8E1B5FBFD9EB}" srcOrd="1" destOrd="0" presId="urn:microsoft.com/office/officeart/2005/8/layout/vList2"/>
    <dgm:cxn modelId="{C89B0BEF-BCE4-4B3D-A59D-A86B5EA959E8}" type="presParOf" srcId="{9AAC292E-5A15-46DB-8E71-FB45EAAE99BD}" destId="{271525E2-9DF1-49EE-99E5-6B42F230D9F8}"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043E9A8-B0EE-480E-A053-0A86F59888FE}" type="doc">
      <dgm:prSet loTypeId="urn:microsoft.com/office/officeart/2005/8/layout/vList3" loCatId="list" qsTypeId="urn:microsoft.com/office/officeart/2005/8/quickstyle/simple3" qsCatId="simple" csTypeId="urn:microsoft.com/office/officeart/2005/8/colors/colorful5" csCatId="colorful" phldr="1"/>
      <dgm:spPr/>
      <dgm:t>
        <a:bodyPr/>
        <a:lstStyle/>
        <a:p>
          <a:endParaRPr lang="en-IN"/>
        </a:p>
      </dgm:t>
    </dgm:pt>
    <dgm:pt modelId="{34A0EFD1-9516-49FB-9F12-F129E671645F}">
      <dgm:prSet/>
      <dgm:spPr/>
      <dgm:t>
        <a:bodyPr/>
        <a:lstStyle/>
        <a:p>
          <a:r>
            <a:rPr lang="en-US" b="1" i="0" u="sng" dirty="0"/>
            <a:t>Current Ratio: </a:t>
          </a:r>
          <a:r>
            <a:rPr lang="en-US" b="0" i="0" dirty="0"/>
            <a:t>The current ratio </a:t>
          </a:r>
          <a:r>
            <a:rPr lang="en-IN" b="0" i="0" dirty="0"/>
            <a:t>floated</a:t>
          </a:r>
          <a:r>
            <a:rPr lang="en-US" b="0" i="0" dirty="0"/>
            <a:t> around 1 the whole time, so liquidity wasn’t really a problem. It dropped from 1.13 in 2022 down to 0.80 by 2025, but climbed back up to 0.96 in 2026. That rebound shows they cleaned up their working capital management a bit in the latest year.</a:t>
          </a:r>
          <a:endParaRPr lang="en-IN" dirty="0"/>
        </a:p>
      </dgm:t>
    </dgm:pt>
    <dgm:pt modelId="{1B99CEC4-094D-446D-B556-428C355AD1D6}" type="parTrans" cxnId="{F3DFE175-B74B-4F3F-B1AA-64452304C35D}">
      <dgm:prSet/>
      <dgm:spPr/>
      <dgm:t>
        <a:bodyPr/>
        <a:lstStyle/>
        <a:p>
          <a:endParaRPr lang="en-IN"/>
        </a:p>
      </dgm:t>
    </dgm:pt>
    <dgm:pt modelId="{2B64C7D7-5364-4D83-9D2D-8AEE428C5130}" type="sibTrans" cxnId="{F3DFE175-B74B-4F3F-B1AA-64452304C35D}">
      <dgm:prSet/>
      <dgm:spPr/>
      <dgm:t>
        <a:bodyPr/>
        <a:lstStyle/>
        <a:p>
          <a:endParaRPr lang="en-IN"/>
        </a:p>
      </dgm:t>
    </dgm:pt>
    <dgm:pt modelId="{36F069AC-EAE4-46A4-88C4-5F426E49987D}">
      <dgm:prSet/>
      <dgm:spPr/>
      <dgm:t>
        <a:bodyPr/>
        <a:lstStyle/>
        <a:p>
          <a:r>
            <a:rPr lang="en-US" b="1" i="0" u="sng"/>
            <a:t>Net Profit Margin: </a:t>
          </a:r>
          <a:r>
            <a:rPr lang="en-US" b="0" i="0"/>
            <a:t>Net profit margin stayed pretty steady, ranging from 13.5% to 15.5%. Profitability didn’t </a:t>
          </a:r>
          <a:r>
            <a:rPr lang="en-IN" b="0" i="0"/>
            <a:t>instability</a:t>
          </a:r>
          <a:r>
            <a:rPr lang="en-US" b="0" i="0"/>
            <a:t> much, which means they kept their operating costs under control.</a:t>
          </a:r>
          <a:endParaRPr lang="en-IN"/>
        </a:p>
      </dgm:t>
    </dgm:pt>
    <dgm:pt modelId="{EE554AF1-339E-4B6D-BFE1-45BC51FF33BC}" type="parTrans" cxnId="{D33923D1-E386-4D56-B4E7-CBAFBFD29F4A}">
      <dgm:prSet/>
      <dgm:spPr/>
      <dgm:t>
        <a:bodyPr/>
        <a:lstStyle/>
        <a:p>
          <a:endParaRPr lang="en-IN"/>
        </a:p>
      </dgm:t>
    </dgm:pt>
    <dgm:pt modelId="{A5A1F700-353A-49D7-8D1F-DE9142D844FE}" type="sibTrans" cxnId="{D33923D1-E386-4D56-B4E7-CBAFBFD29F4A}">
      <dgm:prSet/>
      <dgm:spPr/>
      <dgm:t>
        <a:bodyPr/>
        <a:lstStyle/>
        <a:p>
          <a:endParaRPr lang="en-IN"/>
        </a:p>
      </dgm:t>
    </dgm:pt>
    <dgm:pt modelId="{A7943C8A-6771-4642-BB86-0D04A22AED99}" type="pres">
      <dgm:prSet presAssocID="{A043E9A8-B0EE-480E-A053-0A86F59888FE}" presName="linearFlow" presStyleCnt="0">
        <dgm:presLayoutVars>
          <dgm:dir/>
          <dgm:resizeHandles val="exact"/>
        </dgm:presLayoutVars>
      </dgm:prSet>
      <dgm:spPr/>
    </dgm:pt>
    <dgm:pt modelId="{C0E65BAA-7D83-4F18-8A32-8948889B1ED8}" type="pres">
      <dgm:prSet presAssocID="{34A0EFD1-9516-49FB-9F12-F129E671645F}" presName="composite" presStyleCnt="0"/>
      <dgm:spPr/>
    </dgm:pt>
    <dgm:pt modelId="{9AB35E83-13CB-4312-8A9A-7D3A6FB417EE}" type="pres">
      <dgm:prSet presAssocID="{34A0EFD1-9516-49FB-9F12-F129E671645F}" presName="imgShp" presStyleLbl="fgImgPlace1" presStyleIdx="0" presStyleCnt="2" custLinFactNeighborX="-11794" custLinFactNeighborY="-7"/>
      <dgm:spPr>
        <a:blipFill dpi="0" rotWithShape="1">
          <a:blip xmlns:r="http://schemas.openxmlformats.org/officeDocument/2006/relationships" r:embed="rId1"/>
          <a:srcRect/>
          <a:stretch>
            <a:fillRect l="1" t="9357" r="7422" b="5146"/>
          </a:stretch>
        </a:blipFill>
      </dgm:spPr>
    </dgm:pt>
    <dgm:pt modelId="{E770379C-E617-4F13-937A-1439F69D8F5C}" type="pres">
      <dgm:prSet presAssocID="{34A0EFD1-9516-49FB-9F12-F129E671645F}" presName="txShp" presStyleLbl="node1" presStyleIdx="0" presStyleCnt="2">
        <dgm:presLayoutVars>
          <dgm:bulletEnabled val="1"/>
        </dgm:presLayoutVars>
      </dgm:prSet>
      <dgm:spPr/>
    </dgm:pt>
    <dgm:pt modelId="{51B4041C-487E-4F6C-9D58-D6C67E997A15}" type="pres">
      <dgm:prSet presAssocID="{2B64C7D7-5364-4D83-9D2D-8AEE428C5130}" presName="spacing" presStyleCnt="0"/>
      <dgm:spPr/>
    </dgm:pt>
    <dgm:pt modelId="{F105A849-67B7-4A32-B422-CB9B7A7D8A96}" type="pres">
      <dgm:prSet presAssocID="{36F069AC-EAE4-46A4-88C4-5F426E49987D}" presName="composite" presStyleCnt="0"/>
      <dgm:spPr/>
    </dgm:pt>
    <dgm:pt modelId="{E6B60631-DA22-490D-9C83-5FF21FBB5ECB}" type="pres">
      <dgm:prSet presAssocID="{36F069AC-EAE4-46A4-88C4-5F426E49987D}" presName="imgShp" presStyleLbl="fgImgPlace1" presStyleIdx="1" presStyleCnt="2" custLinFactNeighborX="571" custLinFactNeighborY="4161"/>
      <dgm:spPr>
        <a:blipFill dpi="0" rotWithShape="1">
          <a:blip xmlns:r="http://schemas.openxmlformats.org/officeDocument/2006/relationships" r:embed="rId2"/>
          <a:srcRect/>
          <a:stretch>
            <a:fillRect l="4764" t="15945" r="6008" b="12675"/>
          </a:stretch>
        </a:blipFill>
      </dgm:spPr>
    </dgm:pt>
    <dgm:pt modelId="{F0CC7B07-F694-41A2-88DF-D3D399D4304D}" type="pres">
      <dgm:prSet presAssocID="{36F069AC-EAE4-46A4-88C4-5F426E49987D}" presName="txShp" presStyleLbl="node1" presStyleIdx="1" presStyleCnt="2">
        <dgm:presLayoutVars>
          <dgm:bulletEnabled val="1"/>
        </dgm:presLayoutVars>
      </dgm:prSet>
      <dgm:spPr/>
    </dgm:pt>
  </dgm:ptLst>
  <dgm:cxnLst>
    <dgm:cxn modelId="{52B34121-8278-41DD-B677-309913C9C7DA}" type="presOf" srcId="{34A0EFD1-9516-49FB-9F12-F129E671645F}" destId="{E770379C-E617-4F13-937A-1439F69D8F5C}" srcOrd="0" destOrd="0" presId="urn:microsoft.com/office/officeart/2005/8/layout/vList3"/>
    <dgm:cxn modelId="{F902905B-CF01-4A77-9A84-E895896F3AD1}" type="presOf" srcId="{A043E9A8-B0EE-480E-A053-0A86F59888FE}" destId="{A7943C8A-6771-4642-BB86-0D04A22AED99}" srcOrd="0" destOrd="0" presId="urn:microsoft.com/office/officeart/2005/8/layout/vList3"/>
    <dgm:cxn modelId="{F3DFE175-B74B-4F3F-B1AA-64452304C35D}" srcId="{A043E9A8-B0EE-480E-A053-0A86F59888FE}" destId="{34A0EFD1-9516-49FB-9F12-F129E671645F}" srcOrd="0" destOrd="0" parTransId="{1B99CEC4-094D-446D-B556-428C355AD1D6}" sibTransId="{2B64C7D7-5364-4D83-9D2D-8AEE428C5130}"/>
    <dgm:cxn modelId="{63C6817A-B0CA-4E4E-ADBC-6BEB7FF3C425}" type="presOf" srcId="{36F069AC-EAE4-46A4-88C4-5F426E49987D}" destId="{F0CC7B07-F694-41A2-88DF-D3D399D4304D}" srcOrd="0" destOrd="0" presId="urn:microsoft.com/office/officeart/2005/8/layout/vList3"/>
    <dgm:cxn modelId="{D33923D1-E386-4D56-B4E7-CBAFBFD29F4A}" srcId="{A043E9A8-B0EE-480E-A053-0A86F59888FE}" destId="{36F069AC-EAE4-46A4-88C4-5F426E49987D}" srcOrd="1" destOrd="0" parTransId="{EE554AF1-339E-4B6D-BFE1-45BC51FF33BC}" sibTransId="{A5A1F700-353A-49D7-8D1F-DE9142D844FE}"/>
    <dgm:cxn modelId="{D334CC2A-EE25-4056-8B8E-E1105C9F33C4}" type="presParOf" srcId="{A7943C8A-6771-4642-BB86-0D04A22AED99}" destId="{C0E65BAA-7D83-4F18-8A32-8948889B1ED8}" srcOrd="0" destOrd="0" presId="urn:microsoft.com/office/officeart/2005/8/layout/vList3"/>
    <dgm:cxn modelId="{958AA9E7-1799-4111-AE14-83FD8A919C41}" type="presParOf" srcId="{C0E65BAA-7D83-4F18-8A32-8948889B1ED8}" destId="{9AB35E83-13CB-4312-8A9A-7D3A6FB417EE}" srcOrd="0" destOrd="0" presId="urn:microsoft.com/office/officeart/2005/8/layout/vList3"/>
    <dgm:cxn modelId="{5D179FAC-0B36-425F-BEBC-FB4C436B006E}" type="presParOf" srcId="{C0E65BAA-7D83-4F18-8A32-8948889B1ED8}" destId="{E770379C-E617-4F13-937A-1439F69D8F5C}" srcOrd="1" destOrd="0" presId="urn:microsoft.com/office/officeart/2005/8/layout/vList3"/>
    <dgm:cxn modelId="{02131885-248C-437E-98A7-869C4C64C420}" type="presParOf" srcId="{A7943C8A-6771-4642-BB86-0D04A22AED99}" destId="{51B4041C-487E-4F6C-9D58-D6C67E997A15}" srcOrd="1" destOrd="0" presId="urn:microsoft.com/office/officeart/2005/8/layout/vList3"/>
    <dgm:cxn modelId="{31918045-4A4C-4D18-BB04-C88461FC9343}" type="presParOf" srcId="{A7943C8A-6771-4642-BB86-0D04A22AED99}" destId="{F105A849-67B7-4A32-B422-CB9B7A7D8A96}" srcOrd="2" destOrd="0" presId="urn:microsoft.com/office/officeart/2005/8/layout/vList3"/>
    <dgm:cxn modelId="{F5F02D6D-94EB-4C43-AE68-C1C720BDA615}" type="presParOf" srcId="{F105A849-67B7-4A32-B422-CB9B7A7D8A96}" destId="{E6B60631-DA22-490D-9C83-5FF21FBB5ECB}" srcOrd="0" destOrd="0" presId="urn:microsoft.com/office/officeart/2005/8/layout/vList3"/>
    <dgm:cxn modelId="{9B57A17F-F6DB-4709-AEDB-79BC05BB0D40}" type="presParOf" srcId="{F105A849-67B7-4A32-B422-CB9B7A7D8A96}" destId="{F0CC7B07-F694-41A2-88DF-D3D399D4304D}"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A3921BE-E5C2-4E3B-99AB-CBE66CE0E500}" type="doc">
      <dgm:prSet loTypeId="urn:microsoft.com/office/officeart/2005/8/layout/vList3" loCatId="list" qsTypeId="urn:microsoft.com/office/officeart/2005/8/quickstyle/simple1" qsCatId="simple" csTypeId="urn:microsoft.com/office/officeart/2005/8/colors/accent4_4" csCatId="accent4" phldr="1"/>
      <dgm:spPr/>
      <dgm:t>
        <a:bodyPr/>
        <a:lstStyle/>
        <a:p>
          <a:endParaRPr lang="en-IN"/>
        </a:p>
      </dgm:t>
    </dgm:pt>
    <dgm:pt modelId="{E93C0481-7022-48FD-A80B-CB60698D0632}">
      <dgm:prSet/>
      <dgm:spPr/>
      <dgm:t>
        <a:bodyPr/>
        <a:lstStyle/>
        <a:p>
          <a:r>
            <a:rPr lang="en-US" b="1" i="0" u="sng" dirty="0"/>
            <a:t>Return on Equity (ROE):  </a:t>
          </a:r>
          <a:r>
            <a:rPr lang="en-US" b="0" i="0" dirty="0"/>
            <a:t>ROE numbers were sky-high and peaked at 117.71% in 2024. Even though it slid to 66.76% in 2026, that’s still impressively efficient use of shareholders’ equity.</a:t>
          </a:r>
          <a:endParaRPr lang="en-IN" dirty="0"/>
        </a:p>
      </dgm:t>
    </dgm:pt>
    <dgm:pt modelId="{92779569-83A7-4544-B644-3C8B094F8500}" type="parTrans" cxnId="{4F70BBF5-AE77-4A56-8029-2EBABCBFBCA2}">
      <dgm:prSet/>
      <dgm:spPr/>
      <dgm:t>
        <a:bodyPr/>
        <a:lstStyle/>
        <a:p>
          <a:endParaRPr lang="en-IN"/>
        </a:p>
      </dgm:t>
    </dgm:pt>
    <dgm:pt modelId="{0870012C-A6B0-4410-924E-E3083D4BBB77}" type="sibTrans" cxnId="{4F70BBF5-AE77-4A56-8029-2EBABCBFBCA2}">
      <dgm:prSet/>
      <dgm:spPr/>
      <dgm:t>
        <a:bodyPr/>
        <a:lstStyle/>
        <a:p>
          <a:endParaRPr lang="en-IN"/>
        </a:p>
      </dgm:t>
    </dgm:pt>
    <dgm:pt modelId="{71441607-1FF3-46F9-8DBC-5A5780BDC5D2}">
      <dgm:prSet/>
      <dgm:spPr/>
      <dgm:t>
        <a:bodyPr/>
        <a:lstStyle/>
        <a:p>
          <a:r>
            <a:rPr lang="en-US" b="1" i="0" u="sng" dirty="0"/>
            <a:t>Inventory Turnover:  </a:t>
          </a:r>
          <a:r>
            <a:rPr lang="en-US" b="0" i="0" dirty="0"/>
            <a:t>Inventory turnover bounced between 7.09x and 11.68x. For an FMCG company, that kind of efficiency in moving inventory is key—and they kept things tight.</a:t>
          </a:r>
          <a:endParaRPr lang="en-IN" dirty="0"/>
        </a:p>
      </dgm:t>
    </dgm:pt>
    <dgm:pt modelId="{268DDEB8-EE8A-41BE-8036-498BA9B4290E}" type="parTrans" cxnId="{E30F8F85-EC3F-4539-BE15-C5CC65F949CF}">
      <dgm:prSet/>
      <dgm:spPr/>
      <dgm:t>
        <a:bodyPr/>
        <a:lstStyle/>
        <a:p>
          <a:endParaRPr lang="en-IN"/>
        </a:p>
      </dgm:t>
    </dgm:pt>
    <dgm:pt modelId="{8328ADBF-1662-41CE-8136-BE43896F2265}" type="sibTrans" cxnId="{E30F8F85-EC3F-4539-BE15-C5CC65F949CF}">
      <dgm:prSet/>
      <dgm:spPr/>
      <dgm:t>
        <a:bodyPr/>
        <a:lstStyle/>
        <a:p>
          <a:endParaRPr lang="en-IN"/>
        </a:p>
      </dgm:t>
    </dgm:pt>
    <dgm:pt modelId="{D9241216-D788-4CC2-8654-F251CE36BC51}">
      <dgm:prSet/>
      <dgm:spPr/>
      <dgm:t>
        <a:bodyPr/>
        <a:lstStyle/>
        <a:p>
          <a:r>
            <a:rPr lang="en-US" b="1" i="0" u="sng"/>
            <a:t>Debt-to-Equity Ratio:  </a:t>
          </a:r>
          <a:r>
            <a:rPr lang="en-US" b="0" i="0"/>
            <a:t>Debt wasn’t really in the picture, staying very low (0.01–0.02) most years, except a brief jump to 0.18 in 2025. Basically, Nestlé India leans on its own finances and keeps its debt minimal, which puts them in a solid spot financially.</a:t>
          </a:r>
          <a:endParaRPr lang="en-IN"/>
        </a:p>
      </dgm:t>
    </dgm:pt>
    <dgm:pt modelId="{D97FF80E-61CF-43F0-AEE2-5F4D5BC582B9}" type="parTrans" cxnId="{4CE37F06-4F0D-4F8F-986C-3516C66D8DCF}">
      <dgm:prSet/>
      <dgm:spPr/>
      <dgm:t>
        <a:bodyPr/>
        <a:lstStyle/>
        <a:p>
          <a:endParaRPr lang="en-IN"/>
        </a:p>
      </dgm:t>
    </dgm:pt>
    <dgm:pt modelId="{F625622F-EA62-449D-822C-2B39AC6C029C}" type="sibTrans" cxnId="{4CE37F06-4F0D-4F8F-986C-3516C66D8DCF}">
      <dgm:prSet/>
      <dgm:spPr/>
      <dgm:t>
        <a:bodyPr/>
        <a:lstStyle/>
        <a:p>
          <a:endParaRPr lang="en-IN"/>
        </a:p>
      </dgm:t>
    </dgm:pt>
    <dgm:pt modelId="{63AFDD3A-8EA0-4B0E-87C9-AEED05ED53F5}" type="pres">
      <dgm:prSet presAssocID="{0A3921BE-E5C2-4E3B-99AB-CBE66CE0E500}" presName="linearFlow" presStyleCnt="0">
        <dgm:presLayoutVars>
          <dgm:dir/>
          <dgm:resizeHandles val="exact"/>
        </dgm:presLayoutVars>
      </dgm:prSet>
      <dgm:spPr/>
    </dgm:pt>
    <dgm:pt modelId="{FB3E007F-FA11-418F-8A7C-4F30DBD84A63}" type="pres">
      <dgm:prSet presAssocID="{E93C0481-7022-48FD-A80B-CB60698D0632}" presName="composite" presStyleCnt="0"/>
      <dgm:spPr/>
    </dgm:pt>
    <dgm:pt modelId="{EC35FE39-F3EB-4B37-8622-AB7C3C3A74BA}" type="pres">
      <dgm:prSet presAssocID="{E93C0481-7022-48FD-A80B-CB60698D0632}" presName="imgShp" presStyleLbl="fgImgPlace1" presStyleIdx="0" presStyleCnt="3"/>
      <dgm:spPr>
        <a:blipFill dpi="0" rotWithShape="1">
          <a:blip xmlns:r="http://schemas.openxmlformats.org/officeDocument/2006/relationships" r:embed="rId1"/>
          <a:srcRect/>
          <a:stretch>
            <a:fillRect l="-15575" t="15288" r="-17159" b="-3777"/>
          </a:stretch>
        </a:blipFill>
      </dgm:spPr>
    </dgm:pt>
    <dgm:pt modelId="{5631023E-A1BE-4C3E-A962-5DD4AE9F0A43}" type="pres">
      <dgm:prSet presAssocID="{E93C0481-7022-48FD-A80B-CB60698D0632}" presName="txShp" presStyleLbl="node1" presStyleIdx="0" presStyleCnt="3" custScaleY="100445">
        <dgm:presLayoutVars>
          <dgm:bulletEnabled val="1"/>
        </dgm:presLayoutVars>
      </dgm:prSet>
      <dgm:spPr/>
    </dgm:pt>
    <dgm:pt modelId="{20CB87F9-D4AF-4B2D-B9F9-B421E00C8EDD}" type="pres">
      <dgm:prSet presAssocID="{0870012C-A6B0-4410-924E-E3083D4BBB77}" presName="spacing" presStyleCnt="0"/>
      <dgm:spPr/>
    </dgm:pt>
    <dgm:pt modelId="{CE4326EB-16AC-44D2-A829-F87DF1A6A670}" type="pres">
      <dgm:prSet presAssocID="{71441607-1FF3-46F9-8DBC-5A5780BDC5D2}" presName="composite" presStyleCnt="0"/>
      <dgm:spPr/>
    </dgm:pt>
    <dgm:pt modelId="{FE694E91-A044-4A67-93FA-B04E00AEEA72}" type="pres">
      <dgm:prSet presAssocID="{71441607-1FF3-46F9-8DBC-5A5780BDC5D2}" presName="imgShp" presStyleLbl="fgImgPlace1" presStyleIdx="1" presStyleCnt="3"/>
      <dgm:spPr>
        <a:blipFill dpi="0" rotWithShape="1">
          <a:blip xmlns:r="http://schemas.openxmlformats.org/officeDocument/2006/relationships" r:embed="rId2"/>
          <a:srcRect/>
          <a:stretch>
            <a:fillRect l="-15576" t="10184" r="-22089" b="1855"/>
          </a:stretch>
        </a:blipFill>
      </dgm:spPr>
    </dgm:pt>
    <dgm:pt modelId="{6DE1E39F-0D1F-4EFE-B9B3-8AD7CE3A2B73}" type="pres">
      <dgm:prSet presAssocID="{71441607-1FF3-46F9-8DBC-5A5780BDC5D2}" presName="txShp" presStyleLbl="node1" presStyleIdx="1" presStyleCnt="3">
        <dgm:presLayoutVars>
          <dgm:bulletEnabled val="1"/>
        </dgm:presLayoutVars>
      </dgm:prSet>
      <dgm:spPr/>
    </dgm:pt>
    <dgm:pt modelId="{76A00444-7AE3-4E54-B8FD-33773C1DEC5E}" type="pres">
      <dgm:prSet presAssocID="{8328ADBF-1662-41CE-8136-BE43896F2265}" presName="spacing" presStyleCnt="0"/>
      <dgm:spPr/>
    </dgm:pt>
    <dgm:pt modelId="{D81978EF-B8BA-4C4A-85C2-092D1DDE09DE}" type="pres">
      <dgm:prSet presAssocID="{D9241216-D788-4CC2-8654-F251CE36BC51}" presName="composite" presStyleCnt="0"/>
      <dgm:spPr/>
    </dgm:pt>
    <dgm:pt modelId="{377039AB-6934-4F21-B857-4A0C6C02C6EB}" type="pres">
      <dgm:prSet presAssocID="{D9241216-D788-4CC2-8654-F251CE36BC51}" presName="imgShp" presStyleLbl="fgImgPlace1" presStyleIdx="2" presStyleCnt="3"/>
      <dgm:spPr>
        <a:blipFill rotWithShape="1">
          <a:blip xmlns:r="http://schemas.openxmlformats.org/officeDocument/2006/relationships" r:embed="rId3"/>
          <a:srcRect/>
          <a:stretch>
            <a:fillRect/>
          </a:stretch>
        </a:blipFill>
      </dgm:spPr>
    </dgm:pt>
    <dgm:pt modelId="{96CEC2CD-FAD3-4DA9-87E2-CFE1C28E2BE5}" type="pres">
      <dgm:prSet presAssocID="{D9241216-D788-4CC2-8654-F251CE36BC51}" presName="txShp" presStyleLbl="node1" presStyleIdx="2" presStyleCnt="3">
        <dgm:presLayoutVars>
          <dgm:bulletEnabled val="1"/>
        </dgm:presLayoutVars>
      </dgm:prSet>
      <dgm:spPr/>
    </dgm:pt>
  </dgm:ptLst>
  <dgm:cxnLst>
    <dgm:cxn modelId="{4CE37F06-4F0D-4F8F-986C-3516C66D8DCF}" srcId="{0A3921BE-E5C2-4E3B-99AB-CBE66CE0E500}" destId="{D9241216-D788-4CC2-8654-F251CE36BC51}" srcOrd="2" destOrd="0" parTransId="{D97FF80E-61CF-43F0-AEE2-5F4D5BC582B9}" sibTransId="{F625622F-EA62-449D-822C-2B39AC6C029C}"/>
    <dgm:cxn modelId="{21A7E671-6A33-45D6-AC8F-3863D7D8F222}" type="presOf" srcId="{D9241216-D788-4CC2-8654-F251CE36BC51}" destId="{96CEC2CD-FAD3-4DA9-87E2-CFE1C28E2BE5}" srcOrd="0" destOrd="0" presId="urn:microsoft.com/office/officeart/2005/8/layout/vList3"/>
    <dgm:cxn modelId="{E30F8F85-EC3F-4539-BE15-C5CC65F949CF}" srcId="{0A3921BE-E5C2-4E3B-99AB-CBE66CE0E500}" destId="{71441607-1FF3-46F9-8DBC-5A5780BDC5D2}" srcOrd="1" destOrd="0" parTransId="{268DDEB8-EE8A-41BE-8036-498BA9B4290E}" sibTransId="{8328ADBF-1662-41CE-8136-BE43896F2265}"/>
    <dgm:cxn modelId="{4325748C-9DE0-472D-BE5C-86263666569F}" type="presOf" srcId="{E93C0481-7022-48FD-A80B-CB60698D0632}" destId="{5631023E-A1BE-4C3E-A962-5DD4AE9F0A43}" srcOrd="0" destOrd="0" presId="urn:microsoft.com/office/officeart/2005/8/layout/vList3"/>
    <dgm:cxn modelId="{505653CE-2460-4AE8-B91F-C840EEE15AD2}" type="presOf" srcId="{71441607-1FF3-46F9-8DBC-5A5780BDC5D2}" destId="{6DE1E39F-0D1F-4EFE-B9B3-8AD7CE3A2B73}" srcOrd="0" destOrd="0" presId="urn:microsoft.com/office/officeart/2005/8/layout/vList3"/>
    <dgm:cxn modelId="{40CB4EDE-966A-4EC3-B057-C8928C4C78F5}" type="presOf" srcId="{0A3921BE-E5C2-4E3B-99AB-CBE66CE0E500}" destId="{63AFDD3A-8EA0-4B0E-87C9-AEED05ED53F5}" srcOrd="0" destOrd="0" presId="urn:microsoft.com/office/officeart/2005/8/layout/vList3"/>
    <dgm:cxn modelId="{4F70BBF5-AE77-4A56-8029-2EBABCBFBCA2}" srcId="{0A3921BE-E5C2-4E3B-99AB-CBE66CE0E500}" destId="{E93C0481-7022-48FD-A80B-CB60698D0632}" srcOrd="0" destOrd="0" parTransId="{92779569-83A7-4544-B644-3C8B094F8500}" sibTransId="{0870012C-A6B0-4410-924E-E3083D4BBB77}"/>
    <dgm:cxn modelId="{6582CAAE-A1EA-40DB-A182-7C840C280A24}" type="presParOf" srcId="{63AFDD3A-8EA0-4B0E-87C9-AEED05ED53F5}" destId="{FB3E007F-FA11-418F-8A7C-4F30DBD84A63}" srcOrd="0" destOrd="0" presId="urn:microsoft.com/office/officeart/2005/8/layout/vList3"/>
    <dgm:cxn modelId="{EF0484BF-26CD-46C2-B0D4-068E2325CF7A}" type="presParOf" srcId="{FB3E007F-FA11-418F-8A7C-4F30DBD84A63}" destId="{EC35FE39-F3EB-4B37-8622-AB7C3C3A74BA}" srcOrd="0" destOrd="0" presId="urn:microsoft.com/office/officeart/2005/8/layout/vList3"/>
    <dgm:cxn modelId="{7FB95D22-A410-437E-A07D-24307534080A}" type="presParOf" srcId="{FB3E007F-FA11-418F-8A7C-4F30DBD84A63}" destId="{5631023E-A1BE-4C3E-A962-5DD4AE9F0A43}" srcOrd="1" destOrd="0" presId="urn:microsoft.com/office/officeart/2005/8/layout/vList3"/>
    <dgm:cxn modelId="{2321F228-BD6A-4E6F-A3EF-86CE00A80BF3}" type="presParOf" srcId="{63AFDD3A-8EA0-4B0E-87C9-AEED05ED53F5}" destId="{20CB87F9-D4AF-4B2D-B9F9-B421E00C8EDD}" srcOrd="1" destOrd="0" presId="urn:microsoft.com/office/officeart/2005/8/layout/vList3"/>
    <dgm:cxn modelId="{23E1394C-E364-4810-9440-E68D7E9F2F38}" type="presParOf" srcId="{63AFDD3A-8EA0-4B0E-87C9-AEED05ED53F5}" destId="{CE4326EB-16AC-44D2-A829-F87DF1A6A670}" srcOrd="2" destOrd="0" presId="urn:microsoft.com/office/officeart/2005/8/layout/vList3"/>
    <dgm:cxn modelId="{C86B17AC-F5A7-4BCC-A157-5B6FA589244B}" type="presParOf" srcId="{CE4326EB-16AC-44D2-A829-F87DF1A6A670}" destId="{FE694E91-A044-4A67-93FA-B04E00AEEA72}" srcOrd="0" destOrd="0" presId="urn:microsoft.com/office/officeart/2005/8/layout/vList3"/>
    <dgm:cxn modelId="{210FE579-3D1C-44C4-A1E0-296361E7CDDE}" type="presParOf" srcId="{CE4326EB-16AC-44D2-A829-F87DF1A6A670}" destId="{6DE1E39F-0D1F-4EFE-B9B3-8AD7CE3A2B73}" srcOrd="1" destOrd="0" presId="urn:microsoft.com/office/officeart/2005/8/layout/vList3"/>
    <dgm:cxn modelId="{F0AF9FD1-8296-4358-A8B0-7C93831897F3}" type="presParOf" srcId="{63AFDD3A-8EA0-4B0E-87C9-AEED05ED53F5}" destId="{76A00444-7AE3-4E54-B8FD-33773C1DEC5E}" srcOrd="3" destOrd="0" presId="urn:microsoft.com/office/officeart/2005/8/layout/vList3"/>
    <dgm:cxn modelId="{3C96FA12-70CB-45A7-94D6-1DCD21486563}" type="presParOf" srcId="{63AFDD3A-8EA0-4B0E-87C9-AEED05ED53F5}" destId="{D81978EF-B8BA-4C4A-85C2-092D1DDE09DE}" srcOrd="4" destOrd="0" presId="urn:microsoft.com/office/officeart/2005/8/layout/vList3"/>
    <dgm:cxn modelId="{0B3A6A70-2E68-41C7-9C7A-556D320D9053}" type="presParOf" srcId="{D81978EF-B8BA-4C4A-85C2-092D1DDE09DE}" destId="{377039AB-6934-4F21-B857-4A0C6C02C6EB}" srcOrd="0" destOrd="0" presId="urn:microsoft.com/office/officeart/2005/8/layout/vList3"/>
    <dgm:cxn modelId="{8B6AD619-6787-40E2-94C1-023F95FFB50D}" type="presParOf" srcId="{D81978EF-B8BA-4C4A-85C2-092D1DDE09DE}" destId="{96CEC2CD-FAD3-4DA9-87E2-CFE1C28E2BE5}"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3E24F8-8204-4DF6-BDDF-A1B20C3306F8}">
      <dsp:nvSpPr>
        <dsp:cNvPr id="0" name=""/>
        <dsp:cNvSpPr/>
      </dsp:nvSpPr>
      <dsp:spPr>
        <a:xfrm>
          <a:off x="0" y="471100"/>
          <a:ext cx="8606472" cy="2077919"/>
        </a:xfrm>
        <a:prstGeom prst="roundRect">
          <a:avLst/>
        </a:prstGeom>
        <a:gradFill rotWithShape="0">
          <a:gsLst>
            <a:gs pos="0">
              <a:schemeClr val="accent4">
                <a:hueOff val="0"/>
                <a:satOff val="0"/>
                <a:lumOff val="0"/>
                <a:alphaOff val="0"/>
                <a:tint val="98000"/>
                <a:lumMod val="114000"/>
              </a:schemeClr>
            </a:gs>
            <a:gs pos="100000">
              <a:schemeClr val="accent4">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t>The profit trend graph shows significant changes between 2021 and 2026. Net profit begins at a slightly positive level in 2021. It dips a bit in 2022, then rises sharply to around 30% by 2024. This rise reflects strong growth. However, in 2025, it drops to nearly -25%. </a:t>
          </a:r>
          <a:endParaRPr lang="en-IN" sz="2400" kern="1200" dirty="0"/>
        </a:p>
      </dsp:txBody>
      <dsp:txXfrm>
        <a:off x="101436" y="572536"/>
        <a:ext cx="8403600" cy="1875047"/>
      </dsp:txXfrm>
    </dsp:sp>
    <dsp:sp modelId="{271525E2-9DF1-49EE-99E5-6B42F230D9F8}">
      <dsp:nvSpPr>
        <dsp:cNvPr id="0" name=""/>
        <dsp:cNvSpPr/>
      </dsp:nvSpPr>
      <dsp:spPr>
        <a:xfrm>
          <a:off x="0" y="2618140"/>
          <a:ext cx="8606472" cy="2077919"/>
        </a:xfrm>
        <a:prstGeom prst="roundRect">
          <a:avLst/>
        </a:prstGeom>
        <a:gradFill rotWithShape="0">
          <a:gsLst>
            <a:gs pos="0">
              <a:schemeClr val="accent4">
                <a:hueOff val="1585367"/>
                <a:satOff val="-3846"/>
                <a:lumOff val="-5098"/>
                <a:alphaOff val="0"/>
                <a:tint val="98000"/>
                <a:lumMod val="114000"/>
              </a:schemeClr>
            </a:gs>
            <a:gs pos="100000">
              <a:schemeClr val="accent4">
                <a:hueOff val="1585367"/>
                <a:satOff val="-3846"/>
                <a:lumOff val="-5098"/>
                <a:alphaOff val="0"/>
                <a:shade val="90000"/>
                <a:lumMod val="84000"/>
              </a:schemeClr>
            </a:gs>
          </a:gsLst>
          <a:lin ang="5400000" scaled="0"/>
        </a:gradFill>
        <a:ln>
          <a:noFill/>
        </a:ln>
        <a:effectLst>
          <a:outerShdw blurRad="38100" dist="25400" dir="5400000" rotWithShape="0">
            <a:srgbClr val="000000">
              <a:alpha val="4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a:t>This decline indicates major challenges, such as rising costs or weak demand. By 2026, profits recover to about 15%, suggesting stabilization. Overall, the data highlights volatility caused by both internal efficiency and external market pressures.</a:t>
          </a:r>
          <a:endParaRPr lang="en-IN" sz="2400" kern="1200"/>
        </a:p>
      </dsp:txBody>
      <dsp:txXfrm>
        <a:off x="101436" y="2719576"/>
        <a:ext cx="8403600" cy="187504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70379C-E617-4F13-937A-1439F69D8F5C}">
      <dsp:nvSpPr>
        <dsp:cNvPr id="0" name=""/>
        <dsp:cNvSpPr/>
      </dsp:nvSpPr>
      <dsp:spPr>
        <a:xfrm rot="10800000">
          <a:off x="2245912" y="175"/>
          <a:ext cx="6471017" cy="2463977"/>
        </a:xfrm>
        <a:prstGeom prst="homePlate">
          <a:avLst/>
        </a:prstGeom>
        <a:gradFill rotWithShape="0">
          <a:gsLst>
            <a:gs pos="0">
              <a:schemeClr val="accent5">
                <a:hueOff val="0"/>
                <a:satOff val="0"/>
                <a:lumOff val="0"/>
                <a:alphaOff val="0"/>
                <a:tint val="64000"/>
                <a:lumMod val="118000"/>
              </a:schemeClr>
            </a:gs>
            <a:gs pos="100000">
              <a:schemeClr val="accent5">
                <a:hueOff val="0"/>
                <a:satOff val="0"/>
                <a:lumOff val="0"/>
                <a:alphaOff val="0"/>
                <a:tint val="92000"/>
                <a:alpha val="100000"/>
                <a:lumMod val="11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86546" tIns="76200" rIns="142240" bIns="76200" numCol="1" spcCol="1270" anchor="ctr" anchorCtr="0">
          <a:noAutofit/>
        </a:bodyPr>
        <a:lstStyle/>
        <a:p>
          <a:pPr marL="0" lvl="0" indent="0" algn="ctr" defTabSz="889000">
            <a:lnSpc>
              <a:spcPct val="90000"/>
            </a:lnSpc>
            <a:spcBef>
              <a:spcPct val="0"/>
            </a:spcBef>
            <a:spcAft>
              <a:spcPct val="35000"/>
            </a:spcAft>
            <a:buNone/>
          </a:pPr>
          <a:r>
            <a:rPr lang="en-US" sz="2000" b="1" i="0" u="sng" kern="1200" dirty="0"/>
            <a:t>Current Ratio: </a:t>
          </a:r>
          <a:r>
            <a:rPr lang="en-US" sz="2000" b="0" i="0" kern="1200" dirty="0"/>
            <a:t>The current ratio </a:t>
          </a:r>
          <a:r>
            <a:rPr lang="en-IN" sz="2000" b="0" i="0" kern="1200" dirty="0"/>
            <a:t>floated</a:t>
          </a:r>
          <a:r>
            <a:rPr lang="en-US" sz="2000" b="0" i="0" kern="1200" dirty="0"/>
            <a:t> around 1 the whole time, so liquidity wasn’t really a problem. It dropped from 1.13 in 2022 down to 0.80 by 2025, but climbed back up to 0.96 in 2026. That rebound shows they cleaned up their working capital management a bit in the latest year.</a:t>
          </a:r>
          <a:endParaRPr lang="en-IN" sz="2000" kern="1200" dirty="0"/>
        </a:p>
      </dsp:txBody>
      <dsp:txXfrm rot="10800000">
        <a:off x="2861906" y="175"/>
        <a:ext cx="5855023" cy="2463977"/>
      </dsp:txXfrm>
    </dsp:sp>
    <dsp:sp modelId="{9AB35E83-13CB-4312-8A9A-7D3A6FB417EE}">
      <dsp:nvSpPr>
        <dsp:cNvPr id="0" name=""/>
        <dsp:cNvSpPr/>
      </dsp:nvSpPr>
      <dsp:spPr>
        <a:xfrm>
          <a:off x="723322" y="2"/>
          <a:ext cx="2463977" cy="2463977"/>
        </a:xfrm>
        <a:prstGeom prst="ellipse">
          <a:avLst/>
        </a:prstGeom>
        <a:blipFill dpi="0" rotWithShape="1">
          <a:blip xmlns:r="http://schemas.openxmlformats.org/officeDocument/2006/relationships" r:embed="rId1"/>
          <a:srcRect/>
          <a:stretch>
            <a:fillRect l="1" t="9357" r="7422" b="5146"/>
          </a:stretch>
        </a:blipFill>
        <a:ln w="9525" cap="rnd" cmpd="sng" algn="ctr">
          <a:solidFill>
            <a:schemeClr val="lt1">
              <a:hueOff val="0"/>
              <a:satOff val="0"/>
              <a:lumOff val="0"/>
              <a:alphaOff val="0"/>
            </a:schemeClr>
          </a:solidFill>
          <a:prstDash val="solid"/>
        </a:ln>
        <a:effectLst/>
      </dsp:spPr>
      <dsp:style>
        <a:lnRef idx="1">
          <a:scrgbClr r="0" g="0" b="0"/>
        </a:lnRef>
        <a:fillRef idx="1">
          <a:scrgbClr r="0" g="0" b="0"/>
        </a:fillRef>
        <a:effectRef idx="1">
          <a:scrgbClr r="0" g="0" b="0"/>
        </a:effectRef>
        <a:fontRef idx="minor"/>
      </dsp:style>
    </dsp:sp>
    <dsp:sp modelId="{F0CC7B07-F694-41A2-88DF-D3D399D4304D}">
      <dsp:nvSpPr>
        <dsp:cNvPr id="0" name=""/>
        <dsp:cNvSpPr/>
      </dsp:nvSpPr>
      <dsp:spPr>
        <a:xfrm rot="10800000">
          <a:off x="2245912" y="3199668"/>
          <a:ext cx="6471017" cy="2463977"/>
        </a:xfrm>
        <a:prstGeom prst="homePlate">
          <a:avLst/>
        </a:prstGeom>
        <a:gradFill rotWithShape="0">
          <a:gsLst>
            <a:gs pos="0">
              <a:schemeClr val="accent5">
                <a:hueOff val="7310632"/>
                <a:satOff val="795"/>
                <a:lumOff val="-1"/>
                <a:alphaOff val="0"/>
                <a:tint val="64000"/>
                <a:lumMod val="118000"/>
              </a:schemeClr>
            </a:gs>
            <a:gs pos="100000">
              <a:schemeClr val="accent5">
                <a:hueOff val="7310632"/>
                <a:satOff val="795"/>
                <a:lumOff val="-1"/>
                <a:alphaOff val="0"/>
                <a:tint val="92000"/>
                <a:alpha val="100000"/>
                <a:lumMod val="11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86546" tIns="76200" rIns="142240" bIns="76200" numCol="1" spcCol="1270" anchor="ctr" anchorCtr="0">
          <a:noAutofit/>
        </a:bodyPr>
        <a:lstStyle/>
        <a:p>
          <a:pPr marL="0" lvl="0" indent="0" algn="ctr" defTabSz="889000">
            <a:lnSpc>
              <a:spcPct val="90000"/>
            </a:lnSpc>
            <a:spcBef>
              <a:spcPct val="0"/>
            </a:spcBef>
            <a:spcAft>
              <a:spcPct val="35000"/>
            </a:spcAft>
            <a:buNone/>
          </a:pPr>
          <a:r>
            <a:rPr lang="en-US" sz="2000" b="1" i="0" u="sng" kern="1200"/>
            <a:t>Net Profit Margin: </a:t>
          </a:r>
          <a:r>
            <a:rPr lang="en-US" sz="2000" b="0" i="0" kern="1200"/>
            <a:t>Net profit margin stayed pretty steady, ranging from 13.5% to 15.5%. Profitability didn’t </a:t>
          </a:r>
          <a:r>
            <a:rPr lang="en-IN" sz="2000" b="0" i="0" kern="1200"/>
            <a:t>instability</a:t>
          </a:r>
          <a:r>
            <a:rPr lang="en-US" sz="2000" b="0" i="0" kern="1200"/>
            <a:t> much, which means they kept their operating costs under control.</a:t>
          </a:r>
          <a:endParaRPr lang="en-IN" sz="2000" kern="1200"/>
        </a:p>
      </dsp:txBody>
      <dsp:txXfrm rot="10800000">
        <a:off x="2861906" y="3199668"/>
        <a:ext cx="5855023" cy="2463977"/>
      </dsp:txXfrm>
    </dsp:sp>
    <dsp:sp modelId="{E6B60631-DA22-490D-9C83-5FF21FBB5ECB}">
      <dsp:nvSpPr>
        <dsp:cNvPr id="0" name=""/>
        <dsp:cNvSpPr/>
      </dsp:nvSpPr>
      <dsp:spPr>
        <a:xfrm>
          <a:off x="1027992" y="3199843"/>
          <a:ext cx="2463977" cy="2463977"/>
        </a:xfrm>
        <a:prstGeom prst="ellipse">
          <a:avLst/>
        </a:prstGeom>
        <a:blipFill dpi="0" rotWithShape="1">
          <a:blip xmlns:r="http://schemas.openxmlformats.org/officeDocument/2006/relationships" r:embed="rId2"/>
          <a:srcRect/>
          <a:stretch>
            <a:fillRect l="4764" t="15945" r="6008" b="12675"/>
          </a:stretch>
        </a:blipFill>
        <a:ln w="9525" cap="rnd" cmpd="sng" algn="ctr">
          <a:solidFill>
            <a:schemeClr val="lt1">
              <a:hueOff val="0"/>
              <a:satOff val="0"/>
              <a:lumOff val="0"/>
              <a:alphaOff val="0"/>
            </a:schemeClr>
          </a:solidFill>
          <a:prstDash val="solid"/>
        </a:ln>
        <a:effectLst/>
      </dsp:spPr>
      <dsp:style>
        <a:lnRef idx="1">
          <a:scrgbClr r="0" g="0" b="0"/>
        </a:lnRef>
        <a:fillRef idx="1">
          <a:scrgbClr r="0" g="0" b="0"/>
        </a:fillRef>
        <a:effectRef idx="1">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31023E-A1BE-4C3E-A962-5DD4AE9F0A43}">
      <dsp:nvSpPr>
        <dsp:cNvPr id="0" name=""/>
        <dsp:cNvSpPr/>
      </dsp:nvSpPr>
      <dsp:spPr>
        <a:xfrm rot="10800000">
          <a:off x="1934585" y="3571"/>
          <a:ext cx="5971850" cy="1729251"/>
        </a:xfrm>
        <a:prstGeom prst="homePlate">
          <a:avLst/>
        </a:prstGeom>
        <a:solidFill>
          <a:schemeClr val="accent4">
            <a:shade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59173" tIns="68580" rIns="128016" bIns="68580" numCol="1" spcCol="1270" anchor="ctr" anchorCtr="0">
          <a:noAutofit/>
        </a:bodyPr>
        <a:lstStyle/>
        <a:p>
          <a:pPr marL="0" lvl="0" indent="0" algn="ctr" defTabSz="800100">
            <a:lnSpc>
              <a:spcPct val="90000"/>
            </a:lnSpc>
            <a:spcBef>
              <a:spcPct val="0"/>
            </a:spcBef>
            <a:spcAft>
              <a:spcPct val="35000"/>
            </a:spcAft>
            <a:buNone/>
          </a:pPr>
          <a:r>
            <a:rPr lang="en-US" sz="1800" b="1" i="0" u="sng" kern="1200" dirty="0"/>
            <a:t>Return on Equity (ROE):  </a:t>
          </a:r>
          <a:r>
            <a:rPr lang="en-US" sz="1800" b="0" i="0" kern="1200" dirty="0"/>
            <a:t>ROE numbers were sky-high and peaked at 117.71% in 2024. Even though it slid to 66.76% in 2026, that’s still impressively efficient use of shareholders’ equity.</a:t>
          </a:r>
          <a:endParaRPr lang="en-IN" sz="1800" kern="1200" dirty="0"/>
        </a:p>
      </dsp:txBody>
      <dsp:txXfrm rot="10800000">
        <a:off x="2366898" y="3571"/>
        <a:ext cx="5539537" cy="1729251"/>
      </dsp:txXfrm>
    </dsp:sp>
    <dsp:sp modelId="{EC35FE39-F3EB-4B37-8622-AB7C3C3A74BA}">
      <dsp:nvSpPr>
        <dsp:cNvPr id="0" name=""/>
        <dsp:cNvSpPr/>
      </dsp:nvSpPr>
      <dsp:spPr>
        <a:xfrm>
          <a:off x="1073790" y="7401"/>
          <a:ext cx="1721590" cy="1721590"/>
        </a:xfrm>
        <a:prstGeom prst="ellipse">
          <a:avLst/>
        </a:prstGeom>
        <a:blipFill dpi="0" rotWithShape="1">
          <a:blip xmlns:r="http://schemas.openxmlformats.org/officeDocument/2006/relationships" r:embed="rId1"/>
          <a:srcRect/>
          <a:stretch>
            <a:fillRect l="-15575" t="15288" r="-17159" b="-3777"/>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DE1E39F-0D1F-4EFE-B9B3-8AD7CE3A2B73}">
      <dsp:nvSpPr>
        <dsp:cNvPr id="0" name=""/>
        <dsp:cNvSpPr/>
      </dsp:nvSpPr>
      <dsp:spPr>
        <a:xfrm rot="10800000">
          <a:off x="1934585" y="2246729"/>
          <a:ext cx="5971850" cy="1721590"/>
        </a:xfrm>
        <a:prstGeom prst="homePlate">
          <a:avLst/>
        </a:prstGeom>
        <a:solidFill>
          <a:schemeClr val="accent4">
            <a:shade val="50000"/>
            <a:hueOff val="-133911"/>
            <a:satOff val="-1963"/>
            <a:lumOff val="2689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59173" tIns="68580" rIns="128016" bIns="68580" numCol="1" spcCol="1270" anchor="ctr" anchorCtr="0">
          <a:noAutofit/>
        </a:bodyPr>
        <a:lstStyle/>
        <a:p>
          <a:pPr marL="0" lvl="0" indent="0" algn="ctr" defTabSz="800100">
            <a:lnSpc>
              <a:spcPct val="90000"/>
            </a:lnSpc>
            <a:spcBef>
              <a:spcPct val="0"/>
            </a:spcBef>
            <a:spcAft>
              <a:spcPct val="35000"/>
            </a:spcAft>
            <a:buNone/>
          </a:pPr>
          <a:r>
            <a:rPr lang="en-US" sz="1800" b="1" i="0" u="sng" kern="1200" dirty="0"/>
            <a:t>Inventory Turnover:  </a:t>
          </a:r>
          <a:r>
            <a:rPr lang="en-US" sz="1800" b="0" i="0" kern="1200" dirty="0"/>
            <a:t>Inventory turnover bounced between 7.09x and 11.68x. For an FMCG company, that kind of efficiency in moving inventory is key—and they kept things tight.</a:t>
          </a:r>
          <a:endParaRPr lang="en-IN" sz="1800" kern="1200" dirty="0"/>
        </a:p>
      </dsp:txBody>
      <dsp:txXfrm rot="10800000">
        <a:off x="2364982" y="2246729"/>
        <a:ext cx="5541453" cy="1721590"/>
      </dsp:txXfrm>
    </dsp:sp>
    <dsp:sp modelId="{FE694E91-A044-4A67-93FA-B04E00AEEA72}">
      <dsp:nvSpPr>
        <dsp:cNvPr id="0" name=""/>
        <dsp:cNvSpPr/>
      </dsp:nvSpPr>
      <dsp:spPr>
        <a:xfrm>
          <a:off x="1073790" y="2246729"/>
          <a:ext cx="1721590" cy="1721590"/>
        </a:xfrm>
        <a:prstGeom prst="ellipse">
          <a:avLst/>
        </a:prstGeom>
        <a:blipFill dpi="0" rotWithShape="1">
          <a:blip xmlns:r="http://schemas.openxmlformats.org/officeDocument/2006/relationships" r:embed="rId2"/>
          <a:srcRect/>
          <a:stretch>
            <a:fillRect l="-15576" t="10184" r="-22089" b="1855"/>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6CEC2CD-FAD3-4DA9-87E2-CFE1C28E2BE5}">
      <dsp:nvSpPr>
        <dsp:cNvPr id="0" name=""/>
        <dsp:cNvSpPr/>
      </dsp:nvSpPr>
      <dsp:spPr>
        <a:xfrm rot="10800000">
          <a:off x="1934585" y="4482227"/>
          <a:ext cx="5971850" cy="1721590"/>
        </a:xfrm>
        <a:prstGeom prst="homePlate">
          <a:avLst/>
        </a:prstGeom>
        <a:solidFill>
          <a:schemeClr val="accent4">
            <a:shade val="50000"/>
            <a:hueOff val="-133911"/>
            <a:satOff val="-1963"/>
            <a:lumOff val="2689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59173" tIns="68580" rIns="128016" bIns="68580" numCol="1" spcCol="1270" anchor="ctr" anchorCtr="0">
          <a:noAutofit/>
        </a:bodyPr>
        <a:lstStyle/>
        <a:p>
          <a:pPr marL="0" lvl="0" indent="0" algn="ctr" defTabSz="800100">
            <a:lnSpc>
              <a:spcPct val="90000"/>
            </a:lnSpc>
            <a:spcBef>
              <a:spcPct val="0"/>
            </a:spcBef>
            <a:spcAft>
              <a:spcPct val="35000"/>
            </a:spcAft>
            <a:buNone/>
          </a:pPr>
          <a:r>
            <a:rPr lang="en-US" sz="1800" b="1" i="0" u="sng" kern="1200"/>
            <a:t>Debt-to-Equity Ratio:  </a:t>
          </a:r>
          <a:r>
            <a:rPr lang="en-US" sz="1800" b="0" i="0" kern="1200"/>
            <a:t>Debt wasn’t really in the picture, staying very low (0.01–0.02) most years, except a brief jump to 0.18 in 2025. Basically, Nestlé India leans on its own finances and keeps its debt minimal, which puts them in a solid spot financially.</a:t>
          </a:r>
          <a:endParaRPr lang="en-IN" sz="1800" kern="1200"/>
        </a:p>
      </dsp:txBody>
      <dsp:txXfrm rot="10800000">
        <a:off x="2364982" y="4482227"/>
        <a:ext cx="5541453" cy="1721590"/>
      </dsp:txXfrm>
    </dsp:sp>
    <dsp:sp modelId="{377039AB-6934-4F21-B857-4A0C6C02C6EB}">
      <dsp:nvSpPr>
        <dsp:cNvPr id="0" name=""/>
        <dsp:cNvSpPr/>
      </dsp:nvSpPr>
      <dsp:spPr>
        <a:xfrm>
          <a:off x="1073790" y="4482227"/>
          <a:ext cx="1721590" cy="1721590"/>
        </a:xfrm>
        <a:prstGeom prst="ellipse">
          <a:avLst/>
        </a:prstGeom>
        <a:blipFill rotWithShape="1">
          <a:blip xmlns:r="http://schemas.openxmlformats.org/officeDocument/2006/relationships" r:embed="rId3"/>
          <a:srcRect/>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B7EF36-11C2-41FC-8464-9028F7FE4CAB}" type="datetimeFigureOut">
              <a:rPr lang="en-IN" smtClean="0"/>
              <a:t>07-07-2026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D64983-D02D-4870-BE07-4DBA94486931}" type="slidenum">
              <a:rPr lang="en-IN" smtClean="0"/>
              <a:t>‹#›</a:t>
            </a:fld>
            <a:endParaRPr lang="en-IN"/>
          </a:p>
        </p:txBody>
      </p:sp>
    </p:spTree>
    <p:extLst>
      <p:ext uri="{BB962C8B-B14F-4D97-AF65-F5344CB8AC3E}">
        <p14:creationId xmlns:p14="http://schemas.microsoft.com/office/powerpoint/2010/main" val="624888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AD64983-D02D-4870-BE07-4DBA94486931}" type="slidenum">
              <a:rPr lang="en-IN" smtClean="0"/>
              <a:t>2</a:t>
            </a:fld>
            <a:endParaRPr lang="en-IN"/>
          </a:p>
        </p:txBody>
      </p:sp>
    </p:spTree>
    <p:extLst>
      <p:ext uri="{BB962C8B-B14F-4D97-AF65-F5344CB8AC3E}">
        <p14:creationId xmlns:p14="http://schemas.microsoft.com/office/powerpoint/2010/main" val="34399497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3"/>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94892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88251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4" y="2861736"/>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72092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1" y="2060577"/>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6"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24239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1"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7701"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7"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41977"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7/7/2026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31812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08683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85215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8"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2" y="3129283"/>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29914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8"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75430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4"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715233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3443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10"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8"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673898"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1"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38272944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2"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667544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5"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2905587"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306315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4"/>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7" y="4827213"/>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344917"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5" y="4827211"/>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562263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329466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3" y="430216"/>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076741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90"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7/7/2026</a:t>
            </a:fld>
            <a:endParaRPr lang="en-US"/>
          </a:p>
        </p:txBody>
      </p:sp>
      <p:sp>
        <p:nvSpPr>
          <p:cNvPr id="5" name="Footer Placeholder 4"/>
          <p:cNvSpPr>
            <a:spLocks noGrp="1"/>
          </p:cNvSpPr>
          <p:nvPr>
            <p:ph type="ftr" sz="quarter" idx="3"/>
          </p:nvPr>
        </p:nvSpPr>
        <p:spPr>
          <a:xfrm rot="5400000">
            <a:off x="6233336"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7766432" y="295738"/>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501373054"/>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3" Type="http://schemas.openxmlformats.org/officeDocument/2006/relationships/image" Target="../media/image9.emf"/><Relationship Id="rId7" Type="http://schemas.openxmlformats.org/officeDocument/2006/relationships/image" Target="../media/image11.emf"/><Relationship Id="rId2" Type="http://schemas.openxmlformats.org/officeDocument/2006/relationships/oleObject" Target="file:///C:\Users\ADMIN\Desktop\Govind%20Patidar%20(Nestle%20India).xlsx!Cash%20flow!R23C2:R23C8" TargetMode="External"/><Relationship Id="rId1" Type="http://schemas.openxmlformats.org/officeDocument/2006/relationships/slideLayout" Target="../slideLayouts/slideLayout2.xml"/><Relationship Id="rId6" Type="http://schemas.openxmlformats.org/officeDocument/2006/relationships/oleObject" Target="file:///C:\Users\ADMIN\Desktop\Govind%20Patidar%20(Nestle%20India).xlsx!Cash%20flow!R14C2:R14C8" TargetMode="External"/><Relationship Id="rId5" Type="http://schemas.openxmlformats.org/officeDocument/2006/relationships/image" Target="../media/image10.emf"/><Relationship Id="rId4" Type="http://schemas.openxmlformats.org/officeDocument/2006/relationships/oleObject" Target="file:///C:\Users\ADMIN\Desktop\Govind%20Patidar%20(Nestle%20India).xlsx!Cash%20flow!R4C2:R4C8"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915212"/>
            <a:ext cx="7250617" cy="3329583"/>
          </a:xfrm>
        </p:spPr>
        <p:txBody>
          <a:bodyPr>
            <a:normAutofit/>
          </a:bodyPr>
          <a:lstStyle/>
          <a:p>
            <a:r>
              <a:rPr sz="6000" dirty="0">
                <a:solidFill>
                  <a:schemeClr val="tx1"/>
                </a:solidFill>
              </a:rPr>
              <a:t>Nestlé India Financial Statement Analysis</a:t>
            </a:r>
          </a:p>
        </p:txBody>
      </p:sp>
      <p:sp>
        <p:nvSpPr>
          <p:cNvPr id="3" name="Subtitle 2"/>
          <p:cNvSpPr>
            <a:spLocks noGrp="1"/>
          </p:cNvSpPr>
          <p:nvPr>
            <p:ph type="subTitle" idx="1"/>
          </p:nvPr>
        </p:nvSpPr>
        <p:spPr>
          <a:xfrm>
            <a:off x="4349568" y="5525726"/>
            <a:ext cx="6620968" cy="861420"/>
          </a:xfrm>
        </p:spPr>
        <p:txBody>
          <a:bodyPr/>
          <a:lstStyle/>
          <a:p>
            <a:r>
              <a:rPr dirty="0">
                <a:solidFill>
                  <a:schemeClr val="accent4">
                    <a:lumMod val="20000"/>
                    <a:lumOff val="80000"/>
                  </a:schemeClr>
                </a:solidFill>
              </a:rPr>
              <a:t>Financial Statement Analysis</a:t>
            </a:r>
          </a:p>
          <a:p>
            <a:r>
              <a:rPr dirty="0">
                <a:solidFill>
                  <a:schemeClr val="accent4">
                    <a:lumMod val="20000"/>
                    <a:lumOff val="80000"/>
                  </a:schemeClr>
                </a:solidFill>
              </a:rPr>
              <a:t>Prepared by: Govind Patidar</a:t>
            </a:r>
          </a:p>
        </p:txBody>
      </p:sp>
      <p:pic>
        <p:nvPicPr>
          <p:cNvPr id="4" name="Picture 3">
            <a:extLst>
              <a:ext uri="{FF2B5EF4-FFF2-40B4-BE49-F238E27FC236}">
                <a16:creationId xmlns:a16="http://schemas.microsoft.com/office/drawing/2014/main" id="{003B7043-A79E-AFFD-C908-03EE09BB34B7}"/>
              </a:ext>
            </a:extLst>
          </p:cNvPr>
          <p:cNvPicPr>
            <a:picLocks noChangeAspect="1"/>
          </p:cNvPicPr>
          <p:nvPr/>
        </p:nvPicPr>
        <p:blipFill>
          <a:blip r:embed="rId2">
            <a:duotone>
              <a:schemeClr val="accent5">
                <a:shade val="45000"/>
                <a:satMod val="135000"/>
              </a:schemeClr>
              <a:prstClr val="white"/>
            </a:duotone>
          </a:blip>
          <a:stretch>
            <a:fillRect/>
          </a:stretch>
        </p:blipFill>
        <p:spPr>
          <a:xfrm>
            <a:off x="6050632" y="1219206"/>
            <a:ext cx="2960283" cy="205625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63431" y="178961"/>
            <a:ext cx="5902395" cy="1400532"/>
          </a:xfrm>
        </p:spPr>
        <p:txBody>
          <a:bodyPr/>
          <a:lstStyle/>
          <a:p>
            <a:r>
              <a:rPr b="1" dirty="0">
                <a:latin typeface="Berlin Sans FB Demi" panose="020E0802020502020306" pitchFamily="34" charset="0"/>
              </a:rPr>
              <a:t>Company Introduction</a:t>
            </a:r>
          </a:p>
        </p:txBody>
      </p:sp>
      <p:sp>
        <p:nvSpPr>
          <p:cNvPr id="3" name="Content Placeholder 2"/>
          <p:cNvSpPr>
            <a:spLocks noGrp="1"/>
          </p:cNvSpPr>
          <p:nvPr>
            <p:ph idx="1"/>
          </p:nvPr>
        </p:nvSpPr>
        <p:spPr>
          <a:xfrm>
            <a:off x="228605" y="1381148"/>
            <a:ext cx="8676244" cy="5089990"/>
          </a:xfrm>
        </p:spPr>
        <p:txBody>
          <a:bodyPr>
            <a:normAutofit/>
          </a:bodyPr>
          <a:lstStyle/>
          <a:p>
            <a:pPr marL="0" indent="0" defTabSz="914354" eaLnBrk="0" fontAlgn="base" hangingPunct="0">
              <a:spcBef>
                <a:spcPct val="0"/>
              </a:spcBef>
              <a:spcAft>
                <a:spcPct val="0"/>
              </a:spcAft>
              <a:buClrTx/>
              <a:buSzTx/>
              <a:buNone/>
            </a:pPr>
            <a:r>
              <a:rPr lang="en-US" altLang="en-US" sz="2400" b="1" dirty="0">
                <a:latin typeface="Arial" panose="020B0604020202020204" pitchFamily="34" charset="0"/>
              </a:rPr>
              <a:t>Nestlé India Limited</a:t>
            </a:r>
            <a:r>
              <a:rPr lang="en-US" altLang="en-US" sz="2400" dirty="0">
                <a:latin typeface="Arial" panose="020B0604020202020204" pitchFamily="34" charset="0"/>
              </a:rPr>
              <a:t> is one of India's leading FMCG companies and a subsidiary of Nestlé S.A., Switzerland. Established in 1959, the company manufactures and markets a wide range of food and beverage products, including Maggi, Nescafé, KitKat, </a:t>
            </a:r>
            <a:r>
              <a:rPr lang="en-US" altLang="en-US" sz="2400" dirty="0" err="1">
                <a:latin typeface="Arial" panose="020B0604020202020204" pitchFamily="34" charset="0"/>
              </a:rPr>
              <a:t>Cerelac</a:t>
            </a:r>
            <a:r>
              <a:rPr lang="en-US" altLang="en-US" sz="2400" dirty="0">
                <a:latin typeface="Arial" panose="020B0604020202020204" pitchFamily="34" charset="0"/>
              </a:rPr>
              <a:t>, and Milkmaid. With a strong distribution network, trusted brands, and a focus on quality, innovation, and sustainability, Nestlé India has maintained consistent growth and strong financial performance.</a:t>
            </a:r>
          </a:p>
          <a:p>
            <a:pPr>
              <a:defRPr sz="2200"/>
            </a:pPr>
            <a:r>
              <a:rPr lang="en-US" sz="2400" dirty="0">
                <a:latin typeface="Arial" panose="020B0604020202020204" pitchFamily="34" charset="0"/>
              </a:rPr>
              <a:t> Leading FMCG company</a:t>
            </a:r>
          </a:p>
          <a:p>
            <a:pPr>
              <a:defRPr sz="2200"/>
            </a:pPr>
            <a:r>
              <a:rPr lang="en-US" sz="2400" dirty="0">
                <a:latin typeface="Arial" panose="020B0604020202020204" pitchFamily="34" charset="0"/>
              </a:rPr>
              <a:t> Listed on NSE/BSE</a:t>
            </a:r>
          </a:p>
          <a:p>
            <a:pPr>
              <a:defRPr sz="2200"/>
            </a:pPr>
            <a:r>
              <a:rPr lang="en-US" sz="2400" dirty="0">
                <a:latin typeface="Arial" panose="020B0604020202020204" pitchFamily="34" charset="0"/>
              </a:rPr>
              <a:t> Food &amp; beverages</a:t>
            </a:r>
          </a:p>
          <a:p>
            <a:pPr marL="0" indent="0">
              <a:buNone/>
              <a:defRPr sz="2200"/>
            </a:pPr>
            <a:endParaRPr sz="2400" dirty="0">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41307F6-7E86-780E-212B-42A5B8D8ACE5}"/>
              </a:ext>
            </a:extLst>
          </p:cNvPr>
          <p:cNvPicPr>
            <a:picLocks noChangeAspect="1"/>
          </p:cNvPicPr>
          <p:nvPr/>
        </p:nvPicPr>
        <p:blipFill>
          <a:blip r:embed="rId2"/>
          <a:stretch>
            <a:fillRect/>
          </a:stretch>
        </p:blipFill>
        <p:spPr>
          <a:xfrm>
            <a:off x="3207434" y="1650603"/>
            <a:ext cx="6231986" cy="5087822"/>
          </a:xfrm>
          <a:prstGeom prst="rect">
            <a:avLst/>
          </a:prstGeom>
        </p:spPr>
      </p:pic>
      <p:sp>
        <p:nvSpPr>
          <p:cNvPr id="2" name="Title 1"/>
          <p:cNvSpPr>
            <a:spLocks noGrp="1"/>
          </p:cNvSpPr>
          <p:nvPr>
            <p:ph type="title"/>
          </p:nvPr>
        </p:nvSpPr>
        <p:spPr>
          <a:xfrm>
            <a:off x="3023194" y="162376"/>
            <a:ext cx="5247350" cy="1400530"/>
          </a:xfrm>
        </p:spPr>
        <p:txBody>
          <a:bodyPr/>
          <a:lstStyle/>
          <a:p>
            <a:r>
              <a:rPr b="1" dirty="0">
                <a:latin typeface="Berlin Sans FB Demi" panose="020E0802020502020306" pitchFamily="34" charset="0"/>
              </a:rPr>
              <a:t>Products &amp; Brands</a:t>
            </a:r>
          </a:p>
        </p:txBody>
      </p:sp>
      <p:sp>
        <p:nvSpPr>
          <p:cNvPr id="3" name="Content Placeholder 2"/>
          <p:cNvSpPr>
            <a:spLocks noGrp="1"/>
          </p:cNvSpPr>
          <p:nvPr>
            <p:ph idx="1"/>
          </p:nvPr>
        </p:nvSpPr>
        <p:spPr/>
        <p:txBody>
          <a:bodyPr/>
          <a:lstStyle/>
          <a:p>
            <a:pPr>
              <a:defRPr sz="2200"/>
            </a:pPr>
            <a:r>
              <a:rPr dirty="0"/>
              <a:t> </a:t>
            </a:r>
            <a:r>
              <a:rPr b="1" dirty="0"/>
              <a:t>Maggi</a:t>
            </a:r>
          </a:p>
          <a:p>
            <a:pPr>
              <a:defRPr sz="2200"/>
            </a:pPr>
            <a:r>
              <a:rPr b="1" dirty="0"/>
              <a:t> Nescafé</a:t>
            </a:r>
          </a:p>
          <a:p>
            <a:pPr>
              <a:defRPr sz="2200"/>
            </a:pPr>
            <a:r>
              <a:rPr b="1" dirty="0"/>
              <a:t> KitKat</a:t>
            </a:r>
          </a:p>
          <a:p>
            <a:pPr>
              <a:defRPr sz="2200"/>
            </a:pPr>
            <a:r>
              <a:rPr b="1" dirty="0"/>
              <a:t> Milkmaid</a:t>
            </a:r>
          </a:p>
          <a:p>
            <a:pPr>
              <a:defRPr sz="2200"/>
            </a:pPr>
            <a:r>
              <a:rPr b="1" dirty="0"/>
              <a:t> </a:t>
            </a:r>
            <a:r>
              <a:rPr b="1" dirty="0" err="1"/>
              <a:t>Cerela</a:t>
            </a:r>
            <a:r>
              <a:rPr dirty="0" err="1"/>
              <a:t>c</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2909" y="180616"/>
            <a:ext cx="7055380" cy="1400530"/>
          </a:xfrm>
        </p:spPr>
        <p:txBody>
          <a:bodyPr/>
          <a:lstStyle/>
          <a:p>
            <a:r>
              <a:rPr b="1" dirty="0">
                <a:latin typeface="Berlin Sans FB Demi" panose="020E0802020502020306" pitchFamily="34" charset="0"/>
              </a:rPr>
              <a:t>Industry Overview</a:t>
            </a:r>
          </a:p>
        </p:txBody>
      </p:sp>
      <p:sp>
        <p:nvSpPr>
          <p:cNvPr id="3" name="Content Placeholder 2"/>
          <p:cNvSpPr>
            <a:spLocks noGrp="1"/>
          </p:cNvSpPr>
          <p:nvPr>
            <p:ph idx="1"/>
          </p:nvPr>
        </p:nvSpPr>
        <p:spPr>
          <a:xfrm>
            <a:off x="85725" y="1286231"/>
            <a:ext cx="8972550" cy="5743219"/>
          </a:xfrm>
        </p:spPr>
        <p:txBody>
          <a:bodyPr>
            <a:normAutofit fontScale="92500" lnSpcReduction="20000"/>
          </a:bodyPr>
          <a:lstStyle/>
          <a:p>
            <a:pPr marL="0" indent="0">
              <a:buNone/>
              <a:defRPr sz="2200"/>
            </a:pPr>
            <a:r>
              <a:rPr lang="en-US" altLang="en-US" sz="2600" dirty="0">
                <a:latin typeface="Arial" panose="020B0604020202020204" pitchFamily="34" charset="0"/>
              </a:rPr>
              <a:t>The </a:t>
            </a:r>
            <a:r>
              <a:rPr lang="en-US" altLang="en-US" sz="2600" b="1" dirty="0">
                <a:latin typeface="Arial" panose="020B0604020202020204" pitchFamily="34" charset="0"/>
              </a:rPr>
              <a:t>Fast-Moving Consumer Goods (FMCG)</a:t>
            </a:r>
            <a:r>
              <a:rPr lang="en-US" altLang="en-US" sz="2600" dirty="0">
                <a:latin typeface="Arial" panose="020B0604020202020204" pitchFamily="34" charset="0"/>
              </a:rPr>
              <a:t> industry is one of the largest and fastest-growing sectors in India, driven by rising disposable incomes, urbanization, and changing consumer lifestyles. It includes products such as packaged foods, beverages, personal care, and household goods that are purchased frequently. The Indian FMCG market is highly competitive, with major players such as Nestlé India, Hindustan Unilever, Britannia Industries, ITC, and Tata Consumer Products. Increasing demand for healthy, convenient, and premium products, along with rapid growth in e-commerce and rural markets, continues to create significant opportunities for long-term industry growth.</a:t>
            </a:r>
          </a:p>
          <a:p>
            <a:pPr>
              <a:defRPr sz="2200"/>
            </a:pPr>
            <a:endParaRPr lang="en-US" dirty="0"/>
          </a:p>
          <a:p>
            <a:pPr>
              <a:defRPr sz="2200"/>
            </a:pPr>
            <a:r>
              <a:rPr dirty="0"/>
              <a:t> Indian FMCG sector</a:t>
            </a:r>
          </a:p>
          <a:p>
            <a:pPr>
              <a:defRPr sz="2200"/>
            </a:pPr>
            <a:r>
              <a:rPr dirty="0"/>
              <a:t> Stable demand</a:t>
            </a:r>
          </a:p>
          <a:p>
            <a:pPr>
              <a:defRPr sz="2200"/>
            </a:pPr>
            <a:r>
              <a:rPr dirty="0"/>
              <a:t> S</a:t>
            </a:r>
            <a:r>
              <a:rPr lang="en-IN" dirty="0"/>
              <a:t>t</a:t>
            </a:r>
            <a:r>
              <a:rPr dirty="0" err="1"/>
              <a:t>rong</a:t>
            </a:r>
            <a:r>
              <a:rPr dirty="0"/>
              <a:t> competition</a:t>
            </a:r>
          </a:p>
          <a:p>
            <a:pPr>
              <a:defRPr sz="2200"/>
            </a:pPr>
            <a:r>
              <a:rPr dirty="0"/>
              <a:t> Growth drivers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5021" y="223593"/>
            <a:ext cx="4551314" cy="1400530"/>
          </a:xfrm>
        </p:spPr>
        <p:txBody>
          <a:bodyPr/>
          <a:lstStyle/>
          <a:p>
            <a:r>
              <a:rPr b="1" dirty="0">
                <a:latin typeface="Berlin Sans FB Demi" panose="020E0802020502020306" pitchFamily="34" charset="0"/>
              </a:rPr>
              <a:t>Revenue Trend</a:t>
            </a:r>
          </a:p>
        </p:txBody>
      </p:sp>
      <p:sp>
        <p:nvSpPr>
          <p:cNvPr id="3" name="Content Placeholder 2"/>
          <p:cNvSpPr>
            <a:spLocks noGrp="1"/>
          </p:cNvSpPr>
          <p:nvPr>
            <p:ph idx="1"/>
          </p:nvPr>
        </p:nvSpPr>
        <p:spPr>
          <a:xfrm flipV="1">
            <a:off x="7506268" y="177874"/>
            <a:ext cx="218363" cy="45719"/>
          </a:xfrm>
        </p:spPr>
        <p:txBody>
          <a:bodyPr>
            <a:normAutofit fontScale="25000" lnSpcReduction="20000"/>
          </a:bodyPr>
          <a:lstStyle/>
          <a:p>
            <a:pPr>
              <a:defRPr sz="2200"/>
            </a:pPr>
            <a:endParaRPr dirty="0"/>
          </a:p>
        </p:txBody>
      </p:sp>
      <p:graphicFrame>
        <p:nvGraphicFramePr>
          <p:cNvPr id="9" name="Chart 8">
            <a:extLst>
              <a:ext uri="{FF2B5EF4-FFF2-40B4-BE49-F238E27FC236}">
                <a16:creationId xmlns:a16="http://schemas.microsoft.com/office/drawing/2014/main" id="{5693CE13-EA95-A1D0-48D8-DB82D6A6B65D}"/>
              </a:ext>
            </a:extLst>
          </p:cNvPr>
          <p:cNvGraphicFramePr/>
          <p:nvPr>
            <p:extLst>
              <p:ext uri="{D42A27DB-BD31-4B8C-83A1-F6EECF244321}">
                <p14:modId xmlns:p14="http://schemas.microsoft.com/office/powerpoint/2010/main" val="3475424530"/>
              </p:ext>
            </p:extLst>
          </p:nvPr>
        </p:nvGraphicFramePr>
        <p:xfrm>
          <a:off x="461129" y="1212823"/>
          <a:ext cx="8221742" cy="517016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1692-0C0F-7A20-5BC7-08E94D37750C}"/>
              </a:ext>
            </a:extLst>
          </p:cNvPr>
          <p:cNvSpPr>
            <a:spLocks noGrp="1"/>
          </p:cNvSpPr>
          <p:nvPr>
            <p:ph type="title"/>
          </p:nvPr>
        </p:nvSpPr>
        <p:spPr>
          <a:xfrm>
            <a:off x="3364388" y="97876"/>
            <a:ext cx="5165463" cy="1400530"/>
          </a:xfrm>
        </p:spPr>
        <p:txBody>
          <a:bodyPr/>
          <a:lstStyle/>
          <a:p>
            <a:r>
              <a:rPr lang="en-US" dirty="0">
                <a:latin typeface="Berlin Sans FB Demi" panose="020E0802020502020306" pitchFamily="34" charset="0"/>
              </a:rPr>
              <a:t>Revenue Analysis</a:t>
            </a:r>
            <a:endParaRPr lang="en-IN" dirty="0">
              <a:latin typeface="Berlin Sans FB Demi" panose="020E0802020502020306" pitchFamily="34" charset="0"/>
            </a:endParaRPr>
          </a:p>
        </p:txBody>
      </p:sp>
      <p:sp>
        <p:nvSpPr>
          <p:cNvPr id="3" name="Content Placeholder 2">
            <a:extLst>
              <a:ext uri="{FF2B5EF4-FFF2-40B4-BE49-F238E27FC236}">
                <a16:creationId xmlns:a16="http://schemas.microsoft.com/office/drawing/2014/main" id="{152B5B25-D5F5-93E7-FBE5-CFA8BFBA85BE}"/>
              </a:ext>
            </a:extLst>
          </p:cNvPr>
          <p:cNvSpPr>
            <a:spLocks noGrp="1"/>
          </p:cNvSpPr>
          <p:nvPr>
            <p:ph idx="1"/>
          </p:nvPr>
        </p:nvSpPr>
        <p:spPr>
          <a:xfrm>
            <a:off x="0" y="1853248"/>
            <a:ext cx="8802806" cy="3373845"/>
          </a:xfrm>
        </p:spPr>
        <p:txBody>
          <a:bodyPr>
            <a:normAutofit/>
          </a:bodyPr>
          <a:lstStyle/>
          <a:p>
            <a:endParaRPr lang="en-US" dirty="0"/>
          </a:p>
          <a:p>
            <a:endParaRPr lang="en-US" dirty="0"/>
          </a:p>
          <a:p>
            <a:endParaRPr lang="en-US" dirty="0"/>
          </a:p>
          <a:p>
            <a:endParaRPr lang="en-US" dirty="0"/>
          </a:p>
          <a:p>
            <a:endParaRPr lang="en-IN" dirty="0"/>
          </a:p>
        </p:txBody>
      </p:sp>
      <p:sp>
        <p:nvSpPr>
          <p:cNvPr id="6" name="Rectangle 3">
            <a:extLst>
              <a:ext uri="{FF2B5EF4-FFF2-40B4-BE49-F238E27FC236}">
                <a16:creationId xmlns:a16="http://schemas.microsoft.com/office/drawing/2014/main" id="{6CE7EFEA-A1A7-C07F-27D3-2AA2CF309505}"/>
              </a:ext>
            </a:extLst>
          </p:cNvPr>
          <p:cNvSpPr>
            <a:spLocks noChangeArrowheads="1"/>
          </p:cNvSpPr>
          <p:nvPr/>
        </p:nvSpPr>
        <p:spPr bwMode="auto">
          <a:xfrm rot="10800000" flipV="1">
            <a:off x="81886" y="1313740"/>
            <a:ext cx="8980227"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sz="2400" dirty="0"/>
              <a:t>The revenue trend shows steady growth from 2021 to 2024. It hits its peak growth rate of about 28% in 2024, which reflects strong business performance. In 2025, revenue dropped sharply due to temporary market or operational issues. However, 2026 sees a strong recovery with positive growth, showing the company's resilience and its ability to regain momentum after the downturn. </a:t>
            </a:r>
          </a:p>
          <a:p>
            <a:pPr defTabSz="914400" eaLnBrk="0" fontAlgn="base" hangingPunct="0">
              <a:spcBef>
                <a:spcPct val="0"/>
              </a:spcBef>
              <a:spcAft>
                <a:spcPct val="0"/>
              </a:spcAft>
            </a:pPr>
            <a:endParaRPr lang="en-US" sz="2400" dirty="0"/>
          </a:p>
          <a:p>
            <a:pPr defTabSz="914400" eaLnBrk="0" fontAlgn="base" hangingPunct="0">
              <a:spcBef>
                <a:spcPct val="0"/>
              </a:spcBef>
              <a:spcAft>
                <a:spcPct val="0"/>
              </a:spcAft>
            </a:pPr>
            <a:r>
              <a:rPr lang="en-US" sz="2400" dirty="0"/>
              <a:t>Business cycle can be see there:</a:t>
            </a: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Growth</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Peak</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Decline</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Recovery</a:t>
            </a:r>
            <a:r>
              <a:rPr kumimoji="0" lang="en-US" altLang="en-US" sz="24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2119870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9" y="125171"/>
            <a:ext cx="3896221" cy="1400530"/>
          </a:xfrm>
        </p:spPr>
        <p:txBody>
          <a:bodyPr/>
          <a:lstStyle/>
          <a:p>
            <a:r>
              <a:rPr b="1" dirty="0">
                <a:latin typeface="Berlin Sans FB Demi" panose="020E0802020502020306" pitchFamily="34" charset="0"/>
              </a:rPr>
              <a:t>Profit Trend</a:t>
            </a:r>
          </a:p>
        </p:txBody>
      </p:sp>
      <p:sp>
        <p:nvSpPr>
          <p:cNvPr id="3" name="Content Placeholder 2"/>
          <p:cNvSpPr>
            <a:spLocks noGrp="1"/>
          </p:cNvSpPr>
          <p:nvPr>
            <p:ph idx="1"/>
          </p:nvPr>
        </p:nvSpPr>
        <p:spPr/>
        <p:txBody>
          <a:bodyPr/>
          <a:lstStyle/>
          <a:p>
            <a:pPr>
              <a:defRPr sz="2200"/>
            </a:pPr>
            <a:endParaRPr lang="en-IN" dirty="0"/>
          </a:p>
          <a:p>
            <a:pPr>
              <a:defRPr sz="2200"/>
            </a:pPr>
            <a:endParaRPr dirty="0"/>
          </a:p>
        </p:txBody>
      </p:sp>
      <p:graphicFrame>
        <p:nvGraphicFramePr>
          <p:cNvPr id="10" name="Chart 9">
            <a:extLst>
              <a:ext uri="{FF2B5EF4-FFF2-40B4-BE49-F238E27FC236}">
                <a16:creationId xmlns:a16="http://schemas.microsoft.com/office/drawing/2014/main" id="{A59F42DD-F985-0F12-8254-CA6E2D4C09D4}"/>
              </a:ext>
            </a:extLst>
          </p:cNvPr>
          <p:cNvGraphicFramePr/>
          <p:nvPr>
            <p:extLst>
              <p:ext uri="{D42A27DB-BD31-4B8C-83A1-F6EECF244321}">
                <p14:modId xmlns:p14="http://schemas.microsoft.com/office/powerpoint/2010/main" val="1130514433"/>
              </p:ext>
            </p:extLst>
          </p:nvPr>
        </p:nvGraphicFramePr>
        <p:xfrm>
          <a:off x="1034954" y="1287817"/>
          <a:ext cx="7074089" cy="5085687"/>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06B29-2D44-E12E-5553-F2A41FBD1619}"/>
              </a:ext>
            </a:extLst>
          </p:cNvPr>
          <p:cNvSpPr>
            <a:spLocks noGrp="1"/>
          </p:cNvSpPr>
          <p:nvPr>
            <p:ph type="title"/>
          </p:nvPr>
        </p:nvSpPr>
        <p:spPr>
          <a:xfrm>
            <a:off x="2518227" y="79039"/>
            <a:ext cx="5779612" cy="1400530"/>
          </a:xfrm>
        </p:spPr>
        <p:txBody>
          <a:bodyPr/>
          <a:lstStyle/>
          <a:p>
            <a:r>
              <a:rPr lang="en-US" dirty="0">
                <a:latin typeface="Berlin Sans FB Demi" panose="020E0802020502020306" pitchFamily="34" charset="0"/>
              </a:rPr>
              <a:t>Profit  Trend Analysis</a:t>
            </a:r>
            <a:endParaRPr lang="en-IN" dirty="0">
              <a:latin typeface="Berlin Sans FB Demi" panose="020E0802020502020306" pitchFamily="34" charset="0"/>
            </a:endParaRPr>
          </a:p>
        </p:txBody>
      </p:sp>
      <p:graphicFrame>
        <p:nvGraphicFramePr>
          <p:cNvPr id="4" name="Content Placeholder 3">
            <a:extLst>
              <a:ext uri="{FF2B5EF4-FFF2-40B4-BE49-F238E27FC236}">
                <a16:creationId xmlns:a16="http://schemas.microsoft.com/office/drawing/2014/main" id="{097C6CDD-424F-FFEF-8B89-E14B7D34CA27}"/>
              </a:ext>
            </a:extLst>
          </p:cNvPr>
          <p:cNvGraphicFramePr>
            <a:graphicFrameLocks noGrp="1"/>
          </p:cNvGraphicFramePr>
          <p:nvPr>
            <p:ph idx="1"/>
            <p:extLst>
              <p:ext uri="{D42A27DB-BD31-4B8C-83A1-F6EECF244321}">
                <p14:modId xmlns:p14="http://schemas.microsoft.com/office/powerpoint/2010/main" val="737063679"/>
              </p:ext>
            </p:extLst>
          </p:nvPr>
        </p:nvGraphicFramePr>
        <p:xfrm>
          <a:off x="199903" y="1247708"/>
          <a:ext cx="8606472" cy="5167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7523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8620" y="233197"/>
            <a:ext cx="7055380" cy="1400530"/>
          </a:xfrm>
        </p:spPr>
        <p:txBody>
          <a:bodyPr/>
          <a:lstStyle/>
          <a:p>
            <a:r>
              <a:rPr b="1" dirty="0">
                <a:latin typeface="Berlin Sans FB Demi" panose="020E0802020502020306" pitchFamily="34" charset="0"/>
              </a:rPr>
              <a:t>Balance Sheet Analysis</a:t>
            </a:r>
          </a:p>
        </p:txBody>
      </p:sp>
      <p:graphicFrame>
        <p:nvGraphicFramePr>
          <p:cNvPr id="4" name="Content Placeholder 3">
            <a:extLst>
              <a:ext uri="{FF2B5EF4-FFF2-40B4-BE49-F238E27FC236}">
                <a16:creationId xmlns:a16="http://schemas.microsoft.com/office/drawing/2014/main" id="{1FA0DBD4-D7C3-37D1-2EA0-B3FF1E990BA5}"/>
              </a:ext>
            </a:extLst>
          </p:cNvPr>
          <p:cNvGraphicFramePr>
            <a:graphicFrameLocks noGrp="1"/>
          </p:cNvGraphicFramePr>
          <p:nvPr>
            <p:ph idx="1"/>
            <p:extLst>
              <p:ext uri="{D42A27DB-BD31-4B8C-83A1-F6EECF244321}">
                <p14:modId xmlns:p14="http://schemas.microsoft.com/office/powerpoint/2010/main" val="2508789539"/>
              </p:ext>
            </p:extLst>
          </p:nvPr>
        </p:nvGraphicFramePr>
        <p:xfrm>
          <a:off x="95534" y="1282890"/>
          <a:ext cx="8911987" cy="5328858"/>
        </p:xfrm>
        <a:graphic>
          <a:graphicData uri="http://schemas.openxmlformats.org/drawingml/2006/table">
            <a:tbl>
              <a:tblPr bandCol="1"/>
              <a:tblGrid>
                <a:gridCol w="1273141">
                  <a:extLst>
                    <a:ext uri="{9D8B030D-6E8A-4147-A177-3AD203B41FA5}">
                      <a16:colId xmlns:a16="http://schemas.microsoft.com/office/drawing/2014/main" val="2766706705"/>
                    </a:ext>
                  </a:extLst>
                </a:gridCol>
                <a:gridCol w="1273141">
                  <a:extLst>
                    <a:ext uri="{9D8B030D-6E8A-4147-A177-3AD203B41FA5}">
                      <a16:colId xmlns:a16="http://schemas.microsoft.com/office/drawing/2014/main" val="1785570286"/>
                    </a:ext>
                  </a:extLst>
                </a:gridCol>
                <a:gridCol w="1273141">
                  <a:extLst>
                    <a:ext uri="{9D8B030D-6E8A-4147-A177-3AD203B41FA5}">
                      <a16:colId xmlns:a16="http://schemas.microsoft.com/office/drawing/2014/main" val="428955155"/>
                    </a:ext>
                  </a:extLst>
                </a:gridCol>
                <a:gridCol w="1273141">
                  <a:extLst>
                    <a:ext uri="{9D8B030D-6E8A-4147-A177-3AD203B41FA5}">
                      <a16:colId xmlns:a16="http://schemas.microsoft.com/office/drawing/2014/main" val="2197267352"/>
                    </a:ext>
                  </a:extLst>
                </a:gridCol>
                <a:gridCol w="1273141">
                  <a:extLst>
                    <a:ext uri="{9D8B030D-6E8A-4147-A177-3AD203B41FA5}">
                      <a16:colId xmlns:a16="http://schemas.microsoft.com/office/drawing/2014/main" val="3226478542"/>
                    </a:ext>
                  </a:extLst>
                </a:gridCol>
                <a:gridCol w="1273141">
                  <a:extLst>
                    <a:ext uri="{9D8B030D-6E8A-4147-A177-3AD203B41FA5}">
                      <a16:colId xmlns:a16="http://schemas.microsoft.com/office/drawing/2014/main" val="3597135486"/>
                    </a:ext>
                  </a:extLst>
                </a:gridCol>
                <a:gridCol w="1273141">
                  <a:extLst>
                    <a:ext uri="{9D8B030D-6E8A-4147-A177-3AD203B41FA5}">
                      <a16:colId xmlns:a16="http://schemas.microsoft.com/office/drawing/2014/main" val="1777878063"/>
                    </a:ext>
                  </a:extLst>
                </a:gridCol>
              </a:tblGrid>
              <a:tr h="610941">
                <a:tc>
                  <a:txBody>
                    <a:bodyPr/>
                    <a:lstStyle/>
                    <a:p>
                      <a:pPr>
                        <a:buNone/>
                      </a:pPr>
                      <a:r>
                        <a:rPr lang="en-IN" sz="1400" dirty="0"/>
                        <a:t>Particulars</a:t>
                      </a:r>
                    </a:p>
                  </a:txBody>
                  <a:tcPr marL="68783" marR="68783" marT="34391" marB="343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t>2021</a:t>
                      </a:r>
                    </a:p>
                  </a:txBody>
                  <a:tcPr marL="68783" marR="68783" marT="34391" marB="343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t>2022</a:t>
                      </a:r>
                      <a:endParaRPr lang="en-IN" sz="1400" dirty="0"/>
                    </a:p>
                  </a:txBody>
                  <a:tcPr marL="68783" marR="68783" marT="34391" marB="343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2023</a:t>
                      </a:r>
                    </a:p>
                  </a:txBody>
                  <a:tcPr marL="68783" marR="68783" marT="34391" marB="343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2024</a:t>
                      </a:r>
                    </a:p>
                  </a:txBody>
                  <a:tcPr marL="68783" marR="68783" marT="34391" marB="343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2025</a:t>
                      </a:r>
                    </a:p>
                  </a:txBody>
                  <a:tcPr marL="68783" marR="68783" marT="34391" marB="343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t>2026</a:t>
                      </a:r>
                    </a:p>
                  </a:txBody>
                  <a:tcPr marL="68783" marR="68783" marT="34391" marB="343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18770687"/>
                  </a:ext>
                </a:extLst>
              </a:tr>
              <a:tr h="610941">
                <a:tc>
                  <a:txBody>
                    <a:bodyPr/>
                    <a:lstStyle/>
                    <a:p>
                      <a:pPr>
                        <a:buNone/>
                      </a:pPr>
                      <a:r>
                        <a:rPr lang="en-IN" sz="1400"/>
                        <a:t>Total Assets</a:t>
                      </a:r>
                    </a:p>
                  </a:txBody>
                  <a:tcPr marL="68783" marR="68783" marT="34391" marB="343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buNone/>
                      </a:pPr>
                      <a:r>
                        <a:rPr lang="en-IN" sz="1600" b="0" i="0" u="none" strike="noStrike" dirty="0">
                          <a:solidFill>
                            <a:schemeClr val="tx1"/>
                          </a:solidFill>
                          <a:effectLst/>
                          <a:latin typeface="Calibri" panose="020F0502020204030204" pitchFamily="34" charset="0"/>
                        </a:rPr>
                        <a:t>₹ 10,728.16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buNone/>
                      </a:pPr>
                      <a:r>
                        <a:rPr lang="en-IN" sz="1600" b="0" i="0" u="none" strike="noStrike" dirty="0">
                          <a:solidFill>
                            <a:schemeClr val="tx1"/>
                          </a:solidFill>
                          <a:effectLst/>
                          <a:latin typeface="Calibri" panose="020F0502020204030204" pitchFamily="34" charset="0"/>
                        </a:rPr>
                        <a:t>₹ 12,044.95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buNone/>
                      </a:pPr>
                      <a:r>
                        <a:rPr lang="en-IN" sz="1600" b="0" i="0" u="none" strike="noStrike" dirty="0">
                          <a:solidFill>
                            <a:schemeClr val="tx1"/>
                          </a:solidFill>
                          <a:effectLst/>
                          <a:latin typeface="Calibri" panose="020F0502020204030204" pitchFamily="34" charset="0"/>
                        </a:rPr>
                        <a:t>₹ 12,044.95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buNone/>
                      </a:pPr>
                      <a:r>
                        <a:rPr lang="en-IN" sz="1600" b="0" i="0" u="none" strike="noStrike" dirty="0">
                          <a:solidFill>
                            <a:schemeClr val="tx1"/>
                          </a:solidFill>
                          <a:effectLst/>
                          <a:latin typeface="Calibri" panose="020F0502020204030204" pitchFamily="34" charset="0"/>
                        </a:rPr>
                        <a:t>₹ 13,691.73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buNone/>
                      </a:pPr>
                      <a:r>
                        <a:rPr lang="en-IN" sz="1600" b="0" i="0" u="none" strike="noStrike" dirty="0">
                          <a:solidFill>
                            <a:schemeClr val="tx1"/>
                          </a:solidFill>
                          <a:effectLst/>
                          <a:latin typeface="Calibri" panose="020F0502020204030204" pitchFamily="34" charset="0"/>
                        </a:rPr>
                        <a:t>₹ 15,632.83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buNone/>
                      </a:pPr>
                      <a:r>
                        <a:rPr lang="en-IN" sz="1600" b="0" i="0" u="none" strike="noStrike" dirty="0">
                          <a:solidFill>
                            <a:schemeClr val="tx1"/>
                          </a:solidFill>
                          <a:effectLst/>
                          <a:latin typeface="Calibri" panose="020F0502020204030204" pitchFamily="34" charset="0"/>
                        </a:rPr>
                        <a:t>₹ 17,596.73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16706831"/>
                  </a:ext>
                </a:extLst>
              </a:tr>
              <a:tr h="610941">
                <a:tc>
                  <a:txBody>
                    <a:bodyPr/>
                    <a:lstStyle/>
                    <a:p>
                      <a:pPr>
                        <a:buNone/>
                      </a:pPr>
                      <a:r>
                        <a:rPr lang="en-IN" sz="1400"/>
                        <a:t>Current Assets</a:t>
                      </a:r>
                    </a:p>
                  </a:txBody>
                  <a:tcPr marL="68783" marR="68783" marT="34391" marB="343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buNone/>
                      </a:pPr>
                      <a:r>
                        <a:rPr lang="en-IN" sz="1600" b="1" i="0" u="none" strike="noStrike" dirty="0">
                          <a:solidFill>
                            <a:schemeClr val="tx1"/>
                          </a:solidFill>
                          <a:effectLst/>
                          <a:latin typeface="Calibri" panose="020F0502020204030204" pitchFamily="34" charset="0"/>
                        </a:rPr>
                        <a:t>₹ 2,494.03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buNone/>
                      </a:pPr>
                      <a:r>
                        <a:rPr lang="en-IN" sz="1600" b="1" i="0" u="none" strike="noStrike" dirty="0">
                          <a:solidFill>
                            <a:schemeClr val="tx1"/>
                          </a:solidFill>
                          <a:effectLst/>
                          <a:latin typeface="Calibri" panose="020F0502020204030204" pitchFamily="34" charset="0"/>
                        </a:rPr>
                        <a:t>₹ 3,066.21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buNone/>
                      </a:pPr>
                      <a:r>
                        <a:rPr lang="en-IN" sz="1600" b="1" i="0" u="none" strike="noStrike">
                          <a:solidFill>
                            <a:schemeClr val="tx1"/>
                          </a:solidFill>
                          <a:effectLst/>
                          <a:latin typeface="Calibri" panose="020F0502020204030204" pitchFamily="34" charset="0"/>
                        </a:rPr>
                        <a:t>₹ 3,066.21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buNone/>
                      </a:pPr>
                      <a:r>
                        <a:rPr lang="en-IN" sz="1600" b="1" i="0" u="none" strike="noStrike">
                          <a:solidFill>
                            <a:schemeClr val="tx1"/>
                          </a:solidFill>
                          <a:effectLst/>
                          <a:latin typeface="Calibri" panose="020F0502020204030204" pitchFamily="34" charset="0"/>
                        </a:rPr>
                        <a:t>₹ 3,168.67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buNone/>
                      </a:pPr>
                      <a:r>
                        <a:rPr lang="en-IN" sz="1600" b="1" i="0" u="none" strike="noStrike" dirty="0">
                          <a:solidFill>
                            <a:schemeClr val="tx1"/>
                          </a:solidFill>
                          <a:effectLst/>
                          <a:latin typeface="Calibri" panose="020F0502020204030204" pitchFamily="34" charset="0"/>
                        </a:rPr>
                        <a:t>₹ 3,308.94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buNone/>
                      </a:pPr>
                      <a:r>
                        <a:rPr lang="en-IN" sz="1600" b="1" i="0" u="none" strike="noStrike" dirty="0">
                          <a:solidFill>
                            <a:schemeClr val="tx1"/>
                          </a:solidFill>
                          <a:effectLst/>
                          <a:latin typeface="Calibri" panose="020F0502020204030204" pitchFamily="34" charset="0"/>
                        </a:rPr>
                        <a:t>₹ 4,239.56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35967051"/>
                  </a:ext>
                </a:extLst>
              </a:tr>
              <a:tr h="874009">
                <a:tc>
                  <a:txBody>
                    <a:bodyPr/>
                    <a:lstStyle/>
                    <a:p>
                      <a:pPr>
                        <a:buNone/>
                      </a:pPr>
                      <a:r>
                        <a:rPr lang="en-IN" sz="1400"/>
                        <a:t>Non-Current Assets</a:t>
                      </a:r>
                    </a:p>
                  </a:txBody>
                  <a:tcPr marL="68783" marR="68783" marT="34391" marB="343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buNone/>
                      </a:pPr>
                      <a:r>
                        <a:rPr lang="en-IN" sz="1600" b="1" i="0" u="none" strike="noStrike" dirty="0">
                          <a:solidFill>
                            <a:schemeClr val="tx1"/>
                          </a:solidFill>
                          <a:effectLst/>
                          <a:latin typeface="Calibri" panose="020F0502020204030204" pitchFamily="34" charset="0"/>
                        </a:rPr>
                        <a:t>₹ 8,234.13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buNone/>
                      </a:pPr>
                      <a:r>
                        <a:rPr lang="en-IN" sz="1600" b="1" i="0" u="none" strike="noStrike">
                          <a:solidFill>
                            <a:schemeClr val="tx1"/>
                          </a:solidFill>
                          <a:effectLst/>
                          <a:latin typeface="Calibri" panose="020F0502020204030204" pitchFamily="34" charset="0"/>
                        </a:rPr>
                        <a:t>₹ 8,978.74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buNone/>
                      </a:pPr>
                      <a:r>
                        <a:rPr lang="en-IN" sz="1600" b="1" i="0" u="none" strike="noStrike">
                          <a:solidFill>
                            <a:schemeClr val="tx1"/>
                          </a:solidFill>
                          <a:effectLst/>
                          <a:latin typeface="Calibri" panose="020F0502020204030204" pitchFamily="34" charset="0"/>
                        </a:rPr>
                        <a:t>₹ 8,978.74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buNone/>
                      </a:pPr>
                      <a:r>
                        <a:rPr lang="en-IN" sz="1600" b="1" i="0" u="none" strike="noStrike">
                          <a:solidFill>
                            <a:schemeClr val="tx1"/>
                          </a:solidFill>
                          <a:effectLst/>
                          <a:latin typeface="Calibri" panose="020F0502020204030204" pitchFamily="34" charset="0"/>
                        </a:rPr>
                        <a:t>₹ 10,523.06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buNone/>
                      </a:pPr>
                      <a:r>
                        <a:rPr lang="en-IN" sz="1600" b="1" i="0" u="none" strike="noStrike">
                          <a:solidFill>
                            <a:schemeClr val="tx1"/>
                          </a:solidFill>
                          <a:effectLst/>
                          <a:latin typeface="Calibri" panose="020F0502020204030204" pitchFamily="34" charset="0"/>
                        </a:rPr>
                        <a:t>₹ 12,323.89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buNone/>
                      </a:pPr>
                      <a:r>
                        <a:rPr lang="en-IN" sz="1600" b="1" i="0" u="none" strike="noStrike" dirty="0">
                          <a:solidFill>
                            <a:schemeClr val="tx1"/>
                          </a:solidFill>
                          <a:effectLst/>
                          <a:latin typeface="Calibri" panose="020F0502020204030204" pitchFamily="34" charset="0"/>
                        </a:rPr>
                        <a:t>₹ 13,357.17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9427920"/>
                  </a:ext>
                </a:extLst>
              </a:tr>
              <a:tr h="874009">
                <a:tc>
                  <a:txBody>
                    <a:bodyPr/>
                    <a:lstStyle/>
                    <a:p>
                      <a:pPr>
                        <a:buNone/>
                      </a:pPr>
                      <a:r>
                        <a:rPr lang="en-IN" sz="1400" dirty="0"/>
                        <a:t>Current Liabilities</a:t>
                      </a:r>
                    </a:p>
                  </a:txBody>
                  <a:tcPr marL="68783" marR="68783" marT="34391" marB="343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457207" rtl="0" eaLnBrk="1" fontAlgn="b" latinLnBrk="0" hangingPunct="1">
                        <a:buNone/>
                      </a:pPr>
                      <a:r>
                        <a:rPr lang="en-IN" sz="1600" b="1" i="0" u="none" strike="noStrike" dirty="0">
                          <a:solidFill>
                            <a:schemeClr val="tx1"/>
                          </a:solidFill>
                          <a:effectLst/>
                          <a:latin typeface="Calibri" panose="020F0502020204030204" pitchFamily="34" charset="0"/>
                        </a:rPr>
                        <a:t>₹ </a:t>
                      </a:r>
                      <a:r>
                        <a:rPr lang="en-IN" sz="1600" b="1" i="0" u="none" strike="noStrike" kern="1200" dirty="0">
                          <a:solidFill>
                            <a:schemeClr val="tx1"/>
                          </a:solidFill>
                          <a:effectLst/>
                          <a:latin typeface="Calibri" panose="020F0502020204030204" pitchFamily="34" charset="0"/>
                          <a:ea typeface="+mn-ea"/>
                          <a:cs typeface="+mn-cs"/>
                        </a:rPr>
                        <a:t>266</a:t>
                      </a:r>
                    </a:p>
                  </a:txBody>
                  <a:tcPr marL="85725" marR="85725" marT="85725" marB="8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457207" rtl="0" eaLnBrk="1" fontAlgn="b" latinLnBrk="0" hangingPunct="1">
                        <a:buNone/>
                      </a:pPr>
                      <a:r>
                        <a:rPr lang="en-IN" sz="1600" b="1" i="0" u="none" strike="noStrike" dirty="0">
                          <a:solidFill>
                            <a:schemeClr val="tx1"/>
                          </a:solidFill>
                          <a:effectLst/>
                          <a:latin typeface="Calibri" panose="020F0502020204030204" pitchFamily="34" charset="0"/>
                        </a:rPr>
                        <a:t>₹</a:t>
                      </a:r>
                      <a:r>
                        <a:rPr lang="en-IN" sz="1600" b="1" i="0" u="none" strike="noStrike" kern="1200" dirty="0">
                          <a:solidFill>
                            <a:schemeClr val="tx1"/>
                          </a:solidFill>
                          <a:effectLst/>
                          <a:latin typeface="Calibri" panose="020F0502020204030204" pitchFamily="34" charset="0"/>
                          <a:ea typeface="+mn-ea"/>
                          <a:cs typeface="+mn-cs"/>
                        </a:rPr>
                        <a:t>271</a:t>
                      </a:r>
                    </a:p>
                  </a:txBody>
                  <a:tcPr marL="85725" marR="85725" marT="85725" marB="8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457207" rtl="0" eaLnBrk="1" fontAlgn="b" latinLnBrk="0" hangingPunct="1">
                        <a:buNone/>
                      </a:pPr>
                      <a:r>
                        <a:rPr lang="en-IN" sz="1600" b="1" i="0" u="none" strike="noStrike" dirty="0">
                          <a:solidFill>
                            <a:schemeClr val="tx1"/>
                          </a:solidFill>
                          <a:effectLst/>
                          <a:latin typeface="Calibri" panose="020F0502020204030204" pitchFamily="34" charset="0"/>
                        </a:rPr>
                        <a:t>₹</a:t>
                      </a:r>
                      <a:r>
                        <a:rPr lang="en-IN" sz="1600" b="1" i="0" u="none" strike="noStrike" kern="1200" dirty="0">
                          <a:solidFill>
                            <a:schemeClr val="tx1"/>
                          </a:solidFill>
                          <a:effectLst/>
                          <a:latin typeface="Calibri" panose="020F0502020204030204" pitchFamily="34" charset="0"/>
                          <a:ea typeface="+mn-ea"/>
                          <a:cs typeface="+mn-cs"/>
                        </a:rPr>
                        <a:t>271</a:t>
                      </a:r>
                    </a:p>
                  </a:txBody>
                  <a:tcPr marL="85725" marR="85725" marT="85725" marB="8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457207" rtl="0" eaLnBrk="1" fontAlgn="b" latinLnBrk="0" hangingPunct="1">
                        <a:buNone/>
                      </a:pPr>
                      <a:r>
                        <a:rPr lang="en-IN" sz="1600" b="1" i="0" u="none" strike="noStrike" dirty="0">
                          <a:solidFill>
                            <a:schemeClr val="tx1"/>
                          </a:solidFill>
                          <a:effectLst/>
                          <a:latin typeface="Calibri" panose="020F0502020204030204" pitchFamily="34" charset="0"/>
                        </a:rPr>
                        <a:t>₹</a:t>
                      </a:r>
                      <a:r>
                        <a:rPr lang="en-IN" sz="1600" b="1" i="0" u="none" strike="noStrike" kern="1200" dirty="0">
                          <a:solidFill>
                            <a:schemeClr val="tx1"/>
                          </a:solidFill>
                          <a:effectLst/>
                          <a:latin typeface="Calibri" panose="020F0502020204030204" pitchFamily="34" charset="0"/>
                          <a:ea typeface="+mn-ea"/>
                          <a:cs typeface="+mn-cs"/>
                        </a:rPr>
                        <a:t>345</a:t>
                      </a:r>
                    </a:p>
                  </a:txBody>
                  <a:tcPr marL="85725" marR="85725" marT="85725" marB="8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457207" rtl="0" eaLnBrk="1" fontAlgn="b" latinLnBrk="0" hangingPunct="1">
                        <a:buNone/>
                      </a:pPr>
                      <a:r>
                        <a:rPr lang="en-IN" sz="1600" b="1" i="0" u="none" strike="noStrike" dirty="0">
                          <a:solidFill>
                            <a:schemeClr val="tx1"/>
                          </a:solidFill>
                          <a:effectLst/>
                          <a:latin typeface="Calibri" panose="020F0502020204030204" pitchFamily="34" charset="0"/>
                        </a:rPr>
                        <a:t>₹</a:t>
                      </a:r>
                      <a:r>
                        <a:rPr lang="en-IN" sz="1600" b="1" i="0" u="none" strike="noStrike" kern="1200" dirty="0">
                          <a:solidFill>
                            <a:schemeClr val="tx1"/>
                          </a:solidFill>
                          <a:effectLst/>
                          <a:latin typeface="Calibri" panose="020F0502020204030204" pitchFamily="34" charset="0"/>
                          <a:ea typeface="+mn-ea"/>
                          <a:cs typeface="+mn-cs"/>
                        </a:rPr>
                        <a:t>1,167</a:t>
                      </a:r>
                    </a:p>
                  </a:txBody>
                  <a:tcPr marL="85725" marR="85725" marT="85725" marB="8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457207" rtl="0" eaLnBrk="1" fontAlgn="b" latinLnBrk="0" hangingPunct="1">
                        <a:buNone/>
                      </a:pPr>
                      <a:r>
                        <a:rPr lang="en-IN" sz="1600" b="1" i="0" u="none" strike="noStrike" dirty="0">
                          <a:solidFill>
                            <a:schemeClr val="tx1"/>
                          </a:solidFill>
                          <a:effectLst/>
                          <a:latin typeface="Calibri" panose="020F0502020204030204" pitchFamily="34" charset="0"/>
                        </a:rPr>
                        <a:t>₹</a:t>
                      </a:r>
                      <a:r>
                        <a:rPr lang="en-IN" sz="1600" b="1" i="0" u="none" strike="noStrike" kern="1200" dirty="0">
                          <a:solidFill>
                            <a:schemeClr val="tx1"/>
                          </a:solidFill>
                          <a:effectLst/>
                          <a:latin typeface="Calibri" panose="020F0502020204030204" pitchFamily="34" charset="0"/>
                          <a:ea typeface="+mn-ea"/>
                          <a:cs typeface="+mn-cs"/>
                        </a:rPr>
                        <a:t>444</a:t>
                      </a:r>
                    </a:p>
                  </a:txBody>
                  <a:tcPr marL="85725" marR="228600" marT="85725" marB="8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94069"/>
                  </a:ext>
                </a:extLst>
              </a:tr>
              <a:tr h="1137076">
                <a:tc>
                  <a:txBody>
                    <a:bodyPr/>
                    <a:lstStyle/>
                    <a:p>
                      <a:pPr>
                        <a:buNone/>
                      </a:pPr>
                      <a:r>
                        <a:rPr lang="en-IN" sz="1400"/>
                        <a:t>Non-Current Liabilities</a:t>
                      </a:r>
                    </a:p>
                  </a:txBody>
                  <a:tcPr marL="68783" marR="68783" marT="34391" marB="343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457207" rtl="0" eaLnBrk="1" fontAlgn="b" latinLnBrk="0" hangingPunct="1">
                        <a:buNone/>
                      </a:pPr>
                      <a:r>
                        <a:rPr lang="en-IN" sz="1600" b="1" i="0" u="none" strike="noStrike" dirty="0">
                          <a:solidFill>
                            <a:schemeClr val="tx1"/>
                          </a:solidFill>
                          <a:effectLst/>
                          <a:latin typeface="Calibri" panose="020F0502020204030204" pitchFamily="34" charset="0"/>
                        </a:rPr>
                        <a:t>₹ </a:t>
                      </a:r>
                      <a:r>
                        <a:rPr lang="en-IN" sz="1600" b="1" i="0" u="none" strike="noStrike" kern="1200" dirty="0">
                          <a:solidFill>
                            <a:schemeClr val="tx1"/>
                          </a:solidFill>
                          <a:effectLst/>
                          <a:latin typeface="Calibri" panose="020F0502020204030204" pitchFamily="34" charset="0"/>
                          <a:ea typeface="+mn-ea"/>
                          <a:cs typeface="+mn-cs"/>
                        </a:rPr>
                        <a:t>6,021</a:t>
                      </a:r>
                    </a:p>
                  </a:txBody>
                  <a:tcPr marL="85725" marR="85725" marT="85725" marB="8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457207" rtl="0" eaLnBrk="1" fontAlgn="b" latinLnBrk="0" hangingPunct="1">
                        <a:buNone/>
                      </a:pPr>
                      <a:r>
                        <a:rPr lang="en-IN" sz="1600" b="1" i="0" u="none" strike="noStrike" dirty="0">
                          <a:solidFill>
                            <a:schemeClr val="tx1"/>
                          </a:solidFill>
                          <a:effectLst/>
                          <a:latin typeface="Calibri" panose="020F0502020204030204" pitchFamily="34" charset="0"/>
                        </a:rPr>
                        <a:t>₹  </a:t>
                      </a:r>
                      <a:r>
                        <a:rPr lang="en-IN" sz="1600" b="1" i="0" u="none" strike="noStrike" kern="1200" dirty="0">
                          <a:solidFill>
                            <a:schemeClr val="tx1"/>
                          </a:solidFill>
                          <a:effectLst/>
                          <a:latin typeface="Calibri" panose="020F0502020204030204" pitchFamily="34" charset="0"/>
                          <a:ea typeface="+mn-ea"/>
                          <a:cs typeface="+mn-cs"/>
                        </a:rPr>
                        <a:t>6,249</a:t>
                      </a:r>
                    </a:p>
                  </a:txBody>
                  <a:tcPr marL="85725" marR="85725" marT="85725" marB="8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457207" rtl="0" eaLnBrk="1" fontAlgn="b" latinLnBrk="0" hangingPunct="1">
                        <a:buNone/>
                      </a:pPr>
                      <a:r>
                        <a:rPr lang="en-IN" sz="1600" b="1" i="0" u="none" strike="noStrike" dirty="0">
                          <a:solidFill>
                            <a:schemeClr val="tx1"/>
                          </a:solidFill>
                          <a:effectLst/>
                          <a:latin typeface="Calibri" panose="020F0502020204030204" pitchFamily="34" charset="0"/>
                        </a:rPr>
                        <a:t>₹</a:t>
                      </a:r>
                      <a:r>
                        <a:rPr lang="en-IN" sz="1600" b="1" i="0" u="none" strike="noStrike" kern="1200" dirty="0">
                          <a:solidFill>
                            <a:schemeClr val="tx1"/>
                          </a:solidFill>
                          <a:effectLst/>
                          <a:latin typeface="Calibri" panose="020F0502020204030204" pitchFamily="34" charset="0"/>
                          <a:ea typeface="+mn-ea"/>
                          <a:cs typeface="+mn-cs"/>
                        </a:rPr>
                        <a:t>6,249</a:t>
                      </a:r>
                    </a:p>
                  </a:txBody>
                  <a:tcPr marL="85725" marR="85725" marT="85725" marB="8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457207" rtl="0" eaLnBrk="1" fontAlgn="b" latinLnBrk="0" hangingPunct="1">
                        <a:buNone/>
                      </a:pPr>
                      <a:r>
                        <a:rPr lang="en-IN" sz="1600" b="1" i="0" u="none" strike="noStrike" dirty="0">
                          <a:solidFill>
                            <a:schemeClr val="tx1"/>
                          </a:solidFill>
                          <a:effectLst/>
                          <a:latin typeface="Calibri" panose="020F0502020204030204" pitchFamily="34" charset="0"/>
                        </a:rPr>
                        <a:t>₹</a:t>
                      </a:r>
                      <a:r>
                        <a:rPr lang="en-IN" sz="1600" b="1" i="0" u="none" strike="noStrike" kern="1200" dirty="0">
                          <a:solidFill>
                            <a:schemeClr val="tx1"/>
                          </a:solidFill>
                          <a:effectLst/>
                          <a:latin typeface="Calibri" panose="020F0502020204030204" pitchFamily="34" charset="0"/>
                          <a:ea typeface="+mn-ea"/>
                          <a:cs typeface="+mn-cs"/>
                        </a:rPr>
                        <a:t>6,838</a:t>
                      </a:r>
                    </a:p>
                  </a:txBody>
                  <a:tcPr marL="85725" marR="85725" marT="85725" marB="8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457207" rtl="0" eaLnBrk="1" fontAlgn="b" latinLnBrk="0" hangingPunct="1">
                        <a:buNone/>
                      </a:pPr>
                      <a:r>
                        <a:rPr lang="en-IN" sz="1600" b="1" i="0" u="none" strike="noStrike" dirty="0">
                          <a:solidFill>
                            <a:schemeClr val="tx1"/>
                          </a:solidFill>
                          <a:effectLst/>
                          <a:latin typeface="Calibri" panose="020F0502020204030204" pitchFamily="34" charset="0"/>
                        </a:rPr>
                        <a:t>₹</a:t>
                      </a:r>
                      <a:r>
                        <a:rPr lang="en-IN" sz="1600" b="1" i="0" u="none" strike="noStrike" kern="1200" dirty="0">
                          <a:solidFill>
                            <a:schemeClr val="tx1"/>
                          </a:solidFill>
                          <a:effectLst/>
                          <a:latin typeface="Calibri" panose="020F0502020204030204" pitchFamily="34" charset="0"/>
                          <a:ea typeface="+mn-ea"/>
                          <a:cs typeface="+mn-cs"/>
                        </a:rPr>
                        <a:t>7,040</a:t>
                      </a:r>
                    </a:p>
                  </a:txBody>
                  <a:tcPr marL="85725" marR="85725" marT="85725" marB="8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457207" rtl="0" eaLnBrk="1" fontAlgn="b" latinLnBrk="0" hangingPunct="1">
                        <a:buNone/>
                      </a:pPr>
                      <a:r>
                        <a:rPr lang="en-IN" sz="1600" b="1" i="0" u="none" strike="noStrike" dirty="0">
                          <a:solidFill>
                            <a:schemeClr val="tx1"/>
                          </a:solidFill>
                          <a:effectLst/>
                          <a:latin typeface="Calibri" panose="020F0502020204030204" pitchFamily="34" charset="0"/>
                        </a:rPr>
                        <a:t>₹</a:t>
                      </a:r>
                      <a:r>
                        <a:rPr lang="en-IN" sz="1600" b="1" i="0" u="none" strike="noStrike" kern="1200" dirty="0">
                          <a:solidFill>
                            <a:schemeClr val="tx1"/>
                          </a:solidFill>
                          <a:effectLst/>
                          <a:latin typeface="Calibri" panose="020F0502020204030204" pitchFamily="34" charset="0"/>
                          <a:ea typeface="+mn-ea"/>
                          <a:cs typeface="+mn-cs"/>
                        </a:rPr>
                        <a:t>7,604</a:t>
                      </a:r>
                    </a:p>
                  </a:txBody>
                  <a:tcPr marL="85725" marR="228600" marT="85725" marB="8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01403128"/>
                  </a:ext>
                </a:extLst>
              </a:tr>
              <a:tr h="610941">
                <a:tc>
                  <a:txBody>
                    <a:bodyPr/>
                    <a:lstStyle/>
                    <a:p>
                      <a:pPr>
                        <a:buNone/>
                      </a:pPr>
                      <a:r>
                        <a:rPr lang="en-IN" sz="1400"/>
                        <a:t>Total Equity</a:t>
                      </a:r>
                    </a:p>
                  </a:txBody>
                  <a:tcPr marL="68783" marR="68783" marT="34391" marB="3439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buNone/>
                      </a:pPr>
                      <a:r>
                        <a:rPr lang="en-IN" sz="1600" b="0" i="0" u="none" strike="noStrike" dirty="0">
                          <a:solidFill>
                            <a:schemeClr val="tx1"/>
                          </a:solidFill>
                          <a:effectLst/>
                          <a:latin typeface="Calibri" panose="020F0502020204030204" pitchFamily="34" charset="0"/>
                        </a:rPr>
                        <a:t>₹ 2,494.03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buNone/>
                      </a:pPr>
                      <a:r>
                        <a:rPr lang="en-IN" sz="1600" b="0" i="0" u="none" strike="noStrike">
                          <a:solidFill>
                            <a:schemeClr val="tx1"/>
                          </a:solidFill>
                          <a:effectLst/>
                          <a:latin typeface="Calibri" panose="020F0502020204030204" pitchFamily="34" charset="0"/>
                        </a:rPr>
                        <a:t>₹ 3,066.21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buNone/>
                      </a:pPr>
                      <a:r>
                        <a:rPr lang="en-IN" sz="1600" b="0" i="0" u="none" strike="noStrike">
                          <a:solidFill>
                            <a:schemeClr val="tx1"/>
                          </a:solidFill>
                          <a:effectLst/>
                          <a:latin typeface="Calibri" panose="020F0502020204030204" pitchFamily="34" charset="0"/>
                        </a:rPr>
                        <a:t>₹ 3,066.21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buNone/>
                      </a:pPr>
                      <a:r>
                        <a:rPr lang="en-IN" sz="1600" b="0" i="0" u="none" strike="noStrike">
                          <a:solidFill>
                            <a:schemeClr val="tx1"/>
                          </a:solidFill>
                          <a:effectLst/>
                          <a:latin typeface="Calibri" panose="020F0502020204030204" pitchFamily="34" charset="0"/>
                        </a:rPr>
                        <a:t>₹ 3,168.67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buNone/>
                      </a:pPr>
                      <a:r>
                        <a:rPr lang="en-IN" sz="1600" b="0" i="0" u="none" strike="noStrike">
                          <a:solidFill>
                            <a:schemeClr val="tx1"/>
                          </a:solidFill>
                          <a:effectLst/>
                          <a:latin typeface="Calibri" panose="020F0502020204030204" pitchFamily="34" charset="0"/>
                        </a:rPr>
                        <a:t>₹ 3,308.94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buNone/>
                      </a:pPr>
                      <a:r>
                        <a:rPr lang="en-IN" sz="1600" b="0" i="0" u="none" strike="noStrike" dirty="0">
                          <a:solidFill>
                            <a:schemeClr val="tx1"/>
                          </a:solidFill>
                          <a:effectLst/>
                          <a:latin typeface="Calibri" panose="020F0502020204030204" pitchFamily="34" charset="0"/>
                        </a:rPr>
                        <a:t>₹ 4,239.56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2772752"/>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94E94-931A-5669-29E6-55B3EA66C8B4}"/>
              </a:ext>
            </a:extLst>
          </p:cNvPr>
          <p:cNvSpPr>
            <a:spLocks noGrp="1"/>
          </p:cNvSpPr>
          <p:nvPr>
            <p:ph type="title"/>
          </p:nvPr>
        </p:nvSpPr>
        <p:spPr>
          <a:xfrm>
            <a:off x="2115402" y="211594"/>
            <a:ext cx="5738586" cy="761933"/>
          </a:xfrm>
        </p:spPr>
        <p:txBody>
          <a:bodyPr/>
          <a:lstStyle/>
          <a:p>
            <a:r>
              <a:rPr lang="en-US" b="1" dirty="0">
                <a:latin typeface="Berlin Sans FB Demi" panose="020E0802020502020306" pitchFamily="34" charset="0"/>
              </a:rPr>
              <a:t>Balance sheet Analysis</a:t>
            </a:r>
            <a:br>
              <a:rPr lang="en-US" dirty="0"/>
            </a:br>
            <a:endParaRPr lang="en-IN" dirty="0"/>
          </a:p>
        </p:txBody>
      </p:sp>
      <p:sp>
        <p:nvSpPr>
          <p:cNvPr id="3" name="Content Placeholder 2">
            <a:extLst>
              <a:ext uri="{FF2B5EF4-FFF2-40B4-BE49-F238E27FC236}">
                <a16:creationId xmlns:a16="http://schemas.microsoft.com/office/drawing/2014/main" id="{B7A0521F-1D6F-7264-F5EE-B326A6796959}"/>
              </a:ext>
            </a:extLst>
          </p:cNvPr>
          <p:cNvSpPr>
            <a:spLocks noGrp="1"/>
          </p:cNvSpPr>
          <p:nvPr>
            <p:ph idx="1"/>
          </p:nvPr>
        </p:nvSpPr>
        <p:spPr>
          <a:xfrm>
            <a:off x="0" y="832513"/>
            <a:ext cx="9144000" cy="5554639"/>
          </a:xfrm>
        </p:spPr>
        <p:txBody>
          <a:bodyPr>
            <a:noAutofit/>
          </a:bodyPr>
          <a:lstStyle/>
          <a:p>
            <a:pPr marL="0" indent="0">
              <a:buNone/>
            </a:pPr>
            <a:r>
              <a:rPr lang="en-US" sz="2400" b="1" baseline="-25000" dirty="0"/>
              <a:t>1. Total Assets Increased Consistently  </a:t>
            </a:r>
          </a:p>
          <a:p>
            <a:pPr marL="0" indent="0">
              <a:buNone/>
            </a:pPr>
            <a:r>
              <a:rPr lang="en-US" sz="2400" baseline="-25000" dirty="0"/>
              <a:t>        Total Assets increased from ₹10,728.16 crore in 2021 to ₹17,596.73 crore in 2026. This shows a growth of about 64%. It indicates continuous business expansion and a stronger asset base</a:t>
            </a:r>
            <a:r>
              <a:rPr lang="en-US" sz="2400" b="1" baseline="-25000" dirty="0"/>
              <a:t>.  </a:t>
            </a:r>
          </a:p>
          <a:p>
            <a:pPr marL="0" indent="0">
              <a:buNone/>
            </a:pPr>
            <a:r>
              <a:rPr lang="en-US" sz="2400" b="1" baseline="-25000" dirty="0"/>
              <a:t>2. Growth in Non-Current Assets  </a:t>
            </a:r>
          </a:p>
          <a:p>
            <a:pPr marL="0" indent="0">
              <a:buNone/>
            </a:pPr>
            <a:r>
              <a:rPr lang="en-US" sz="2400" baseline="-25000" dirty="0"/>
              <a:t>Non-Current Assets grew from ₹8,234.13 crore to ₹13,357.17 crore. This suggests that the company has invested more in fixed assets and long-term investments, which supports future growth</a:t>
            </a:r>
            <a:r>
              <a:rPr lang="en-US" sz="2400" b="1" baseline="-25000" dirty="0"/>
              <a:t>.  </a:t>
            </a:r>
          </a:p>
          <a:p>
            <a:pPr marL="0" indent="0">
              <a:buNone/>
            </a:pPr>
            <a:r>
              <a:rPr lang="en-US" sz="2400" b="1" baseline="-25000" dirty="0"/>
              <a:t>3. Improvement in Current Assets  </a:t>
            </a:r>
          </a:p>
          <a:p>
            <a:pPr marL="0" indent="0">
              <a:buNone/>
            </a:pPr>
            <a:r>
              <a:rPr lang="en-US" sz="2400" baseline="-25000" dirty="0"/>
              <a:t>Current Assets rose from ₹2,494.03 crore to ₹4,239.56 crore. This increase reflects better liquidity and a greater ability to meet short-term obligations.  </a:t>
            </a:r>
          </a:p>
          <a:p>
            <a:pPr marL="0" indent="0">
              <a:buNone/>
            </a:pPr>
            <a:r>
              <a:rPr lang="en-US" sz="2400" b="1" baseline="-25000" dirty="0"/>
              <a:t>4. Stable Liability Position  </a:t>
            </a:r>
          </a:p>
          <a:p>
            <a:pPr marL="0" indent="0">
              <a:buNone/>
            </a:pPr>
            <a:r>
              <a:rPr lang="en-US" sz="2400" baseline="-25000" dirty="0"/>
              <a:t>Current Liabilities stayed relatively low over the years, while Non-Current Liabilities gradually increased from ₹6,021 crore to ₹7,604 crore. This shows that the company has maintained a balanced debt structure and avoided excessive borrowing.  </a:t>
            </a:r>
          </a:p>
          <a:p>
            <a:pPr marL="0" indent="0">
              <a:buNone/>
            </a:pPr>
            <a:r>
              <a:rPr lang="en-US" sz="2400" b="1" baseline="-25000" dirty="0"/>
              <a:t>5. Increase in Shareholders' Equity  </a:t>
            </a:r>
          </a:p>
          <a:p>
            <a:pPr marL="0" indent="0">
              <a:buNone/>
            </a:pPr>
            <a:r>
              <a:rPr lang="en-US" sz="2400" baseline="-25000" dirty="0"/>
              <a:t>Total Equity rose from ₹2,494.03 crore in 2021 to ₹4,239.56 crore in 2026. Rising equity indicates higher retained earnings and stronger financial stability, creating greater value for shareholders</a:t>
            </a:r>
            <a:r>
              <a:rPr lang="en-US" sz="2400" b="1" baseline="-25000" dirty="0"/>
              <a:t>.</a:t>
            </a:r>
            <a:endParaRPr lang="en-IN" sz="2400" dirty="0"/>
          </a:p>
        </p:txBody>
      </p:sp>
    </p:spTree>
    <p:extLst>
      <p:ext uri="{BB962C8B-B14F-4D97-AF65-F5344CB8AC3E}">
        <p14:creationId xmlns:p14="http://schemas.microsoft.com/office/powerpoint/2010/main" val="41433205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01367" y="170598"/>
            <a:ext cx="4687791" cy="830172"/>
          </a:xfrm>
        </p:spPr>
        <p:txBody>
          <a:bodyPr/>
          <a:lstStyle/>
          <a:p>
            <a:r>
              <a:rPr dirty="0">
                <a:latin typeface="Berlin Sans FB Demi" panose="020E0802020502020306" pitchFamily="34" charset="0"/>
              </a:rPr>
              <a:t>Ratio Analysis</a:t>
            </a:r>
          </a:p>
        </p:txBody>
      </p:sp>
      <p:graphicFrame>
        <p:nvGraphicFramePr>
          <p:cNvPr id="4" name="Content Placeholder 3">
            <a:extLst>
              <a:ext uri="{FF2B5EF4-FFF2-40B4-BE49-F238E27FC236}">
                <a16:creationId xmlns:a16="http://schemas.microsoft.com/office/drawing/2014/main" id="{089F8D3E-6943-06DD-89BE-D67A55A1072D}"/>
              </a:ext>
            </a:extLst>
          </p:cNvPr>
          <p:cNvGraphicFramePr>
            <a:graphicFrameLocks noGrp="1"/>
          </p:cNvGraphicFramePr>
          <p:nvPr>
            <p:ph idx="1"/>
            <p:extLst>
              <p:ext uri="{D42A27DB-BD31-4B8C-83A1-F6EECF244321}">
                <p14:modId xmlns:p14="http://schemas.microsoft.com/office/powerpoint/2010/main" val="1554385090"/>
              </p:ext>
            </p:extLst>
          </p:nvPr>
        </p:nvGraphicFramePr>
        <p:xfrm>
          <a:off x="191071" y="1514902"/>
          <a:ext cx="8761858" cy="4745660"/>
        </p:xfrm>
        <a:graphic>
          <a:graphicData uri="http://schemas.openxmlformats.org/drawingml/2006/table">
            <a:tbl>
              <a:tblPr/>
              <a:tblGrid>
                <a:gridCol w="1251694">
                  <a:extLst>
                    <a:ext uri="{9D8B030D-6E8A-4147-A177-3AD203B41FA5}">
                      <a16:colId xmlns:a16="http://schemas.microsoft.com/office/drawing/2014/main" val="704402661"/>
                    </a:ext>
                  </a:extLst>
                </a:gridCol>
                <a:gridCol w="1251694">
                  <a:extLst>
                    <a:ext uri="{9D8B030D-6E8A-4147-A177-3AD203B41FA5}">
                      <a16:colId xmlns:a16="http://schemas.microsoft.com/office/drawing/2014/main" val="16779867"/>
                    </a:ext>
                  </a:extLst>
                </a:gridCol>
                <a:gridCol w="1251694">
                  <a:extLst>
                    <a:ext uri="{9D8B030D-6E8A-4147-A177-3AD203B41FA5}">
                      <a16:colId xmlns:a16="http://schemas.microsoft.com/office/drawing/2014/main" val="3537832503"/>
                    </a:ext>
                  </a:extLst>
                </a:gridCol>
                <a:gridCol w="1251694">
                  <a:extLst>
                    <a:ext uri="{9D8B030D-6E8A-4147-A177-3AD203B41FA5}">
                      <a16:colId xmlns:a16="http://schemas.microsoft.com/office/drawing/2014/main" val="1479906718"/>
                    </a:ext>
                  </a:extLst>
                </a:gridCol>
                <a:gridCol w="1251694">
                  <a:extLst>
                    <a:ext uri="{9D8B030D-6E8A-4147-A177-3AD203B41FA5}">
                      <a16:colId xmlns:a16="http://schemas.microsoft.com/office/drawing/2014/main" val="1967266820"/>
                    </a:ext>
                  </a:extLst>
                </a:gridCol>
                <a:gridCol w="1251694">
                  <a:extLst>
                    <a:ext uri="{9D8B030D-6E8A-4147-A177-3AD203B41FA5}">
                      <a16:colId xmlns:a16="http://schemas.microsoft.com/office/drawing/2014/main" val="2014193015"/>
                    </a:ext>
                  </a:extLst>
                </a:gridCol>
                <a:gridCol w="1251694">
                  <a:extLst>
                    <a:ext uri="{9D8B030D-6E8A-4147-A177-3AD203B41FA5}">
                      <a16:colId xmlns:a16="http://schemas.microsoft.com/office/drawing/2014/main" val="4224765613"/>
                    </a:ext>
                  </a:extLst>
                </a:gridCol>
              </a:tblGrid>
              <a:tr h="477671">
                <a:tc>
                  <a:txBody>
                    <a:bodyPr/>
                    <a:lstStyle/>
                    <a:p>
                      <a:pPr>
                        <a:buNone/>
                      </a:pPr>
                      <a:r>
                        <a:rPr lang="en-IN" dirty="0"/>
                        <a:t>Ratio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a:t>2021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a:t>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a:t>2023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a:t>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dirty="0"/>
                        <a:t>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dirty="0"/>
                        <a:t>2026</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7213835"/>
                  </a:ext>
                </a:extLst>
              </a:tr>
              <a:tr h="773219">
                <a:tc>
                  <a:txBody>
                    <a:bodyPr/>
                    <a:lstStyle/>
                    <a:p>
                      <a:pPr>
                        <a:buNone/>
                      </a:pPr>
                      <a:r>
                        <a:rPr lang="en-IN" dirty="0"/>
                        <a:t>Current Ratio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dirty="0"/>
                        <a:t>1.05</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dirty="0"/>
                        <a:t>1.13</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dirty="0"/>
                        <a:t>0.95</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dirty="0"/>
                        <a:t>0.88</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dirty="0"/>
                        <a:t>.80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dirty="0"/>
                        <a:t>0.96</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75566244"/>
                  </a:ext>
                </a:extLst>
              </a:tr>
              <a:tr h="891246">
                <a:tc>
                  <a:txBody>
                    <a:bodyPr/>
                    <a:lstStyle/>
                    <a:p>
                      <a:pPr>
                        <a:buNone/>
                      </a:pPr>
                      <a:r>
                        <a:rPr lang="en-IN" sz="1600" dirty="0"/>
                        <a:t>Net Profit Margin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457207" rtl="0" eaLnBrk="1" fontAlgn="b" latinLnBrk="0" hangingPunct="1">
                        <a:buNone/>
                      </a:pPr>
                      <a:r>
                        <a:rPr lang="en-IN" sz="1800" kern="1200" dirty="0">
                          <a:solidFill>
                            <a:schemeClr val="tx1"/>
                          </a:solidFill>
                          <a:latin typeface="+mn-lt"/>
                          <a:ea typeface="+mn-ea"/>
                          <a:cs typeface="+mn-cs"/>
                        </a:rPr>
                        <a:t>15.13%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457207" rtl="0" eaLnBrk="1" fontAlgn="b" latinLnBrk="0" hangingPunct="1">
                        <a:buNone/>
                      </a:pPr>
                      <a:r>
                        <a:rPr lang="en-IN" sz="1800" kern="1200" dirty="0">
                          <a:solidFill>
                            <a:schemeClr val="tx1"/>
                          </a:solidFill>
                          <a:latin typeface="+mn-lt"/>
                          <a:ea typeface="+mn-ea"/>
                          <a:cs typeface="+mn-cs"/>
                        </a:rPr>
                        <a:t>13.51%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457207" rtl="0" eaLnBrk="1" fontAlgn="b" latinLnBrk="0" hangingPunct="1">
                        <a:buNone/>
                      </a:pPr>
                      <a:r>
                        <a:rPr lang="en-IN" sz="1800" kern="1200" dirty="0">
                          <a:solidFill>
                            <a:schemeClr val="tx1"/>
                          </a:solidFill>
                          <a:latin typeface="+mn-lt"/>
                          <a:ea typeface="+mn-ea"/>
                          <a:cs typeface="+mn-cs"/>
                        </a:rPr>
                        <a:t>15.07%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457207" rtl="0" eaLnBrk="1" fontAlgn="b" latinLnBrk="0" hangingPunct="1">
                        <a:buNone/>
                      </a:pPr>
                      <a:r>
                        <a:rPr lang="en-IN" sz="1800" kern="1200">
                          <a:solidFill>
                            <a:schemeClr val="tx1"/>
                          </a:solidFill>
                          <a:latin typeface="+mn-lt"/>
                          <a:ea typeface="+mn-ea"/>
                          <a:cs typeface="+mn-cs"/>
                        </a:rPr>
                        <a:t>15.47%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457207" rtl="0" eaLnBrk="1" fontAlgn="b" latinLnBrk="0" hangingPunct="1">
                        <a:buNone/>
                      </a:pPr>
                      <a:r>
                        <a:rPr lang="en-IN" sz="1800" kern="1200" dirty="0">
                          <a:solidFill>
                            <a:schemeClr val="tx1"/>
                          </a:solidFill>
                          <a:latin typeface="+mn-lt"/>
                          <a:ea typeface="+mn-ea"/>
                          <a:cs typeface="+mn-cs"/>
                        </a:rPr>
                        <a:t>14.66%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457207" rtl="0" eaLnBrk="1" fontAlgn="b" latinLnBrk="0" hangingPunct="1">
                        <a:buNone/>
                      </a:pPr>
                      <a:r>
                        <a:rPr lang="en-IN" sz="1800" kern="1200" dirty="0">
                          <a:solidFill>
                            <a:schemeClr val="tx1"/>
                          </a:solidFill>
                          <a:latin typeface="+mn-lt"/>
                          <a:ea typeface="+mn-ea"/>
                          <a:cs typeface="+mn-cs"/>
                        </a:rPr>
                        <a:t>14.62%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31230599"/>
                  </a:ext>
                </a:extLst>
              </a:tr>
              <a:tr h="813469">
                <a:tc>
                  <a:txBody>
                    <a:bodyPr/>
                    <a:lstStyle/>
                    <a:p>
                      <a:pPr>
                        <a:buNone/>
                      </a:pPr>
                      <a:r>
                        <a:rPr lang="en-IN" dirty="0"/>
                        <a:t>ROE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1800" b="0" i="0" kern="1200" dirty="0">
                          <a:solidFill>
                            <a:schemeClr val="tx1"/>
                          </a:solidFill>
                          <a:effectLst/>
                          <a:latin typeface="+mn-lt"/>
                          <a:ea typeface="+mn-ea"/>
                          <a:cs typeface="+mn-cs"/>
                        </a:rPr>
                        <a:t>102.89%</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1800" b="0" i="0" kern="1200" dirty="0">
                          <a:solidFill>
                            <a:schemeClr val="tx1"/>
                          </a:solidFill>
                          <a:effectLst/>
                          <a:latin typeface="+mn-lt"/>
                          <a:ea typeface="+mn-ea"/>
                          <a:cs typeface="+mn-cs"/>
                        </a:rPr>
                        <a:t>97.20%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1800" b="0" i="0" kern="1200" dirty="0">
                          <a:solidFill>
                            <a:schemeClr val="tx1"/>
                          </a:solidFill>
                          <a:effectLst/>
                          <a:latin typeface="+mn-lt"/>
                          <a:ea typeface="+mn-ea"/>
                          <a:cs typeface="+mn-cs"/>
                        </a:rPr>
                        <a:t>96.95%</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1800" b="0" i="0" kern="1200" dirty="0">
                          <a:solidFill>
                            <a:schemeClr val="tx1"/>
                          </a:solidFill>
                          <a:effectLst/>
                          <a:latin typeface="+mn-lt"/>
                          <a:ea typeface="+mn-ea"/>
                          <a:cs typeface="+mn-cs"/>
                        </a:rPr>
                        <a:t>117.71%</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1800" b="0" i="0" kern="1200" dirty="0">
                          <a:solidFill>
                            <a:schemeClr val="tx1"/>
                          </a:solidFill>
                          <a:effectLst/>
                          <a:latin typeface="+mn-lt"/>
                          <a:ea typeface="+mn-ea"/>
                          <a:cs typeface="+mn-cs"/>
                        </a:rPr>
                        <a:t>80.50%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1800" b="0" i="0" kern="1200" dirty="0">
                          <a:solidFill>
                            <a:schemeClr val="tx1"/>
                          </a:solidFill>
                          <a:effectLst/>
                          <a:latin typeface="+mn-lt"/>
                          <a:ea typeface="+mn-ea"/>
                          <a:cs typeface="+mn-cs"/>
                        </a:rPr>
                        <a:t>66.76%</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8508699"/>
                  </a:ext>
                </a:extLst>
              </a:tr>
              <a:tr h="1016836">
                <a:tc>
                  <a:txBody>
                    <a:bodyPr/>
                    <a:lstStyle/>
                    <a:p>
                      <a:pPr>
                        <a:buNone/>
                      </a:pPr>
                      <a:r>
                        <a:rPr lang="en-IN" dirty="0"/>
                        <a:t>Inventory Turnover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457207" rtl="0" eaLnBrk="1" fontAlgn="b" latinLnBrk="0" hangingPunct="1">
                        <a:buNone/>
                      </a:pPr>
                      <a:r>
                        <a:rPr lang="en-IN" sz="1800" kern="1200" dirty="0">
                          <a:solidFill>
                            <a:schemeClr val="tx1"/>
                          </a:solidFill>
                          <a:latin typeface="+mn-lt"/>
                          <a:ea typeface="+mn-ea"/>
                          <a:cs typeface="+mn-cs"/>
                        </a:rPr>
                        <a:t>9.26x</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457207" rtl="0" eaLnBrk="1" fontAlgn="b" latinLnBrk="0" hangingPunct="1">
                        <a:buNone/>
                      </a:pPr>
                      <a:r>
                        <a:rPr lang="en-IN" sz="1800" kern="1200">
                          <a:solidFill>
                            <a:schemeClr val="tx1"/>
                          </a:solidFill>
                          <a:latin typeface="+mn-lt"/>
                          <a:ea typeface="+mn-ea"/>
                          <a:cs typeface="+mn-cs"/>
                        </a:rPr>
                        <a:t>8.76x</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457207" rtl="0" eaLnBrk="1" fontAlgn="b" latinLnBrk="0" hangingPunct="1">
                        <a:buNone/>
                      </a:pPr>
                      <a:r>
                        <a:rPr lang="en-IN" sz="1800" kern="1200">
                          <a:solidFill>
                            <a:schemeClr val="tx1"/>
                          </a:solidFill>
                          <a:latin typeface="+mn-lt"/>
                          <a:ea typeface="+mn-ea"/>
                          <a:cs typeface="+mn-cs"/>
                        </a:rPr>
                        <a:t>9.92x</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457207" rtl="0" eaLnBrk="1" fontAlgn="b" latinLnBrk="0" hangingPunct="1">
                        <a:buNone/>
                      </a:pPr>
                      <a:r>
                        <a:rPr lang="en-IN" sz="1800" kern="1200" dirty="0">
                          <a:solidFill>
                            <a:schemeClr val="tx1"/>
                          </a:solidFill>
                          <a:latin typeface="+mn-lt"/>
                          <a:ea typeface="+mn-ea"/>
                          <a:cs typeface="+mn-cs"/>
                        </a:rPr>
                        <a:t>11.68x</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457207" rtl="0" eaLnBrk="1" fontAlgn="b" latinLnBrk="0" hangingPunct="1">
                        <a:buNone/>
                      </a:pPr>
                      <a:r>
                        <a:rPr lang="en-IN" sz="1800" kern="1200">
                          <a:solidFill>
                            <a:schemeClr val="tx1"/>
                          </a:solidFill>
                          <a:latin typeface="+mn-lt"/>
                          <a:ea typeface="+mn-ea"/>
                          <a:cs typeface="+mn-cs"/>
                        </a:rPr>
                        <a:t>7.09x</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457207" rtl="0" eaLnBrk="1" fontAlgn="b" latinLnBrk="0" hangingPunct="1">
                        <a:buNone/>
                      </a:pPr>
                      <a:r>
                        <a:rPr lang="en-IN" sz="1800" kern="1200" dirty="0">
                          <a:solidFill>
                            <a:schemeClr val="tx1"/>
                          </a:solidFill>
                          <a:latin typeface="+mn-lt"/>
                          <a:ea typeface="+mn-ea"/>
                          <a:cs typeface="+mn-cs"/>
                        </a:rPr>
                        <a:t>9.01x</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5427535"/>
                  </a:ext>
                </a:extLst>
              </a:tr>
              <a:tr h="773219">
                <a:tc>
                  <a:txBody>
                    <a:bodyPr/>
                    <a:lstStyle/>
                    <a:p>
                      <a:pPr>
                        <a:buNone/>
                      </a:pPr>
                      <a:r>
                        <a:rPr lang="en-IN"/>
                        <a:t>Debt-to-Equity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457207" rtl="0" eaLnBrk="1" latinLnBrk="0" hangingPunct="1">
                        <a:buNone/>
                      </a:pPr>
                      <a:r>
                        <a:rPr lang="en-US" sz="1800" kern="1200" dirty="0">
                          <a:solidFill>
                            <a:schemeClr val="tx1"/>
                          </a:solidFill>
                          <a:latin typeface="+mn-lt"/>
                          <a:ea typeface="+mn-ea"/>
                          <a:cs typeface="+mn-cs"/>
                        </a:rPr>
                        <a:t>0.02</a:t>
                      </a:r>
                      <a:endParaRPr lang="en-IN" sz="18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457207" rtl="0" eaLnBrk="1" latinLnBrk="0" hangingPunct="1">
                        <a:buNone/>
                      </a:pPr>
                      <a:r>
                        <a:rPr lang="en-US" sz="1800" kern="1200" dirty="0">
                          <a:solidFill>
                            <a:schemeClr val="tx1"/>
                          </a:solidFill>
                          <a:latin typeface="+mn-lt"/>
                          <a:ea typeface="+mn-ea"/>
                          <a:cs typeface="+mn-cs"/>
                        </a:rPr>
                        <a:t>0.02</a:t>
                      </a:r>
                      <a:endParaRPr lang="en-IN" sz="18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457207" rtl="0" eaLnBrk="1" latinLnBrk="0" hangingPunct="1">
                        <a:buNone/>
                      </a:pPr>
                      <a:r>
                        <a:rPr lang="en-US" sz="1800" kern="1200" dirty="0">
                          <a:solidFill>
                            <a:schemeClr val="tx1"/>
                          </a:solidFill>
                          <a:latin typeface="+mn-lt"/>
                          <a:ea typeface="+mn-ea"/>
                          <a:cs typeface="+mn-cs"/>
                        </a:rPr>
                        <a:t>0.01</a:t>
                      </a:r>
                      <a:endParaRPr lang="en-IN" sz="18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457207" rtl="0" eaLnBrk="1" latinLnBrk="0" hangingPunct="1">
                        <a:buNone/>
                      </a:pPr>
                      <a:r>
                        <a:rPr lang="en-US" sz="1800" kern="1200" dirty="0">
                          <a:solidFill>
                            <a:schemeClr val="tx1"/>
                          </a:solidFill>
                          <a:latin typeface="+mn-lt"/>
                          <a:ea typeface="+mn-ea"/>
                          <a:cs typeface="+mn-cs"/>
                        </a:rPr>
                        <a:t>0.01</a:t>
                      </a:r>
                      <a:endParaRPr lang="en-IN" sz="18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457207" rtl="0" eaLnBrk="1" latinLnBrk="0" hangingPunct="1">
                        <a:buNone/>
                      </a:pPr>
                      <a:r>
                        <a:rPr lang="en-US" sz="1800" kern="1200" dirty="0">
                          <a:solidFill>
                            <a:schemeClr val="tx1"/>
                          </a:solidFill>
                          <a:latin typeface="+mn-lt"/>
                          <a:ea typeface="+mn-ea"/>
                          <a:cs typeface="+mn-cs"/>
                        </a:rPr>
                        <a:t>0.18</a:t>
                      </a:r>
                      <a:endParaRPr lang="en-IN" sz="18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457207" rtl="0" eaLnBrk="1" latinLnBrk="0" hangingPunct="1">
                        <a:buNone/>
                      </a:pPr>
                      <a:r>
                        <a:rPr lang="en-US" sz="1800" kern="1200" dirty="0">
                          <a:solidFill>
                            <a:schemeClr val="tx1"/>
                          </a:solidFill>
                          <a:latin typeface="+mn-lt"/>
                          <a:ea typeface="+mn-ea"/>
                          <a:cs typeface="+mn-cs"/>
                        </a:rPr>
                        <a:t>0.01</a:t>
                      </a:r>
                      <a:endParaRPr lang="en-IN" sz="180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00258388"/>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E1FD5-A29D-51A3-420A-F7FACDC5FD2B}"/>
              </a:ext>
            </a:extLst>
          </p:cNvPr>
          <p:cNvSpPr>
            <a:spLocks noGrp="1"/>
          </p:cNvSpPr>
          <p:nvPr>
            <p:ph type="title"/>
          </p:nvPr>
        </p:nvSpPr>
        <p:spPr>
          <a:xfrm>
            <a:off x="4251492" y="159290"/>
            <a:ext cx="4892508" cy="693694"/>
          </a:xfrm>
        </p:spPr>
        <p:txBody>
          <a:bodyPr/>
          <a:lstStyle/>
          <a:p>
            <a:r>
              <a:rPr lang="en-IN" dirty="0">
                <a:latin typeface="Berlin Sans FB Demi" panose="020E0802020502020306" pitchFamily="34" charset="0"/>
              </a:rPr>
              <a:t>Ratio Analysis</a:t>
            </a:r>
            <a:endParaRPr lang="en-IN" dirty="0"/>
          </a:p>
        </p:txBody>
      </p:sp>
      <p:graphicFrame>
        <p:nvGraphicFramePr>
          <p:cNvPr id="5" name="Content Placeholder 4">
            <a:extLst>
              <a:ext uri="{FF2B5EF4-FFF2-40B4-BE49-F238E27FC236}">
                <a16:creationId xmlns:a16="http://schemas.microsoft.com/office/drawing/2014/main" id="{D8C1686B-8BA1-A8A6-281F-98FCB66A49EF}"/>
              </a:ext>
            </a:extLst>
          </p:cNvPr>
          <p:cNvGraphicFramePr>
            <a:graphicFrameLocks noGrp="1"/>
          </p:cNvGraphicFramePr>
          <p:nvPr>
            <p:ph idx="1"/>
            <p:extLst>
              <p:ext uri="{D42A27DB-BD31-4B8C-83A1-F6EECF244321}">
                <p14:modId xmlns:p14="http://schemas.microsoft.com/office/powerpoint/2010/main" val="620294759"/>
              </p:ext>
            </p:extLst>
          </p:nvPr>
        </p:nvGraphicFramePr>
        <p:xfrm>
          <a:off x="-723331" y="1091820"/>
          <a:ext cx="9730853" cy="56638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88786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ED915-88DE-5247-8063-C7D32BFA6A62}"/>
              </a:ext>
            </a:extLst>
          </p:cNvPr>
          <p:cNvSpPr>
            <a:spLocks noGrp="1"/>
          </p:cNvSpPr>
          <p:nvPr>
            <p:ph type="title"/>
          </p:nvPr>
        </p:nvSpPr>
        <p:spPr>
          <a:xfrm>
            <a:off x="484710" y="452718"/>
            <a:ext cx="5042633" cy="270613"/>
          </a:xfrm>
        </p:spPr>
        <p:txBody>
          <a:bodyPr/>
          <a:lstStyle/>
          <a:p>
            <a:endParaRPr lang="en-IN" dirty="0"/>
          </a:p>
        </p:txBody>
      </p:sp>
      <p:graphicFrame>
        <p:nvGraphicFramePr>
          <p:cNvPr id="5" name="Content Placeholder 4">
            <a:extLst>
              <a:ext uri="{FF2B5EF4-FFF2-40B4-BE49-F238E27FC236}">
                <a16:creationId xmlns:a16="http://schemas.microsoft.com/office/drawing/2014/main" id="{B65FB461-350D-D711-5ECB-98AA0D137223}"/>
              </a:ext>
            </a:extLst>
          </p:cNvPr>
          <p:cNvGraphicFramePr>
            <a:graphicFrameLocks noGrp="1"/>
          </p:cNvGraphicFramePr>
          <p:nvPr>
            <p:ph idx="1"/>
            <p:extLst>
              <p:ext uri="{D42A27DB-BD31-4B8C-83A1-F6EECF244321}">
                <p14:modId xmlns:p14="http://schemas.microsoft.com/office/powerpoint/2010/main" val="3046477176"/>
              </p:ext>
            </p:extLst>
          </p:nvPr>
        </p:nvGraphicFramePr>
        <p:xfrm>
          <a:off x="-320937" y="452718"/>
          <a:ext cx="8980227" cy="62073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850195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77784" y="187683"/>
            <a:ext cx="4851565" cy="761933"/>
          </a:xfrm>
        </p:spPr>
        <p:txBody>
          <a:bodyPr/>
          <a:lstStyle/>
          <a:p>
            <a:r>
              <a:rPr dirty="0">
                <a:latin typeface="Berlin Sans FB Demi" panose="020E0802020502020306" pitchFamily="34" charset="0"/>
              </a:rPr>
              <a:t>Cash Flow Analysis</a:t>
            </a:r>
          </a:p>
        </p:txBody>
      </p:sp>
      <p:sp>
        <p:nvSpPr>
          <p:cNvPr id="3" name="Content Placeholder 2"/>
          <p:cNvSpPr>
            <a:spLocks noGrp="1"/>
          </p:cNvSpPr>
          <p:nvPr>
            <p:ph idx="1"/>
          </p:nvPr>
        </p:nvSpPr>
        <p:spPr>
          <a:xfrm>
            <a:off x="150125" y="846161"/>
            <a:ext cx="8789159" cy="5824156"/>
          </a:xfrm>
        </p:spPr>
        <p:txBody>
          <a:bodyPr>
            <a:normAutofit fontScale="92500" lnSpcReduction="10000"/>
          </a:bodyPr>
          <a:lstStyle/>
          <a:p>
            <a:r>
              <a:rPr lang="en-US" sz="2200" b="1" u="sng" dirty="0">
                <a:effectLst>
                  <a:outerShdw blurRad="38100" dist="38100" dir="2700000" algn="tl">
                    <a:srgbClr val="000000">
                      <a:alpha val="43137"/>
                    </a:srgbClr>
                  </a:outerShdw>
                </a:effectLst>
              </a:rPr>
              <a:t>Key Observations</a:t>
            </a:r>
          </a:p>
          <a:p>
            <a:pPr marL="0" indent="0">
              <a:buNone/>
            </a:pPr>
            <a:r>
              <a:rPr lang="en-US" sz="2200" dirty="0"/>
              <a:t>🟢 </a:t>
            </a:r>
            <a:r>
              <a:rPr lang="en-US" sz="2200" b="1" dirty="0"/>
              <a:t>Operating Cash Flow (OCF)                </a:t>
            </a:r>
            <a:r>
              <a:rPr lang="en-US" sz="1100" u="sng" dirty="0">
                <a:solidFill>
                  <a:schemeClr val="accent1">
                    <a:lumMod val="60000"/>
                    <a:lumOff val="40000"/>
                  </a:schemeClr>
                </a:solidFill>
              </a:rPr>
              <a:t>Double click here  </a:t>
            </a:r>
          </a:p>
          <a:p>
            <a:r>
              <a:rPr lang="en-US" sz="2200" dirty="0"/>
              <a:t>Operating cash flow remained consistently positive throughout the period. </a:t>
            </a:r>
          </a:p>
          <a:p>
            <a:r>
              <a:rPr lang="en-US" sz="2200" dirty="0"/>
              <a:t>This indicates that Nestlé India generates strong cash from its core business operations. </a:t>
            </a:r>
          </a:p>
          <a:p>
            <a:pPr marL="0" indent="0">
              <a:buNone/>
            </a:pPr>
            <a:r>
              <a:rPr lang="en-US" sz="2200" dirty="0"/>
              <a:t>🔵 </a:t>
            </a:r>
            <a:r>
              <a:rPr lang="en-US" sz="2200" b="1" dirty="0"/>
              <a:t>Investing Cash Flow (ICF)                     </a:t>
            </a:r>
            <a:r>
              <a:rPr lang="en-US" sz="1200" u="sng" dirty="0">
                <a:solidFill>
                  <a:schemeClr val="accent1">
                    <a:lumMod val="60000"/>
                    <a:lumOff val="40000"/>
                  </a:schemeClr>
                </a:solidFill>
              </a:rPr>
              <a:t>Double click here </a:t>
            </a:r>
            <a:endParaRPr lang="en-US" sz="1200" dirty="0"/>
          </a:p>
          <a:p>
            <a:r>
              <a:rPr lang="en-US" sz="2200" dirty="0"/>
              <a:t>Investing cash flow remained negative due to regular capital expenditure and investments.  </a:t>
            </a:r>
          </a:p>
          <a:p>
            <a:r>
              <a:rPr lang="en-US" sz="2200" dirty="0"/>
              <a:t>These investments support future business growth and operational efficiency. </a:t>
            </a:r>
          </a:p>
          <a:p>
            <a:pPr marL="0" indent="0">
              <a:buNone/>
            </a:pPr>
            <a:r>
              <a:rPr lang="en-US" sz="2200" dirty="0"/>
              <a:t>🟠 </a:t>
            </a:r>
            <a:r>
              <a:rPr lang="en-US" sz="2200" b="1" dirty="0"/>
              <a:t>Financing Cash Flow (FCF)                  </a:t>
            </a:r>
            <a:r>
              <a:rPr lang="en-US" sz="1200" u="sng" dirty="0">
                <a:solidFill>
                  <a:schemeClr val="accent1">
                    <a:lumMod val="60000"/>
                    <a:lumOff val="40000"/>
                  </a:schemeClr>
                </a:solidFill>
              </a:rPr>
              <a:t>Double click here </a:t>
            </a:r>
            <a:endParaRPr lang="en-US" sz="1200" dirty="0"/>
          </a:p>
          <a:p>
            <a:r>
              <a:rPr lang="en-US" sz="2200" dirty="0"/>
              <a:t>Financing cash flow was generally negative because of dividend payments and share buybacks. </a:t>
            </a:r>
          </a:p>
          <a:p>
            <a:r>
              <a:rPr lang="en-US" sz="2200" dirty="0"/>
              <a:t>This reflects the company's commitment to returning value to shareholders.</a:t>
            </a:r>
          </a:p>
          <a:p>
            <a:pPr>
              <a:defRPr sz="2200"/>
            </a:pPr>
            <a:endParaRPr dirty="0"/>
          </a:p>
        </p:txBody>
      </p:sp>
      <p:graphicFrame>
        <p:nvGraphicFramePr>
          <p:cNvPr id="7" name="Object 6">
            <a:extLst>
              <a:ext uri="{FF2B5EF4-FFF2-40B4-BE49-F238E27FC236}">
                <a16:creationId xmlns:a16="http://schemas.microsoft.com/office/drawing/2014/main" id="{A8EB01E6-D410-570F-935C-A671E3357B89}"/>
              </a:ext>
            </a:extLst>
          </p:cNvPr>
          <p:cNvGraphicFramePr>
            <a:graphicFrameLocks noChangeAspect="1"/>
          </p:cNvGraphicFramePr>
          <p:nvPr>
            <p:extLst>
              <p:ext uri="{D42A27DB-BD31-4B8C-83A1-F6EECF244321}">
                <p14:modId xmlns:p14="http://schemas.microsoft.com/office/powerpoint/2010/main" val="3825728157"/>
              </p:ext>
            </p:extLst>
          </p:nvPr>
        </p:nvGraphicFramePr>
        <p:xfrm>
          <a:off x="5602831" y="4703616"/>
          <a:ext cx="295344" cy="209550"/>
        </p:xfrm>
        <a:graphic>
          <a:graphicData uri="http://schemas.openxmlformats.org/presentationml/2006/ole">
            <mc:AlternateContent xmlns:mc="http://schemas.openxmlformats.org/markup-compatibility/2006">
              <mc:Choice xmlns:v="urn:schemas-microsoft-com:vml" Requires="v">
                <p:oleObj name="Worksheet" r:id="rId2" imgW="8172602" imgH="209731" progId="Excel.Sheet.12">
                  <p:link updateAutomatic="1"/>
                </p:oleObj>
              </mc:Choice>
              <mc:Fallback>
                <p:oleObj name="Worksheet" r:id="rId2" imgW="8172602" imgH="209731" progId="Excel.Sheet.12">
                  <p:link updateAutomatic="1"/>
                  <p:pic>
                    <p:nvPicPr>
                      <p:cNvPr id="0" name=""/>
                      <p:cNvPicPr/>
                      <p:nvPr/>
                    </p:nvPicPr>
                    <p:blipFill>
                      <a:blip r:embed="rId3"/>
                      <a:stretch>
                        <a:fillRect/>
                      </a:stretch>
                    </p:blipFill>
                    <p:spPr>
                      <a:xfrm>
                        <a:off x="5602831" y="4703616"/>
                        <a:ext cx="295344" cy="20955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C22EEDCA-9EA0-9F47-774F-313815DD5ED5}"/>
              </a:ext>
            </a:extLst>
          </p:cNvPr>
          <p:cNvGraphicFramePr>
            <a:graphicFrameLocks noChangeAspect="1"/>
          </p:cNvGraphicFramePr>
          <p:nvPr>
            <p:extLst>
              <p:ext uri="{D42A27DB-BD31-4B8C-83A1-F6EECF244321}">
                <p14:modId xmlns:p14="http://schemas.microsoft.com/office/powerpoint/2010/main" val="451774681"/>
              </p:ext>
            </p:extLst>
          </p:nvPr>
        </p:nvGraphicFramePr>
        <p:xfrm>
          <a:off x="5602831" y="1157740"/>
          <a:ext cx="295344" cy="219075"/>
        </p:xfrm>
        <a:graphic>
          <a:graphicData uri="http://schemas.openxmlformats.org/presentationml/2006/ole">
            <mc:AlternateContent xmlns:mc="http://schemas.openxmlformats.org/markup-compatibility/2006">
              <mc:Choice xmlns:v="urn:schemas-microsoft-com:vml" Requires="v">
                <p:oleObj name="Worksheet" r:id="rId4" imgW="8172602" imgH="219033" progId="Excel.Sheet.12">
                  <p:link updateAutomatic="1"/>
                </p:oleObj>
              </mc:Choice>
              <mc:Fallback>
                <p:oleObj name="Worksheet" r:id="rId4" imgW="8172602" imgH="219033" progId="Excel.Sheet.12">
                  <p:link updateAutomatic="1"/>
                  <p:pic>
                    <p:nvPicPr>
                      <p:cNvPr id="0" name=""/>
                      <p:cNvPicPr/>
                      <p:nvPr/>
                    </p:nvPicPr>
                    <p:blipFill>
                      <a:blip r:embed="rId5"/>
                      <a:stretch>
                        <a:fillRect/>
                      </a:stretch>
                    </p:blipFill>
                    <p:spPr>
                      <a:xfrm>
                        <a:off x="5602831" y="1157740"/>
                        <a:ext cx="295344" cy="219075"/>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564B3728-73ED-2EEE-EB84-F387DC8C976B}"/>
              </a:ext>
            </a:extLst>
          </p:cNvPr>
          <p:cNvGraphicFramePr>
            <a:graphicFrameLocks noChangeAspect="1"/>
          </p:cNvGraphicFramePr>
          <p:nvPr>
            <p:extLst>
              <p:ext uri="{D42A27DB-BD31-4B8C-83A1-F6EECF244321}">
                <p14:modId xmlns:p14="http://schemas.microsoft.com/office/powerpoint/2010/main" val="2192820007"/>
              </p:ext>
            </p:extLst>
          </p:nvPr>
        </p:nvGraphicFramePr>
        <p:xfrm>
          <a:off x="5602831" y="2928440"/>
          <a:ext cx="292147" cy="209550"/>
        </p:xfrm>
        <a:graphic>
          <a:graphicData uri="http://schemas.openxmlformats.org/presentationml/2006/ole">
            <mc:AlternateContent xmlns:mc="http://schemas.openxmlformats.org/markup-compatibility/2006">
              <mc:Choice xmlns:v="urn:schemas-microsoft-com:vml" Requires="v">
                <p:oleObj name="Worksheet" r:id="rId6" imgW="8172602" imgH="209731" progId="Excel.Sheet.12">
                  <p:link updateAutomatic="1"/>
                </p:oleObj>
              </mc:Choice>
              <mc:Fallback>
                <p:oleObj name="Worksheet" r:id="rId6" imgW="8172602" imgH="209731" progId="Excel.Sheet.12">
                  <p:link updateAutomatic="1"/>
                  <p:pic>
                    <p:nvPicPr>
                      <p:cNvPr id="0" name=""/>
                      <p:cNvPicPr/>
                      <p:nvPr/>
                    </p:nvPicPr>
                    <p:blipFill>
                      <a:blip r:embed="rId7"/>
                      <a:stretch>
                        <a:fillRect/>
                      </a:stretch>
                    </p:blipFill>
                    <p:spPr>
                      <a:xfrm>
                        <a:off x="5602831" y="2928440"/>
                        <a:ext cx="292147" cy="209550"/>
                      </a:xfrm>
                      <a:prstGeom prst="rect">
                        <a:avLst/>
                      </a:prstGeom>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8A57E47C-0216-B041-5DA8-8C86A45E7EC8}"/>
              </a:ext>
            </a:extLst>
          </p:cNvPr>
          <p:cNvPicPr>
            <a:picLocks noChangeAspect="1"/>
          </p:cNvPicPr>
          <p:nvPr/>
        </p:nvPicPr>
        <p:blipFill>
          <a:blip r:embed="rId2"/>
          <a:stretch>
            <a:fillRect/>
          </a:stretch>
        </p:blipFill>
        <p:spPr>
          <a:xfrm>
            <a:off x="-318276" y="423204"/>
            <a:ext cx="9715500" cy="6477000"/>
          </a:xfrm>
          <a:prstGeom prst="rect">
            <a:avLst/>
          </a:prstGeom>
        </p:spPr>
      </p:pic>
    </p:spTree>
    <p:extLst>
      <p:ext uri="{BB962C8B-B14F-4D97-AF65-F5344CB8AC3E}">
        <p14:creationId xmlns:p14="http://schemas.microsoft.com/office/powerpoint/2010/main" val="17715655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7257" y="98948"/>
            <a:ext cx="3468312" cy="891218"/>
          </a:xfrm>
        </p:spPr>
        <p:txBody>
          <a:bodyPr/>
          <a:lstStyle/>
          <a:p>
            <a:r>
              <a:rPr dirty="0">
                <a:latin typeface="Berlin Sans FB Demi" panose="020E0802020502020306" pitchFamily="34" charset="0"/>
              </a:rPr>
              <a:t>Key Findings</a:t>
            </a:r>
          </a:p>
        </p:txBody>
      </p:sp>
      <p:sp>
        <p:nvSpPr>
          <p:cNvPr id="5" name="Rectangle 2">
            <a:extLst>
              <a:ext uri="{FF2B5EF4-FFF2-40B4-BE49-F238E27FC236}">
                <a16:creationId xmlns:a16="http://schemas.microsoft.com/office/drawing/2014/main" id="{202D8E88-0E3B-802E-C4C7-C2378089644F}"/>
              </a:ext>
            </a:extLst>
          </p:cNvPr>
          <p:cNvSpPr>
            <a:spLocks noGrp="1" noChangeArrowheads="1"/>
          </p:cNvSpPr>
          <p:nvPr>
            <p:ph idx="1"/>
          </p:nvPr>
        </p:nvSpPr>
        <p:spPr bwMode="auto">
          <a:xfrm>
            <a:off x="211012" y="1263792"/>
            <a:ext cx="8736039"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chemeClr val="tx1"/>
                </a:solidFill>
                <a:effectLst/>
                <a:latin typeface="Arial" panose="020B0604020202020204" pitchFamily="34" charset="0"/>
              </a:rPr>
              <a:t>Strong Profit Growth:</a:t>
            </a:r>
            <a:r>
              <a:rPr kumimoji="0" lang="en-US" altLang="en-US" b="0" i="0" u="none" strike="noStrike" cap="none" normalizeH="0" baseline="0" dirty="0">
                <a:ln>
                  <a:noFill/>
                </a:ln>
                <a:solidFill>
                  <a:schemeClr val="tx1"/>
                </a:solidFill>
                <a:effectLst/>
                <a:latin typeface="Arial" panose="020B0604020202020204" pitchFamily="34" charset="0"/>
              </a:rPr>
              <a:t> Net profit increased significantly from </a:t>
            </a:r>
            <a:r>
              <a:rPr kumimoji="0" lang="en-US" altLang="en-US" b="1" i="0" u="none" strike="noStrike" cap="none" normalizeH="0" baseline="0" dirty="0">
                <a:ln>
                  <a:noFill/>
                </a:ln>
                <a:solidFill>
                  <a:schemeClr val="tx1"/>
                </a:solidFill>
                <a:effectLst/>
                <a:latin typeface="Arial" panose="020B0604020202020204" pitchFamily="34" charset="0"/>
              </a:rPr>
              <a:t>2022 to 2024</a:t>
            </a:r>
            <a:r>
              <a:rPr kumimoji="0" lang="en-US" altLang="en-US" b="0" i="0" u="none" strike="noStrike" cap="none" normalizeH="0" baseline="0" dirty="0">
                <a:ln>
                  <a:noFill/>
                </a:ln>
                <a:solidFill>
                  <a:schemeClr val="tx1"/>
                </a:solidFill>
                <a:effectLst/>
                <a:latin typeface="Arial" panose="020B0604020202020204" pitchFamily="34" charset="0"/>
              </a:rPr>
              <a:t>, reflecting improved operational efficiency and higher earnings.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a:ln>
                  <a:noFill/>
                </a:ln>
                <a:solidFill>
                  <a:schemeClr val="tx1"/>
                </a:solidFill>
                <a:effectLst/>
                <a:latin typeface="Arial" panose="020B0604020202020204" pitchFamily="34" charset="0"/>
              </a:rPr>
              <a:t>Peak Performance:</a:t>
            </a:r>
            <a:r>
              <a:rPr kumimoji="0" lang="en-US" altLang="en-US" b="0" i="0" u="none" strike="noStrike" cap="none" normalizeH="0" baseline="0" dirty="0">
                <a:ln>
                  <a:noFill/>
                </a:ln>
                <a:solidFill>
                  <a:schemeClr val="tx1"/>
                </a:solidFill>
                <a:effectLst/>
                <a:latin typeface="Arial" panose="020B0604020202020204" pitchFamily="34" charset="0"/>
              </a:rPr>
              <a:t> The company achieved its </a:t>
            </a:r>
            <a:r>
              <a:rPr kumimoji="0" lang="en-US" altLang="en-US" i="0" u="none" strike="noStrike" cap="none" normalizeH="0" baseline="0" dirty="0">
                <a:ln>
                  <a:noFill/>
                </a:ln>
                <a:solidFill>
                  <a:schemeClr val="tx1"/>
                </a:solidFill>
                <a:effectLst/>
                <a:latin typeface="Arial" panose="020B0604020202020204" pitchFamily="34" charset="0"/>
              </a:rPr>
              <a:t>highest profit growth </a:t>
            </a:r>
            <a:r>
              <a:rPr kumimoji="0" lang="en-US" altLang="en-US" b="1" i="0" u="none" strike="noStrike" cap="none" normalizeH="0" baseline="0" dirty="0">
                <a:ln>
                  <a:noFill/>
                </a:ln>
                <a:solidFill>
                  <a:schemeClr val="tx1"/>
                </a:solidFill>
                <a:effectLst/>
                <a:latin typeface="Arial" panose="020B0604020202020204" pitchFamily="34" charset="0"/>
              </a:rPr>
              <a:t>(around 31%) in 2024</a:t>
            </a:r>
            <a:r>
              <a:rPr kumimoji="0" lang="en-US" altLang="en-US" b="0" i="0" u="none" strike="noStrike" cap="none" normalizeH="0" baseline="0" dirty="0">
                <a:ln>
                  <a:noFill/>
                </a:ln>
                <a:solidFill>
                  <a:schemeClr val="tx1"/>
                </a:solidFill>
                <a:effectLst/>
                <a:latin typeface="Arial" panose="020B0604020202020204" pitchFamily="34" charset="0"/>
              </a:rPr>
              <a:t>, indicating excellent financial performance.</a:t>
            </a: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1" i="0" u="none" strike="noStrike" cap="none" normalizeH="0" baseline="0" dirty="0">
                <a:ln>
                  <a:noFill/>
                </a:ln>
                <a:solidFill>
                  <a:schemeClr val="tx1"/>
                </a:solidFill>
                <a:effectLst/>
                <a:latin typeface="Arial" panose="020B0604020202020204" pitchFamily="34" charset="0"/>
              </a:rPr>
              <a:t>Temporary Profit Decline:</a:t>
            </a:r>
            <a:r>
              <a:rPr kumimoji="0" lang="en-US" altLang="en-US" b="0" i="0" u="none" strike="noStrike" cap="none" normalizeH="0" baseline="0" dirty="0">
                <a:ln>
                  <a:noFill/>
                </a:ln>
                <a:solidFill>
                  <a:schemeClr val="tx1"/>
                </a:solidFill>
                <a:effectLst/>
                <a:latin typeface="Arial" panose="020B0604020202020204" pitchFamily="34" charset="0"/>
              </a:rPr>
              <a:t> A sharp decline in </a:t>
            </a:r>
            <a:r>
              <a:rPr kumimoji="0" lang="en-US" altLang="en-US" b="1" i="0" u="none" strike="noStrike" cap="none" normalizeH="0" baseline="0" dirty="0">
                <a:ln>
                  <a:noFill/>
                </a:ln>
                <a:solidFill>
                  <a:schemeClr val="tx1"/>
                </a:solidFill>
                <a:effectLst/>
                <a:latin typeface="Arial" panose="020B0604020202020204" pitchFamily="34" charset="0"/>
              </a:rPr>
              <a:t>2025 (-22%)</a:t>
            </a:r>
            <a:r>
              <a:rPr kumimoji="0" lang="en-US" altLang="en-US" b="0" i="0" u="none" strike="noStrike" cap="none" normalizeH="0" baseline="0" dirty="0">
                <a:ln>
                  <a:noFill/>
                </a:ln>
                <a:solidFill>
                  <a:schemeClr val="tx1"/>
                </a:solidFill>
                <a:effectLst/>
                <a:latin typeface="Arial" panose="020B0604020202020204" pitchFamily="34" charset="0"/>
              </a:rPr>
              <a:t> suggests the impact of unfavorable market conditions, increased costs, or one-time expenses.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b="1" i="0" u="none" strike="noStrike" cap="none" normalizeH="0" baseline="0" dirty="0">
                <a:ln>
                  <a:noFill/>
                </a:ln>
                <a:solidFill>
                  <a:schemeClr val="tx1"/>
                </a:solidFill>
                <a:effectLst/>
                <a:latin typeface="Arial" panose="020B0604020202020204" pitchFamily="34" charset="0"/>
              </a:rPr>
              <a:t>Quick Recovery:</a:t>
            </a:r>
            <a:r>
              <a:rPr kumimoji="0" lang="en-US" altLang="en-US" b="0" i="0" u="none" strike="noStrike" cap="none" normalizeH="0" baseline="0" dirty="0">
                <a:ln>
                  <a:noFill/>
                </a:ln>
                <a:solidFill>
                  <a:schemeClr val="tx1"/>
                </a:solidFill>
                <a:effectLst/>
                <a:latin typeface="Arial" panose="020B0604020202020204" pitchFamily="34" charset="0"/>
              </a:rPr>
              <a:t> Profit growth rebounded to </a:t>
            </a:r>
            <a:r>
              <a:rPr kumimoji="0" lang="en-US" altLang="en-US" b="1" i="0" u="none" strike="noStrike" cap="none" normalizeH="0" baseline="0" dirty="0">
                <a:ln>
                  <a:noFill/>
                </a:ln>
                <a:solidFill>
                  <a:schemeClr val="tx1"/>
                </a:solidFill>
                <a:effectLst/>
                <a:latin typeface="Arial" panose="020B0604020202020204" pitchFamily="34" charset="0"/>
              </a:rPr>
              <a:t>around 14% in 2026</a:t>
            </a:r>
            <a:r>
              <a:rPr kumimoji="0" lang="en-US" altLang="en-US" b="0" i="0" u="none" strike="noStrike" cap="none" normalizeH="0" baseline="0" dirty="0">
                <a:ln>
                  <a:noFill/>
                </a:ln>
                <a:solidFill>
                  <a:schemeClr val="tx1"/>
                </a:solidFill>
                <a:effectLst/>
                <a:latin typeface="Arial" panose="020B0604020202020204" pitchFamily="34" charset="0"/>
              </a:rPr>
              <a:t>, demonstrating effective cost management and business resilience.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b="1" i="0" u="none" strike="noStrike" cap="none" normalizeH="0" baseline="0" dirty="0">
                <a:ln>
                  <a:noFill/>
                </a:ln>
                <a:solidFill>
                  <a:schemeClr val="tx1"/>
                </a:solidFill>
                <a:effectLst/>
                <a:latin typeface="Arial" panose="020B0604020202020204" pitchFamily="34" charset="0"/>
              </a:rPr>
              <a:t>Overall Financial Position:</a:t>
            </a:r>
            <a:r>
              <a:rPr kumimoji="0" lang="en-US" altLang="en-US" b="0" i="0" u="none" strike="noStrike" cap="none" normalizeH="0" baseline="0" dirty="0">
                <a:ln>
                  <a:noFill/>
                </a:ln>
                <a:solidFill>
                  <a:schemeClr val="tx1"/>
                </a:solidFill>
                <a:effectLst/>
                <a:latin typeface="Arial" panose="020B0604020202020204" pitchFamily="34" charset="0"/>
              </a:rPr>
              <a:t> Despite the temporary setback in 2025, the long-term trend </a:t>
            </a:r>
            <a:r>
              <a:rPr kumimoji="0" lang="en-US" altLang="en-US" i="0" u="none" strike="noStrike" cap="none" normalizeH="0" baseline="0" dirty="0">
                <a:ln>
                  <a:noFill/>
                </a:ln>
                <a:solidFill>
                  <a:schemeClr val="tx1"/>
                </a:solidFill>
                <a:effectLst/>
                <a:latin typeface="Arial" panose="020B0604020202020204" pitchFamily="34" charset="0"/>
              </a:rPr>
              <a:t>indicates healthy profitability, strong financial stability, and the company's ability to sustain earnings growth.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5708" y="170631"/>
            <a:ext cx="4692200" cy="686765"/>
          </a:xfrm>
        </p:spPr>
        <p:txBody>
          <a:bodyPr/>
          <a:lstStyle/>
          <a:p>
            <a:r>
              <a:rPr dirty="0">
                <a:latin typeface="Berlin Sans FB Demi" panose="020E0802020502020306" pitchFamily="34" charset="0"/>
              </a:rPr>
              <a:t>Recommendations</a:t>
            </a:r>
          </a:p>
        </p:txBody>
      </p:sp>
      <p:sp>
        <p:nvSpPr>
          <p:cNvPr id="5" name="Rectangle 2">
            <a:extLst>
              <a:ext uri="{FF2B5EF4-FFF2-40B4-BE49-F238E27FC236}">
                <a16:creationId xmlns:a16="http://schemas.microsoft.com/office/drawing/2014/main" id="{13B24955-6ABF-64ED-8038-8ED90B4E7691}"/>
              </a:ext>
            </a:extLst>
          </p:cNvPr>
          <p:cNvSpPr>
            <a:spLocks noGrp="1" noChangeArrowheads="1"/>
          </p:cNvSpPr>
          <p:nvPr>
            <p:ph idx="1"/>
          </p:nvPr>
        </p:nvSpPr>
        <p:spPr bwMode="auto">
          <a:xfrm>
            <a:off x="-28136" y="746572"/>
            <a:ext cx="9144001"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Strengthen Cost Control</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latin typeface="Arial" panose="020B0604020202020204" pitchFamily="34" charset="0"/>
              </a:rPr>
              <a:t> </a:t>
            </a:r>
            <a:r>
              <a:rPr kumimoji="0" lang="en-US" altLang="en-US" b="0" i="0" u="none" strike="noStrike" cap="none" normalizeH="0" baseline="0" dirty="0">
                <a:ln>
                  <a:noFill/>
                </a:ln>
                <a:solidFill>
                  <a:schemeClr val="tx1"/>
                </a:solidFill>
                <a:effectLst/>
                <a:latin typeface="Arial" panose="020B0604020202020204" pitchFamily="34" charset="0"/>
              </a:rPr>
              <a:t>Reduce production and operating costs to improve profit margins and protect profitability during challenging periods.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Diversify Product Portfolio</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rPr>
              <a:t> Introduce innovative and health-focused products to meet changing consumer preferences and increase revenue sources.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Improve Operational Efficiency</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rPr>
              <a:t> Optimize supply chain management and production processes to enhance productivity and reduce wastage.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Expand Market Presence</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r>
              <a:rPr lang="en-US" altLang="en-US" dirty="0">
                <a:latin typeface="Arial" panose="020B0604020202020204" pitchFamily="34" charset="0"/>
              </a:rPr>
              <a:t> </a:t>
            </a:r>
            <a:r>
              <a:rPr kumimoji="0" lang="en-US" altLang="en-US" b="0" i="0" u="none" strike="noStrike" cap="none" normalizeH="0" baseline="0" dirty="0">
                <a:ln>
                  <a:noFill/>
                </a:ln>
                <a:solidFill>
                  <a:schemeClr val="tx1"/>
                </a:solidFill>
                <a:effectLst/>
                <a:latin typeface="Arial" panose="020B0604020202020204" pitchFamily="34" charset="0"/>
              </a:rPr>
              <a:t>Increase penetration in rural and emerging markets while strengthening digital and e-commerce channels.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Maintain Financial Stability</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rPr>
              <a:t> Continue managing debt prudently, maintain adequate liquidity, and invest in high-return projects for sustainable long-term growth.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01966" y="209940"/>
            <a:ext cx="3946613" cy="799307"/>
          </a:xfrm>
        </p:spPr>
        <p:txBody>
          <a:bodyPr/>
          <a:lstStyle/>
          <a:p>
            <a:r>
              <a:rPr dirty="0">
                <a:latin typeface="Berlin Sans FB Demi" panose="020E0802020502020306" pitchFamily="34" charset="0"/>
              </a:rPr>
              <a:t>Conclusion</a:t>
            </a:r>
          </a:p>
        </p:txBody>
      </p:sp>
      <p:sp>
        <p:nvSpPr>
          <p:cNvPr id="3" name="Content Placeholder 2"/>
          <p:cNvSpPr>
            <a:spLocks noGrp="1"/>
          </p:cNvSpPr>
          <p:nvPr>
            <p:ph idx="1"/>
          </p:nvPr>
        </p:nvSpPr>
        <p:spPr>
          <a:xfrm>
            <a:off x="281353" y="1340913"/>
            <a:ext cx="8679767" cy="5239159"/>
          </a:xfrm>
        </p:spPr>
        <p:txBody>
          <a:bodyPr>
            <a:normAutofit/>
          </a:bodyPr>
          <a:lstStyle/>
          <a:p>
            <a:pPr marL="0" indent="0">
              <a:buNone/>
              <a:defRPr sz="2200"/>
            </a:pPr>
            <a:r>
              <a:rPr lang="en-US" sz="2400" dirty="0"/>
              <a:t>The financial analysis indicates that </a:t>
            </a:r>
            <a:r>
              <a:rPr lang="en-US" sz="2400" b="1" dirty="0"/>
              <a:t>Nestlé</a:t>
            </a:r>
            <a:r>
              <a:rPr lang="en-US" sz="2400" dirty="0"/>
              <a:t> maintained a strong financial position throughout the study period. The company achieved consistent growth in assets, revenue, and profitability, reflecting effective operational and financial management. Although performance declined temporarily in </a:t>
            </a:r>
            <a:r>
              <a:rPr lang="en-US" sz="2400" b="1" dirty="0"/>
              <a:t>2025</a:t>
            </a:r>
            <a:r>
              <a:rPr lang="en-US" sz="2400" dirty="0"/>
              <a:t>, the strong recovery in </a:t>
            </a:r>
            <a:r>
              <a:rPr lang="en-US" sz="2400" b="1" dirty="0"/>
              <a:t>2026</a:t>
            </a:r>
            <a:r>
              <a:rPr lang="en-US" sz="2400" dirty="0"/>
              <a:t> demonstrates resilience and adaptability. Overall, Nestlé's sound liquidity, stable capital structure, and sustained profitability position the company well for long-term growth and value creation.</a:t>
            </a:r>
            <a:endParaRPr sz="24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2032</TotalTime>
  <Words>1427</Words>
  <Application>Microsoft Office PowerPoint</Application>
  <PresentationFormat>On-screen Show (4:3)</PresentationFormat>
  <Paragraphs>188</Paragraphs>
  <Slides>18</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Links</vt:lpstr>
      </vt:variant>
      <vt:variant>
        <vt:i4>3</vt:i4>
      </vt:variant>
      <vt:variant>
        <vt:lpstr>Slide Titles</vt:lpstr>
      </vt:variant>
      <vt:variant>
        <vt:i4>18</vt:i4>
      </vt:variant>
    </vt:vector>
  </HeadingPairs>
  <TitlesOfParts>
    <vt:vector size="27" baseType="lpstr">
      <vt:lpstr>Arial</vt:lpstr>
      <vt:lpstr>Berlin Sans FB Demi</vt:lpstr>
      <vt:lpstr>Calibri</vt:lpstr>
      <vt:lpstr>Century Gothic</vt:lpstr>
      <vt:lpstr>Wingdings 3</vt:lpstr>
      <vt:lpstr>Ion</vt:lpstr>
      <vt:lpstr>file:///C:\Users\ADMIN\Desktop\Govind%20Patidar%20(Nestle%20India).xlsx!Cash%20flow!R23C2:R23C8</vt:lpstr>
      <vt:lpstr>file:///C:\Users\ADMIN\Desktop\Govind%20Patidar%20(Nestle%20India).xlsx!Cash%20flow!R4C2:R4C8</vt:lpstr>
      <vt:lpstr>file:///C:\Users\ADMIN\Desktop\Govind%20Patidar%20(Nestle%20India).xlsx!Cash%20flow!R14C2:R14C8</vt:lpstr>
      <vt:lpstr>Nestlé India Financial Statement Analysis</vt:lpstr>
      <vt:lpstr>Company Introduction</vt:lpstr>
      <vt:lpstr>Products &amp; Brands</vt:lpstr>
      <vt:lpstr>Industry Overview</vt:lpstr>
      <vt:lpstr>Revenue Trend</vt:lpstr>
      <vt:lpstr>Revenue Analysis</vt:lpstr>
      <vt:lpstr>Profit Trend</vt:lpstr>
      <vt:lpstr>Profit  Trend Analysis</vt:lpstr>
      <vt:lpstr>Balance Sheet Analysis</vt:lpstr>
      <vt:lpstr>Balance sheet Analysis </vt:lpstr>
      <vt:lpstr>Ratio Analysis</vt:lpstr>
      <vt:lpstr>Ratio Analysis</vt:lpstr>
      <vt:lpstr>PowerPoint Presentation</vt:lpstr>
      <vt:lpstr>Cash Flow Analysis</vt:lpstr>
      <vt:lpstr>PowerPoint Presentation</vt:lpstr>
      <vt:lpstr>Key Findings</vt:lpstr>
      <vt:lpstr>Recommendations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Govind Patidar</cp:lastModifiedBy>
  <cp:revision>15</cp:revision>
  <dcterms:created xsi:type="dcterms:W3CDTF">2013-01-27T09:14:16Z</dcterms:created>
  <dcterms:modified xsi:type="dcterms:W3CDTF">2026-07-07T13:47:09Z</dcterms:modified>
  <cp:category/>
</cp:coreProperties>
</file>