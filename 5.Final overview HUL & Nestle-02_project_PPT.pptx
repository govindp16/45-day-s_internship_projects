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5"/>
  </p:notesMasterIdLst>
  <p:sldIdLst>
    <p:sldId id="259" r:id="rId2"/>
    <p:sldId id="269" r:id="rId3"/>
    <p:sldId id="262" r:id="rId4"/>
    <p:sldId id="261" r:id="rId5"/>
    <p:sldId id="264" r:id="rId6"/>
    <p:sldId id="265" r:id="rId7"/>
    <p:sldId id="266" r:id="rId8"/>
    <p:sldId id="267" r:id="rId9"/>
    <p:sldId id="268" r:id="rId10"/>
    <p:sldId id="260" r:id="rId11"/>
    <p:sldId id="270" r:id="rId12"/>
    <p:sldId id="271" r:id="rId13"/>
    <p:sldId id="27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esktop\Hind.%20Unilever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esktop\Hind.%20Unilever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Net</a:t>
            </a:r>
            <a:r>
              <a:rPr lang="en-IN" baseline="0"/>
              <a:t> Profit Chart </a:t>
            </a:r>
          </a:p>
          <a:p>
            <a:pPr>
              <a:defRPr/>
            </a:pP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6003811495189041"/>
          <c:y val="8.5735869061841052E-2"/>
          <c:w val="0.83996188504810965"/>
          <c:h val="0.77468912079769947"/>
        </c:manualLayout>
      </c:layout>
      <c:lineChart>
        <c:grouping val="standard"/>
        <c:varyColors val="0"/>
        <c:ser>
          <c:idx val="0"/>
          <c:order val="0"/>
          <c:tx>
            <c:v>HUL</c:v>
          </c:tx>
          <c:spPr>
            <a:ln w="28575" cap="rnd">
              <a:solidFill>
                <a:schemeClr val="accent4">
                  <a:shade val="76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shade val="76000"/>
                </a:schemeClr>
              </a:solidFill>
              <a:ln w="9525">
                <a:solidFill>
                  <a:schemeClr val="accent4">
                    <a:shade val="76000"/>
                  </a:schemeClr>
                </a:solidFill>
              </a:ln>
              <a:effectLst/>
            </c:spPr>
          </c:marker>
          <c:cat>
            <c:numRef>
              <c:f>'Income Statement'!$C$4:$H$4</c:f>
              <c:numCache>
                <c:formatCode>mmm\-yy</c:formatCode>
                <c:ptCount val="6"/>
                <c:pt idx="0">
                  <c:v>44286</c:v>
                </c:pt>
                <c:pt idx="1">
                  <c:v>44651</c:v>
                </c:pt>
                <c:pt idx="2">
                  <c:v>45016</c:v>
                </c:pt>
                <c:pt idx="3">
                  <c:v>45382</c:v>
                </c:pt>
                <c:pt idx="4">
                  <c:v>45747</c:v>
                </c:pt>
                <c:pt idx="5">
                  <c:v>46112</c:v>
                </c:pt>
              </c:numCache>
            </c:numRef>
          </c:cat>
          <c:val>
            <c:numRef>
              <c:f>'Income Statement'!$C$34:$H$34</c:f>
              <c:numCache>
                <c:formatCode>"₹"\ #,##0.00</c:formatCode>
                <c:ptCount val="6"/>
                <c:pt idx="0">
                  <c:v>7829</c:v>
                </c:pt>
                <c:pt idx="1">
                  <c:v>8673</c:v>
                </c:pt>
                <c:pt idx="2">
                  <c:v>9695</c:v>
                </c:pt>
                <c:pt idx="3">
                  <c:v>9465</c:v>
                </c:pt>
                <c:pt idx="4">
                  <c:v>9316</c:v>
                </c:pt>
                <c:pt idx="5">
                  <c:v>10136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D6C-4E2D-8C40-6C2EA4AE13AF}"/>
            </c:ext>
          </c:extLst>
        </c:ser>
        <c:ser>
          <c:idx val="1"/>
          <c:order val="1"/>
          <c:tx>
            <c:v>Nestle</c:v>
          </c:tx>
          <c:spPr>
            <a:ln w="28575" cap="rnd">
              <a:solidFill>
                <a:schemeClr val="accent4">
                  <a:tint val="77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tint val="77000"/>
                </a:schemeClr>
              </a:solidFill>
              <a:ln w="9525">
                <a:solidFill>
                  <a:schemeClr val="accent4">
                    <a:tint val="77000"/>
                  </a:schemeClr>
                </a:solidFill>
              </a:ln>
              <a:effectLst/>
            </c:spPr>
          </c:marker>
          <c:val>
            <c:numRef>
              <c:f>'Income Statement'!$L$34:$Q$34</c:f>
              <c:numCache>
                <c:formatCode>"₹"\ #,##0.0;\("₹"\ #,##0.0\);\-</c:formatCode>
                <c:ptCount val="6"/>
                <c:pt idx="0">
                  <c:v>2230.7899999999991</c:v>
                </c:pt>
                <c:pt idx="1">
                  <c:v>2283.2599999999984</c:v>
                </c:pt>
                <c:pt idx="2">
                  <c:v>2883.17</c:v>
                </c:pt>
                <c:pt idx="3">
                  <c:v>3773.8500000000004</c:v>
                </c:pt>
                <c:pt idx="4">
                  <c:v>2962.4400000000005</c:v>
                </c:pt>
                <c:pt idx="5">
                  <c:v>3384.369999999999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D6C-4E2D-8C40-6C2EA4AE13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30870792"/>
        <c:axId val="398666192"/>
      </c:lineChart>
      <c:catAx>
        <c:axId val="33087079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Year</a:t>
                </a:r>
              </a:p>
            </c:rich>
          </c:tx>
          <c:layout>
            <c:manualLayout>
              <c:xMode val="edge"/>
              <c:yMode val="edge"/>
              <c:x val="0.52001425496294496"/>
              <c:y val="0.9266048801316103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solidFill>
                  <a:schemeClr val="tx1">
                    <a:lumMod val="65000"/>
                    <a:lumOff val="35000"/>
                    <a:alpha val="79000"/>
                  </a:schemeClr>
                </a:solidFill>
                <a:effectLst>
                  <a:glow rad="50800">
                    <a:schemeClr val="tx1">
                      <a:lumMod val="85000"/>
                      <a:lumOff val="15000"/>
                      <a:alpha val="0"/>
                    </a:schemeClr>
                  </a:glow>
                </a:effectLst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8666192"/>
        <c:crosses val="autoZero"/>
        <c:auto val="0"/>
        <c:lblAlgn val="ctr"/>
        <c:lblOffset val="100"/>
        <c:noMultiLvlLbl val="0"/>
      </c:catAx>
      <c:valAx>
        <c:axId val="39866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Net</a:t>
                </a:r>
                <a:r>
                  <a:rPr lang="en-IN" baseline="0"/>
                  <a:t> profit (cr.)</a:t>
                </a:r>
              </a:p>
              <a:p>
                <a:pPr>
                  <a:defRPr/>
                </a:pP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₹&quot;\ 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08707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4920399800125368"/>
          <c:y val="0.49590073968026716"/>
          <c:w val="0.1323415647510077"/>
          <c:h val="6.618895126147507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ROE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>
        <c:manualLayout>
          <c:layoutTarget val="inner"/>
          <c:xMode val="edge"/>
          <c:yMode val="edge"/>
          <c:x val="0.10498381452318462"/>
          <c:y val="0.1300462962962963"/>
          <c:w val="0.85334951881014875"/>
          <c:h val="0.72088764946048411"/>
        </c:manualLayout>
      </c:layout>
      <c:lineChart>
        <c:grouping val="standard"/>
        <c:varyColors val="0"/>
        <c:ser>
          <c:idx val="0"/>
          <c:order val="0"/>
          <c:tx>
            <c:v>HUL</c:v>
          </c:tx>
          <c:spPr>
            <a:ln w="28575" cap="rnd">
              <a:solidFill>
                <a:schemeClr val="accent4">
                  <a:shade val="76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'Ratio Analysis'!$C$3:$H$3</c:f>
              <c:numCache>
                <c:formatCode>mmm\-yy</c:formatCode>
                <c:ptCount val="6"/>
                <c:pt idx="0">
                  <c:v>44286</c:v>
                </c:pt>
                <c:pt idx="1">
                  <c:v>44651</c:v>
                </c:pt>
                <c:pt idx="2">
                  <c:v>45016</c:v>
                </c:pt>
                <c:pt idx="3">
                  <c:v>45382</c:v>
                </c:pt>
                <c:pt idx="4">
                  <c:v>45747</c:v>
                </c:pt>
                <c:pt idx="5">
                  <c:v>46112</c:v>
                </c:pt>
              </c:numCache>
            </c:numRef>
          </c:cat>
          <c:val>
            <c:numRef>
              <c:f>'Ratio Analysis'!$C$22:$H$22</c:f>
              <c:numCache>
                <c:formatCode>0.00%</c:formatCode>
                <c:ptCount val="6"/>
                <c:pt idx="0">
                  <c:v>0.16421949070772329</c:v>
                </c:pt>
                <c:pt idx="1">
                  <c:v>0.1767799270296162</c:v>
                </c:pt>
                <c:pt idx="2">
                  <c:v>0.19272821246819338</c:v>
                </c:pt>
                <c:pt idx="3">
                  <c:v>0.18479831309305322</c:v>
                </c:pt>
                <c:pt idx="4">
                  <c:v>0.18857536132140398</c:v>
                </c:pt>
                <c:pt idx="5">
                  <c:v>0.20796487412544368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899-4424-9867-9D73FDA91252}"/>
            </c:ext>
          </c:extLst>
        </c:ser>
        <c:ser>
          <c:idx val="1"/>
          <c:order val="1"/>
          <c:tx>
            <c:v>Nestle</c:v>
          </c:tx>
          <c:spPr>
            <a:ln w="28575" cap="rnd">
              <a:solidFill>
                <a:schemeClr val="accent4">
                  <a:tint val="77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'Ratio Analysis'!$K$22:$P$22</c:f>
              <c:numCache>
                <c:formatCode>0.00%</c:formatCode>
                <c:ptCount val="6"/>
                <c:pt idx="0">
                  <c:v>1.1461225454433352</c:v>
                </c:pt>
                <c:pt idx="1">
                  <c:v>0.92846773504881663</c:v>
                </c:pt>
                <c:pt idx="2">
                  <c:v>1.1724158964203368</c:v>
                </c:pt>
                <c:pt idx="3">
                  <c:v>1.1295942099260976</c:v>
                </c:pt>
                <c:pt idx="4">
                  <c:v>0.71953657262912474</c:v>
                </c:pt>
                <c:pt idx="5">
                  <c:v>0.6374490510882912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899-4424-9867-9D73FDA912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15194568"/>
        <c:axId val="515195288"/>
      </c:lineChart>
      <c:catAx>
        <c:axId val="515194568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5195288"/>
        <c:crosses val="autoZero"/>
        <c:auto val="0"/>
        <c:lblAlgn val="ctr"/>
        <c:lblOffset val="100"/>
        <c:noMultiLvlLbl val="0"/>
      </c:catAx>
      <c:valAx>
        <c:axId val="5151952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519456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1838867016622918"/>
          <c:y val="7.8630796150481856E-4"/>
          <c:w val="0.14825021872265967"/>
          <c:h val="0.1562510936132983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B8959C-2834-41D9-9AE9-B33AE2544C5B}" type="doc">
      <dgm:prSet loTypeId="urn:microsoft.com/office/officeart/2005/8/layout/vList5" loCatId="list" qsTypeId="urn:microsoft.com/office/officeart/2005/8/quickstyle/simple4" qsCatId="simple" csTypeId="urn:microsoft.com/office/officeart/2005/8/colors/colorful4" csCatId="colorful"/>
      <dgm:spPr/>
      <dgm:t>
        <a:bodyPr/>
        <a:lstStyle/>
        <a:p>
          <a:endParaRPr lang="en-IN"/>
        </a:p>
      </dgm:t>
    </dgm:pt>
    <dgm:pt modelId="{55F9FD5A-E7DA-4AC3-B8AF-D5E56AF89A40}">
      <dgm:prSet/>
      <dgm:spPr/>
      <dgm:t>
        <a:bodyPr/>
        <a:lstStyle/>
        <a:p>
          <a:r>
            <a:rPr lang="en-IN"/>
            <a:t>✔ HUL dominates in market reach.</a:t>
          </a:r>
        </a:p>
      </dgm:t>
    </dgm:pt>
    <dgm:pt modelId="{670D0647-CF1F-4A7B-B63A-376FC81EBFC3}" type="parTrans" cxnId="{CD627BD6-3684-4CB7-B128-A3CC28850385}">
      <dgm:prSet/>
      <dgm:spPr/>
      <dgm:t>
        <a:bodyPr/>
        <a:lstStyle/>
        <a:p>
          <a:endParaRPr lang="en-IN"/>
        </a:p>
      </dgm:t>
    </dgm:pt>
    <dgm:pt modelId="{BCFF69A4-3785-4BA3-9CF7-17D03093517D}" type="sibTrans" cxnId="{CD627BD6-3684-4CB7-B128-A3CC28850385}">
      <dgm:prSet/>
      <dgm:spPr/>
      <dgm:t>
        <a:bodyPr/>
        <a:lstStyle/>
        <a:p>
          <a:endParaRPr lang="en-IN"/>
        </a:p>
      </dgm:t>
    </dgm:pt>
    <dgm:pt modelId="{0C12ACC9-4408-41AB-8E7A-609889929FD2}">
      <dgm:prSet/>
      <dgm:spPr/>
      <dgm:t>
        <a:bodyPr/>
        <a:lstStyle/>
        <a:p>
          <a:r>
            <a:rPr lang="en-IN" dirty="0"/>
            <a:t>✔ Nestlé generates higher shareholder returns.</a:t>
          </a:r>
        </a:p>
      </dgm:t>
    </dgm:pt>
    <dgm:pt modelId="{EEEDF644-7E8C-4B0B-BD5B-42ED9582BCC7}" type="parTrans" cxnId="{D939659D-5D08-4DF5-B5DE-AF1C8C744ED0}">
      <dgm:prSet/>
      <dgm:spPr/>
      <dgm:t>
        <a:bodyPr/>
        <a:lstStyle/>
        <a:p>
          <a:endParaRPr lang="en-IN"/>
        </a:p>
      </dgm:t>
    </dgm:pt>
    <dgm:pt modelId="{C2A1D4E2-CC88-4E1B-91CD-83C327B3738B}" type="sibTrans" cxnId="{D939659D-5D08-4DF5-B5DE-AF1C8C744ED0}">
      <dgm:prSet/>
      <dgm:spPr/>
      <dgm:t>
        <a:bodyPr/>
        <a:lstStyle/>
        <a:p>
          <a:endParaRPr lang="en-IN"/>
        </a:p>
      </dgm:t>
    </dgm:pt>
    <dgm:pt modelId="{EBA0B344-2E98-40C1-829C-0DAAE4816CE4}">
      <dgm:prSet/>
      <dgm:spPr/>
      <dgm:t>
        <a:bodyPr/>
        <a:lstStyle/>
        <a:p>
          <a:r>
            <a:rPr lang="en-IN"/>
            <a:t>✔ Both companies maintain low financial risk.</a:t>
          </a:r>
        </a:p>
      </dgm:t>
    </dgm:pt>
    <dgm:pt modelId="{06FDDE09-E8C1-4113-893F-DCD7E99C1D38}" type="parTrans" cxnId="{82201455-BE66-4862-8A53-9DF540D7A0E0}">
      <dgm:prSet/>
      <dgm:spPr/>
      <dgm:t>
        <a:bodyPr/>
        <a:lstStyle/>
        <a:p>
          <a:endParaRPr lang="en-IN"/>
        </a:p>
      </dgm:t>
    </dgm:pt>
    <dgm:pt modelId="{9C4B7AD6-41F3-497B-90EB-EF28FE04EE4B}" type="sibTrans" cxnId="{82201455-BE66-4862-8A53-9DF540D7A0E0}">
      <dgm:prSet/>
      <dgm:spPr/>
      <dgm:t>
        <a:bodyPr/>
        <a:lstStyle/>
        <a:p>
          <a:endParaRPr lang="en-IN"/>
        </a:p>
      </dgm:t>
    </dgm:pt>
    <dgm:pt modelId="{A58A67F0-5F33-4E88-AC9C-925864CFA153}">
      <dgm:prSet/>
      <dgm:spPr/>
      <dgm:t>
        <a:bodyPr/>
        <a:lstStyle/>
        <a:p>
          <a:r>
            <a:rPr lang="en-IN"/>
            <a:t>✔ HUL's diversified portfolio reduces business risk.</a:t>
          </a:r>
        </a:p>
      </dgm:t>
    </dgm:pt>
    <dgm:pt modelId="{1E3648F2-BC02-4BDB-B023-91AA24FE79A7}" type="parTrans" cxnId="{4374A23C-1A63-440A-A463-67589314522B}">
      <dgm:prSet/>
      <dgm:spPr/>
      <dgm:t>
        <a:bodyPr/>
        <a:lstStyle/>
        <a:p>
          <a:endParaRPr lang="en-IN"/>
        </a:p>
      </dgm:t>
    </dgm:pt>
    <dgm:pt modelId="{0E2F4C24-1BD9-453E-A62B-4E35D1E89FF8}" type="sibTrans" cxnId="{4374A23C-1A63-440A-A463-67589314522B}">
      <dgm:prSet/>
      <dgm:spPr/>
      <dgm:t>
        <a:bodyPr/>
        <a:lstStyle/>
        <a:p>
          <a:endParaRPr lang="en-IN"/>
        </a:p>
      </dgm:t>
    </dgm:pt>
    <dgm:pt modelId="{9294739E-E445-4CD5-AF6B-B048ABC9A45C}">
      <dgm:prSet/>
      <dgm:spPr/>
      <dgm:t>
        <a:bodyPr/>
        <a:lstStyle/>
        <a:p>
          <a:r>
            <a:rPr lang="en-IN"/>
            <a:t>✔ Nestlé's focused strategy improves profitability.</a:t>
          </a:r>
        </a:p>
      </dgm:t>
    </dgm:pt>
    <dgm:pt modelId="{ACA114C9-D2D4-48EA-88AE-909831D38C71}" type="parTrans" cxnId="{7886BFE0-D684-4D03-8301-8FCB24491F3D}">
      <dgm:prSet/>
      <dgm:spPr/>
      <dgm:t>
        <a:bodyPr/>
        <a:lstStyle/>
        <a:p>
          <a:endParaRPr lang="en-IN"/>
        </a:p>
      </dgm:t>
    </dgm:pt>
    <dgm:pt modelId="{3E186662-371E-4DBA-8376-AD46A76951F9}" type="sibTrans" cxnId="{7886BFE0-D684-4D03-8301-8FCB24491F3D}">
      <dgm:prSet/>
      <dgm:spPr/>
      <dgm:t>
        <a:bodyPr/>
        <a:lstStyle/>
        <a:p>
          <a:endParaRPr lang="en-IN"/>
        </a:p>
      </dgm:t>
    </dgm:pt>
    <dgm:pt modelId="{F5C31372-FBFE-4458-9A4C-6BB5AA5A7EAC}" type="pres">
      <dgm:prSet presAssocID="{71B8959C-2834-41D9-9AE9-B33AE2544C5B}" presName="Name0" presStyleCnt="0">
        <dgm:presLayoutVars>
          <dgm:dir/>
          <dgm:animLvl val="lvl"/>
          <dgm:resizeHandles val="exact"/>
        </dgm:presLayoutVars>
      </dgm:prSet>
      <dgm:spPr/>
    </dgm:pt>
    <dgm:pt modelId="{51D9E6AA-43FE-4C7F-9980-F4377321F2E5}" type="pres">
      <dgm:prSet presAssocID="{55F9FD5A-E7DA-4AC3-B8AF-D5E56AF89A40}" presName="linNode" presStyleCnt="0"/>
      <dgm:spPr/>
    </dgm:pt>
    <dgm:pt modelId="{83FB3B12-264F-42E2-B68B-C8AB2A600122}" type="pres">
      <dgm:prSet presAssocID="{55F9FD5A-E7DA-4AC3-B8AF-D5E56AF89A40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8BA7347D-D51B-4ACB-8D00-8348DFD65A09}" type="pres">
      <dgm:prSet presAssocID="{BCFF69A4-3785-4BA3-9CF7-17D03093517D}" presName="sp" presStyleCnt="0"/>
      <dgm:spPr/>
    </dgm:pt>
    <dgm:pt modelId="{B5DC7F4E-D0C4-47BB-AED9-FE28ACED7F96}" type="pres">
      <dgm:prSet presAssocID="{0C12ACC9-4408-41AB-8E7A-609889929FD2}" presName="linNode" presStyleCnt="0"/>
      <dgm:spPr/>
    </dgm:pt>
    <dgm:pt modelId="{51AB8241-86A1-473B-827A-2E1FAF11C797}" type="pres">
      <dgm:prSet presAssocID="{0C12ACC9-4408-41AB-8E7A-609889929FD2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7EA673BF-0DC8-408F-9729-7DBDB0314236}" type="pres">
      <dgm:prSet presAssocID="{C2A1D4E2-CC88-4E1B-91CD-83C327B3738B}" presName="sp" presStyleCnt="0"/>
      <dgm:spPr/>
    </dgm:pt>
    <dgm:pt modelId="{A583198F-E6AC-40C0-9EB2-5802E3379B63}" type="pres">
      <dgm:prSet presAssocID="{EBA0B344-2E98-40C1-829C-0DAAE4816CE4}" presName="linNode" presStyleCnt="0"/>
      <dgm:spPr/>
    </dgm:pt>
    <dgm:pt modelId="{473AF811-5EF0-4F93-A1BE-D8EF811E8A08}" type="pres">
      <dgm:prSet presAssocID="{EBA0B344-2E98-40C1-829C-0DAAE4816CE4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4CCAB28B-9152-4F1E-94D9-714D295F1011}" type="pres">
      <dgm:prSet presAssocID="{9C4B7AD6-41F3-497B-90EB-EF28FE04EE4B}" presName="sp" presStyleCnt="0"/>
      <dgm:spPr/>
    </dgm:pt>
    <dgm:pt modelId="{35014F9D-1C2D-4ED8-A185-A6DF33BC9ED8}" type="pres">
      <dgm:prSet presAssocID="{A58A67F0-5F33-4E88-AC9C-925864CFA153}" presName="linNode" presStyleCnt="0"/>
      <dgm:spPr/>
    </dgm:pt>
    <dgm:pt modelId="{283D939D-589A-4A72-B6CB-6A3310F6F3CB}" type="pres">
      <dgm:prSet presAssocID="{A58A67F0-5F33-4E88-AC9C-925864CFA153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0327B163-DEF9-4A75-855C-4323694B0E54}" type="pres">
      <dgm:prSet presAssocID="{0E2F4C24-1BD9-453E-A62B-4E35D1E89FF8}" presName="sp" presStyleCnt="0"/>
      <dgm:spPr/>
    </dgm:pt>
    <dgm:pt modelId="{86D1B635-2FE7-443B-8424-DEED6CF94BA7}" type="pres">
      <dgm:prSet presAssocID="{9294739E-E445-4CD5-AF6B-B048ABC9A45C}" presName="linNode" presStyleCnt="0"/>
      <dgm:spPr/>
    </dgm:pt>
    <dgm:pt modelId="{3453EEA8-068F-4A62-875D-52A3551EC3D9}" type="pres">
      <dgm:prSet presAssocID="{9294739E-E445-4CD5-AF6B-B048ABC9A45C}" presName="parentText" presStyleLbl="node1" presStyleIdx="4" presStyleCnt="5">
        <dgm:presLayoutVars>
          <dgm:chMax val="1"/>
          <dgm:bulletEnabled val="1"/>
        </dgm:presLayoutVars>
      </dgm:prSet>
      <dgm:spPr/>
    </dgm:pt>
  </dgm:ptLst>
  <dgm:cxnLst>
    <dgm:cxn modelId="{9F343D17-D440-4789-A5A4-A48261377A2F}" type="presOf" srcId="{55F9FD5A-E7DA-4AC3-B8AF-D5E56AF89A40}" destId="{83FB3B12-264F-42E2-B68B-C8AB2A600122}" srcOrd="0" destOrd="0" presId="urn:microsoft.com/office/officeart/2005/8/layout/vList5"/>
    <dgm:cxn modelId="{4374A23C-1A63-440A-A463-67589314522B}" srcId="{71B8959C-2834-41D9-9AE9-B33AE2544C5B}" destId="{A58A67F0-5F33-4E88-AC9C-925864CFA153}" srcOrd="3" destOrd="0" parTransId="{1E3648F2-BC02-4BDB-B023-91AA24FE79A7}" sibTransId="{0E2F4C24-1BD9-453E-A62B-4E35D1E89FF8}"/>
    <dgm:cxn modelId="{57A88943-B01B-4CE4-BDF2-7F5B0BDF1B2A}" type="presOf" srcId="{9294739E-E445-4CD5-AF6B-B048ABC9A45C}" destId="{3453EEA8-068F-4A62-875D-52A3551EC3D9}" srcOrd="0" destOrd="0" presId="urn:microsoft.com/office/officeart/2005/8/layout/vList5"/>
    <dgm:cxn modelId="{82201455-BE66-4862-8A53-9DF540D7A0E0}" srcId="{71B8959C-2834-41D9-9AE9-B33AE2544C5B}" destId="{EBA0B344-2E98-40C1-829C-0DAAE4816CE4}" srcOrd="2" destOrd="0" parTransId="{06FDDE09-E8C1-4113-893F-DCD7E99C1D38}" sibTransId="{9C4B7AD6-41F3-497B-90EB-EF28FE04EE4B}"/>
    <dgm:cxn modelId="{8DCFF759-70E0-4F41-B466-976B27CBAB57}" type="presOf" srcId="{71B8959C-2834-41D9-9AE9-B33AE2544C5B}" destId="{F5C31372-FBFE-4458-9A4C-6BB5AA5A7EAC}" srcOrd="0" destOrd="0" presId="urn:microsoft.com/office/officeart/2005/8/layout/vList5"/>
    <dgm:cxn modelId="{D939659D-5D08-4DF5-B5DE-AF1C8C744ED0}" srcId="{71B8959C-2834-41D9-9AE9-B33AE2544C5B}" destId="{0C12ACC9-4408-41AB-8E7A-609889929FD2}" srcOrd="1" destOrd="0" parTransId="{EEEDF644-7E8C-4B0B-BD5B-42ED9582BCC7}" sibTransId="{C2A1D4E2-CC88-4E1B-91CD-83C327B3738B}"/>
    <dgm:cxn modelId="{A777A49E-8FD3-46A9-AF38-BFC718223E3C}" type="presOf" srcId="{A58A67F0-5F33-4E88-AC9C-925864CFA153}" destId="{283D939D-589A-4A72-B6CB-6A3310F6F3CB}" srcOrd="0" destOrd="0" presId="urn:microsoft.com/office/officeart/2005/8/layout/vList5"/>
    <dgm:cxn modelId="{9A93ABA8-E781-40FC-A9EF-A4E269E1EE1D}" type="presOf" srcId="{0C12ACC9-4408-41AB-8E7A-609889929FD2}" destId="{51AB8241-86A1-473B-827A-2E1FAF11C797}" srcOrd="0" destOrd="0" presId="urn:microsoft.com/office/officeart/2005/8/layout/vList5"/>
    <dgm:cxn modelId="{CD627BD6-3684-4CB7-B128-A3CC28850385}" srcId="{71B8959C-2834-41D9-9AE9-B33AE2544C5B}" destId="{55F9FD5A-E7DA-4AC3-B8AF-D5E56AF89A40}" srcOrd="0" destOrd="0" parTransId="{670D0647-CF1F-4A7B-B63A-376FC81EBFC3}" sibTransId="{BCFF69A4-3785-4BA3-9CF7-17D03093517D}"/>
    <dgm:cxn modelId="{7886BFE0-D684-4D03-8301-8FCB24491F3D}" srcId="{71B8959C-2834-41D9-9AE9-B33AE2544C5B}" destId="{9294739E-E445-4CD5-AF6B-B048ABC9A45C}" srcOrd="4" destOrd="0" parTransId="{ACA114C9-D2D4-48EA-88AE-909831D38C71}" sibTransId="{3E186662-371E-4DBA-8376-AD46A76951F9}"/>
    <dgm:cxn modelId="{550A79F8-A254-4D40-8399-294EFB83E94F}" type="presOf" srcId="{EBA0B344-2E98-40C1-829C-0DAAE4816CE4}" destId="{473AF811-5EF0-4F93-A1BE-D8EF811E8A08}" srcOrd="0" destOrd="0" presId="urn:microsoft.com/office/officeart/2005/8/layout/vList5"/>
    <dgm:cxn modelId="{A0E80CD5-FD1C-4855-9AAB-BFB98C069321}" type="presParOf" srcId="{F5C31372-FBFE-4458-9A4C-6BB5AA5A7EAC}" destId="{51D9E6AA-43FE-4C7F-9980-F4377321F2E5}" srcOrd="0" destOrd="0" presId="urn:microsoft.com/office/officeart/2005/8/layout/vList5"/>
    <dgm:cxn modelId="{944F2CC9-D6A4-4C2E-AB9A-A224EC28C73F}" type="presParOf" srcId="{51D9E6AA-43FE-4C7F-9980-F4377321F2E5}" destId="{83FB3B12-264F-42E2-B68B-C8AB2A600122}" srcOrd="0" destOrd="0" presId="urn:microsoft.com/office/officeart/2005/8/layout/vList5"/>
    <dgm:cxn modelId="{62780AEB-97EB-4EE9-9BBB-90728F337ACF}" type="presParOf" srcId="{F5C31372-FBFE-4458-9A4C-6BB5AA5A7EAC}" destId="{8BA7347D-D51B-4ACB-8D00-8348DFD65A09}" srcOrd="1" destOrd="0" presId="urn:microsoft.com/office/officeart/2005/8/layout/vList5"/>
    <dgm:cxn modelId="{3086D208-D312-4B85-8071-7C5282060216}" type="presParOf" srcId="{F5C31372-FBFE-4458-9A4C-6BB5AA5A7EAC}" destId="{B5DC7F4E-D0C4-47BB-AED9-FE28ACED7F96}" srcOrd="2" destOrd="0" presId="urn:microsoft.com/office/officeart/2005/8/layout/vList5"/>
    <dgm:cxn modelId="{44D8DB16-B634-4DE1-A3C4-9AC0909E4C9C}" type="presParOf" srcId="{B5DC7F4E-D0C4-47BB-AED9-FE28ACED7F96}" destId="{51AB8241-86A1-473B-827A-2E1FAF11C797}" srcOrd="0" destOrd="0" presId="urn:microsoft.com/office/officeart/2005/8/layout/vList5"/>
    <dgm:cxn modelId="{3E83D250-E880-442F-A3C8-7A93DF3D2879}" type="presParOf" srcId="{F5C31372-FBFE-4458-9A4C-6BB5AA5A7EAC}" destId="{7EA673BF-0DC8-408F-9729-7DBDB0314236}" srcOrd="3" destOrd="0" presId="urn:microsoft.com/office/officeart/2005/8/layout/vList5"/>
    <dgm:cxn modelId="{8E7E1B8C-5361-4365-98C3-B31353CD5AC2}" type="presParOf" srcId="{F5C31372-FBFE-4458-9A4C-6BB5AA5A7EAC}" destId="{A583198F-E6AC-40C0-9EB2-5802E3379B63}" srcOrd="4" destOrd="0" presId="urn:microsoft.com/office/officeart/2005/8/layout/vList5"/>
    <dgm:cxn modelId="{06EAEDD9-8FAD-41FD-9E1F-27367A58D1C0}" type="presParOf" srcId="{A583198F-E6AC-40C0-9EB2-5802E3379B63}" destId="{473AF811-5EF0-4F93-A1BE-D8EF811E8A08}" srcOrd="0" destOrd="0" presId="urn:microsoft.com/office/officeart/2005/8/layout/vList5"/>
    <dgm:cxn modelId="{FA68BDC1-192E-4FE3-9D2E-F7CCB39FE84A}" type="presParOf" srcId="{F5C31372-FBFE-4458-9A4C-6BB5AA5A7EAC}" destId="{4CCAB28B-9152-4F1E-94D9-714D295F1011}" srcOrd="5" destOrd="0" presId="urn:microsoft.com/office/officeart/2005/8/layout/vList5"/>
    <dgm:cxn modelId="{7E029B90-1195-4FAC-B803-4A5AD6025750}" type="presParOf" srcId="{F5C31372-FBFE-4458-9A4C-6BB5AA5A7EAC}" destId="{35014F9D-1C2D-4ED8-A185-A6DF33BC9ED8}" srcOrd="6" destOrd="0" presId="urn:microsoft.com/office/officeart/2005/8/layout/vList5"/>
    <dgm:cxn modelId="{1025182C-C2F5-4A87-8E3E-4E84A0A10418}" type="presParOf" srcId="{35014F9D-1C2D-4ED8-A185-A6DF33BC9ED8}" destId="{283D939D-589A-4A72-B6CB-6A3310F6F3CB}" srcOrd="0" destOrd="0" presId="urn:microsoft.com/office/officeart/2005/8/layout/vList5"/>
    <dgm:cxn modelId="{06EBEB86-C281-4B4C-915E-C42BE50EF261}" type="presParOf" srcId="{F5C31372-FBFE-4458-9A4C-6BB5AA5A7EAC}" destId="{0327B163-DEF9-4A75-855C-4323694B0E54}" srcOrd="7" destOrd="0" presId="urn:microsoft.com/office/officeart/2005/8/layout/vList5"/>
    <dgm:cxn modelId="{C9F5C123-F458-4FB4-A410-6DD49394C304}" type="presParOf" srcId="{F5C31372-FBFE-4458-9A4C-6BB5AA5A7EAC}" destId="{86D1B635-2FE7-443B-8424-DEED6CF94BA7}" srcOrd="8" destOrd="0" presId="urn:microsoft.com/office/officeart/2005/8/layout/vList5"/>
    <dgm:cxn modelId="{7C8CF93D-614F-4637-9407-99188DE8B5B6}" type="presParOf" srcId="{86D1B635-2FE7-443B-8424-DEED6CF94BA7}" destId="{3453EEA8-068F-4A62-875D-52A3551EC3D9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FB3B12-264F-42E2-B68B-C8AB2A600122}">
      <dsp:nvSpPr>
        <dsp:cNvPr id="0" name=""/>
        <dsp:cNvSpPr/>
      </dsp:nvSpPr>
      <dsp:spPr>
        <a:xfrm>
          <a:off x="3291839" y="2195"/>
          <a:ext cx="3703318" cy="95977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✔ HUL dominates in market reach.</a:t>
          </a:r>
        </a:p>
      </dsp:txBody>
      <dsp:txXfrm>
        <a:off x="3338691" y="49047"/>
        <a:ext cx="3609614" cy="866066"/>
      </dsp:txXfrm>
    </dsp:sp>
    <dsp:sp modelId="{51AB8241-86A1-473B-827A-2E1FAF11C797}">
      <dsp:nvSpPr>
        <dsp:cNvPr id="0" name=""/>
        <dsp:cNvSpPr/>
      </dsp:nvSpPr>
      <dsp:spPr>
        <a:xfrm>
          <a:off x="3291839" y="1009954"/>
          <a:ext cx="3703318" cy="959770"/>
        </a:xfrm>
        <a:prstGeom prst="roundRect">
          <a:avLst/>
        </a:prstGeom>
        <a:gradFill rotWithShape="0">
          <a:gsLst>
            <a:gs pos="0">
              <a:schemeClr val="accent4">
                <a:hueOff val="-247353"/>
                <a:satOff val="-1423"/>
                <a:lumOff val="-1128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4">
                <a:hueOff val="-247353"/>
                <a:satOff val="-1423"/>
                <a:lumOff val="-1128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4">
                <a:hueOff val="-247353"/>
                <a:satOff val="-1423"/>
                <a:lumOff val="-1128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✔ Nestlé generates higher shareholder returns.</a:t>
          </a:r>
        </a:p>
      </dsp:txBody>
      <dsp:txXfrm>
        <a:off x="3338691" y="1056806"/>
        <a:ext cx="3609614" cy="866066"/>
      </dsp:txXfrm>
    </dsp:sp>
    <dsp:sp modelId="{473AF811-5EF0-4F93-A1BE-D8EF811E8A08}">
      <dsp:nvSpPr>
        <dsp:cNvPr id="0" name=""/>
        <dsp:cNvSpPr/>
      </dsp:nvSpPr>
      <dsp:spPr>
        <a:xfrm>
          <a:off x="3291839" y="2017713"/>
          <a:ext cx="3703318" cy="959770"/>
        </a:xfrm>
        <a:prstGeom prst="roundRect">
          <a:avLst/>
        </a:prstGeom>
        <a:gradFill rotWithShape="0">
          <a:gsLst>
            <a:gs pos="0">
              <a:schemeClr val="accent4">
                <a:hueOff val="-494707"/>
                <a:satOff val="-2845"/>
                <a:lumOff val="-2255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4">
                <a:hueOff val="-494707"/>
                <a:satOff val="-2845"/>
                <a:lumOff val="-2255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4">
                <a:hueOff val="-494707"/>
                <a:satOff val="-2845"/>
                <a:lumOff val="-2255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✔ Both companies maintain low financial risk.</a:t>
          </a:r>
        </a:p>
      </dsp:txBody>
      <dsp:txXfrm>
        <a:off x="3338691" y="2064565"/>
        <a:ext cx="3609614" cy="866066"/>
      </dsp:txXfrm>
    </dsp:sp>
    <dsp:sp modelId="{283D939D-589A-4A72-B6CB-6A3310F6F3CB}">
      <dsp:nvSpPr>
        <dsp:cNvPr id="0" name=""/>
        <dsp:cNvSpPr/>
      </dsp:nvSpPr>
      <dsp:spPr>
        <a:xfrm>
          <a:off x="3291839" y="3025472"/>
          <a:ext cx="3703318" cy="959770"/>
        </a:xfrm>
        <a:prstGeom prst="roundRect">
          <a:avLst/>
        </a:prstGeom>
        <a:gradFill rotWithShape="0">
          <a:gsLst>
            <a:gs pos="0">
              <a:schemeClr val="accent4">
                <a:hueOff val="-742060"/>
                <a:satOff val="-4268"/>
                <a:lumOff val="-3383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4">
                <a:hueOff val="-742060"/>
                <a:satOff val="-4268"/>
                <a:lumOff val="-3383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4">
                <a:hueOff val="-742060"/>
                <a:satOff val="-4268"/>
                <a:lumOff val="-3383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✔ HUL's diversified portfolio reduces business risk.</a:t>
          </a:r>
        </a:p>
      </dsp:txBody>
      <dsp:txXfrm>
        <a:off x="3338691" y="3072324"/>
        <a:ext cx="3609614" cy="866066"/>
      </dsp:txXfrm>
    </dsp:sp>
    <dsp:sp modelId="{3453EEA8-068F-4A62-875D-52A3551EC3D9}">
      <dsp:nvSpPr>
        <dsp:cNvPr id="0" name=""/>
        <dsp:cNvSpPr/>
      </dsp:nvSpPr>
      <dsp:spPr>
        <a:xfrm>
          <a:off x="3291839" y="4033232"/>
          <a:ext cx="3703318" cy="959770"/>
        </a:xfrm>
        <a:prstGeom prst="roundRect">
          <a:avLst/>
        </a:prstGeom>
        <a:gradFill rotWithShape="0">
          <a:gsLst>
            <a:gs pos="0">
              <a:schemeClr val="accent4">
                <a:hueOff val="-989414"/>
                <a:satOff val="-5690"/>
                <a:lumOff val="-4511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4">
                <a:hueOff val="-989414"/>
                <a:satOff val="-5690"/>
                <a:lumOff val="-4511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4">
                <a:hueOff val="-989414"/>
                <a:satOff val="-5690"/>
                <a:lumOff val="-4511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✔ Nestlé's focused strategy improves profitability.</a:t>
          </a:r>
        </a:p>
      </dsp:txBody>
      <dsp:txXfrm>
        <a:off x="3338691" y="4080084"/>
        <a:ext cx="3609614" cy="8660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B8DFF5-49C5-4D9E-8BC2-FEA8B67CCDA1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2DAF64-1125-4347-9E1D-7E07D826C9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8411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DAF64-1125-4347-9E1D-7E07D826C98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796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A3DA7-E33E-4574-BE44-7865D38DAE3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8490-296D-4655-A162-20C8B1D81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5400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A3DA7-E33E-4574-BE44-7865D38DAE3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8490-296D-4655-A162-20C8B1D81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542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A3DA7-E33E-4574-BE44-7865D38DAE3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8490-296D-4655-A162-20C8B1D81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2300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A3DA7-E33E-4574-BE44-7865D38DAE3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8490-296D-4655-A162-20C8B1D81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432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A3DA7-E33E-4574-BE44-7865D38DAE3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8490-296D-4655-A162-20C8B1D81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059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A3DA7-E33E-4574-BE44-7865D38DAE3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8490-296D-4655-A162-20C8B1D81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934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A3DA7-E33E-4574-BE44-7865D38DAE3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8490-296D-4655-A162-20C8B1D81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4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A3DA7-E33E-4574-BE44-7865D38DAE3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8490-296D-4655-A162-20C8B1D81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061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A3DA7-E33E-4574-BE44-7865D38DAE3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8490-296D-4655-A162-20C8B1D81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116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A3DA7-E33E-4574-BE44-7865D38DAE3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8490-296D-4655-A162-20C8B1D81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174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A3DA7-E33E-4574-BE44-7865D38DAE3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8490-296D-4655-A162-20C8B1D81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9416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A3DA7-E33E-4574-BE44-7865D38DAE3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8490-296D-4655-A162-20C8B1D81BA3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758844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A3DA7-E33E-4574-BE44-7865D38DAE3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8490-296D-4655-A162-20C8B1D81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5214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A3DA7-E33E-4574-BE44-7865D38DAE3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8490-296D-4655-A162-20C8B1D81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69251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A3DA7-E33E-4574-BE44-7865D38DAE3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8490-296D-4655-A162-20C8B1D81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34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A3DA7-E33E-4574-BE44-7865D38DAE3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8490-296D-4655-A162-20C8B1D81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6691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A3DA7-E33E-4574-BE44-7865D38DAE3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8490-296D-4655-A162-20C8B1D81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120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CFA3DA7-E33E-4574-BE44-7865D38DAE3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71B78490-296D-4655-A162-20C8B1D81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636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3B891A-98A3-1C97-939F-BBCEF0C55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69"/>
            <a:ext cx="12192000" cy="6829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252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DC17D14-1B02-23B6-AEFB-05CCC0549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231" y="665028"/>
            <a:ext cx="6264973" cy="61929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288A13-E47C-99CE-CCE9-61640F1F916A}"/>
              </a:ext>
            </a:extLst>
          </p:cNvPr>
          <p:cNvSpPr txBox="1"/>
          <p:nvPr/>
        </p:nvSpPr>
        <p:spPr>
          <a:xfrm>
            <a:off x="196948" y="844281"/>
            <a:ext cx="5730079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b="0" u="none" strike="noStrike" dirty="0">
                <a:effectLst/>
                <a:latin typeface="Google Sans"/>
              </a:rPr>
              <a:t>India is the world's </a:t>
            </a:r>
            <a:r>
              <a:rPr lang="en-US" b="1" u="none" strike="noStrike" dirty="0">
                <a:effectLst/>
                <a:latin typeface="Google Sans"/>
              </a:rPr>
              <a:t>4th largest</a:t>
            </a:r>
            <a:r>
              <a:rPr lang="en-US" b="0" u="none" strike="noStrike" dirty="0">
                <a:effectLst/>
                <a:latin typeface="Google Sans"/>
              </a:rPr>
              <a:t> FMCG market, contributing approximately </a:t>
            </a:r>
            <a:r>
              <a:rPr lang="en-US" b="1" u="none" strike="noStrike" dirty="0">
                <a:effectLst/>
                <a:latin typeface="Google Sans"/>
              </a:rPr>
              <a:t>3% of national GDP</a:t>
            </a:r>
            <a:r>
              <a:rPr lang="en-US" b="0" u="none" strike="noStrike" dirty="0">
                <a:effectLst/>
                <a:latin typeface="Google Sans"/>
              </a:rPr>
              <a:t>. The sector provides livelihood to over </a:t>
            </a:r>
            <a:r>
              <a:rPr lang="en-US" b="1" u="none" strike="noStrike" dirty="0">
                <a:effectLst/>
                <a:latin typeface="Google Sans"/>
              </a:rPr>
              <a:t>3 million people</a:t>
            </a:r>
            <a:r>
              <a:rPr lang="en-US" b="0" u="none" strike="noStrike" dirty="0">
                <a:effectLst/>
                <a:latin typeface="Google Sans"/>
              </a:rPr>
              <a:t> through direct and indirect employment, making it one of India's most critical economic engines.</a:t>
            </a:r>
          </a:p>
          <a:p>
            <a:pPr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b="0" u="none" strike="noStrike" dirty="0">
                <a:effectLst/>
                <a:latin typeface="Google Sans"/>
              </a:rPr>
              <a:t>The market spans four primary segments: </a:t>
            </a:r>
            <a:r>
              <a:rPr lang="en-US" b="1" u="none" strike="noStrike" dirty="0">
                <a:effectLst/>
                <a:latin typeface="Google Sans"/>
              </a:rPr>
              <a:t>Household Care</a:t>
            </a:r>
            <a:r>
              <a:rPr lang="en-US" b="0" u="none" strike="noStrike" dirty="0">
                <a:effectLst/>
                <a:latin typeface="Google Sans"/>
              </a:rPr>
              <a:t> (~45% share, essentials), </a:t>
            </a:r>
            <a:r>
              <a:rPr lang="en-US" b="1" u="none" strike="noStrike" dirty="0">
                <a:effectLst/>
                <a:latin typeface="Google Sans"/>
              </a:rPr>
              <a:t>Personal Care</a:t>
            </a:r>
            <a:r>
              <a:rPr lang="en-US" b="0" u="none" strike="noStrike" dirty="0">
                <a:effectLst/>
                <a:latin typeface="Google Sans"/>
              </a:rPr>
              <a:t> (~31% share, grooming), </a:t>
            </a:r>
            <a:r>
              <a:rPr lang="en-US" b="1" u="none" strike="noStrike" dirty="0">
                <a:effectLst/>
                <a:latin typeface="Google Sans"/>
              </a:rPr>
              <a:t>Food and Beverages</a:t>
            </a:r>
            <a:r>
              <a:rPr lang="en-US" b="0" u="none" strike="noStrike" dirty="0">
                <a:effectLst/>
                <a:latin typeface="Google Sans"/>
              </a:rPr>
              <a:t> (~22% share, processed foods), and </a:t>
            </a:r>
            <a:r>
              <a:rPr lang="en-US" b="1" u="none" strike="noStrike" dirty="0">
                <a:effectLst/>
                <a:latin typeface="Google Sans"/>
              </a:rPr>
              <a:t>Healthcare</a:t>
            </a:r>
            <a:r>
              <a:rPr lang="en-US" b="0" u="none" strike="noStrike" dirty="0">
                <a:effectLst/>
                <a:latin typeface="Google Sans"/>
              </a:rPr>
              <a:t> (urban/rural wellness). Rising incomes, urbanization, and digital adoption are accelerating demand.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u="none" strike="noStrike" dirty="0">
                <a:effectLst/>
                <a:latin typeface="Google Sans"/>
              </a:rPr>
              <a:t>~US$ 160 Billion</a:t>
            </a:r>
            <a:r>
              <a:rPr lang="en-US" b="0" u="none" strike="noStrike" dirty="0">
                <a:effectLst/>
                <a:latin typeface="Google Sans"/>
              </a:rPr>
              <a:t> total annual market size (2024E), growing at strong CAGR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u="none" strike="noStrike" dirty="0">
                <a:effectLst/>
                <a:latin typeface="Google Sans"/>
              </a:rPr>
              <a:t>~3% contribution</a:t>
            </a:r>
            <a:r>
              <a:rPr lang="en-US" b="0" u="none" strike="noStrike" dirty="0">
                <a:effectLst/>
                <a:latin typeface="Google Sans"/>
              </a:rPr>
              <a:t> to India's GDP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u="none" strike="noStrike" dirty="0">
                <a:effectLst/>
                <a:latin typeface="Google Sans"/>
              </a:rPr>
              <a:t>3M+</a:t>
            </a:r>
            <a:r>
              <a:rPr lang="en-US" b="0" u="none" strike="noStrike" dirty="0">
                <a:effectLst/>
                <a:latin typeface="Google Sans"/>
              </a:rPr>
              <a:t> direct and indirect jobs supported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u="none" strike="noStrike" dirty="0">
                <a:effectLst/>
                <a:latin typeface="Google Sans"/>
              </a:rPr>
              <a:t>4th largest</a:t>
            </a:r>
            <a:r>
              <a:rPr lang="en-US" b="0" u="none" strike="noStrike" dirty="0">
                <a:effectLst/>
                <a:latin typeface="Google Sans"/>
              </a:rPr>
              <a:t> sector in the Indian economy.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287C72-2AFF-E175-0B13-1EAE8583A566}"/>
              </a:ext>
            </a:extLst>
          </p:cNvPr>
          <p:cNvSpPr txBox="1"/>
          <p:nvPr/>
        </p:nvSpPr>
        <p:spPr>
          <a:xfrm>
            <a:off x="196948" y="401858"/>
            <a:ext cx="61405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India's FMCG Sector: A High-Growth Consumer Engine</a:t>
            </a:r>
          </a:p>
        </p:txBody>
      </p:sp>
    </p:spTree>
    <p:extLst>
      <p:ext uri="{BB962C8B-B14F-4D97-AF65-F5344CB8AC3E}">
        <p14:creationId xmlns:p14="http://schemas.microsoft.com/office/powerpoint/2010/main" val="3488223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7C448-CB33-6067-53E0-01F6278D3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458" y="787832"/>
            <a:ext cx="10515600" cy="563343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 at a Glance</a:t>
            </a:r>
            <a:br>
              <a:rPr lang="en-US" dirty="0"/>
            </a:br>
            <a:endParaRPr lang="en-IN" dirty="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5280B6DE-FBD7-EF4E-DC0B-0EAD743A2C00}"/>
              </a:ext>
            </a:extLst>
          </p:cNvPr>
          <p:cNvSpPr/>
          <p:nvPr/>
        </p:nvSpPr>
        <p:spPr>
          <a:xfrm>
            <a:off x="388118" y="295932"/>
            <a:ext cx="1595427" cy="296889"/>
          </a:xfrm>
          <a:prstGeom prst="roundRect">
            <a:avLst>
              <a:gd name="adj" fmla="val 47391"/>
            </a:avLst>
          </a:prstGeom>
          <a:solidFill>
            <a:srgbClr val="FFD7CC"/>
          </a:solidFill>
          <a:ln/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FC6E1A-BAF5-35A4-856F-D9F7BBD07CDC}"/>
              </a:ext>
            </a:extLst>
          </p:cNvPr>
          <p:cNvSpPr txBox="1"/>
          <p:nvPr/>
        </p:nvSpPr>
        <p:spPr>
          <a:xfrm>
            <a:off x="359982" y="338133"/>
            <a:ext cx="1792374" cy="254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COMPANY PROFILES</a:t>
            </a:r>
            <a:endParaRPr lang="en-US" sz="1100" b="1" dirty="0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7AE1D3FE-92D6-C1CA-9E0C-0BD24EB3E132}"/>
              </a:ext>
            </a:extLst>
          </p:cNvPr>
          <p:cNvSpPr/>
          <p:nvPr/>
        </p:nvSpPr>
        <p:spPr>
          <a:xfrm flipV="1">
            <a:off x="458458" y="1759565"/>
            <a:ext cx="5435904" cy="45719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C1F68D-2FB6-993C-36D8-23EEB76C48D4}"/>
              </a:ext>
            </a:extLst>
          </p:cNvPr>
          <p:cNvSpPr txBox="1"/>
          <p:nvPr/>
        </p:nvSpPr>
        <p:spPr>
          <a:xfrm>
            <a:off x="683455" y="1417104"/>
            <a:ext cx="6098344" cy="367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Hindustan Unilever Ltd (HUL)</a:t>
            </a:r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1EEDE9-D37F-1C94-C41E-EEF551EF49FD}"/>
              </a:ext>
            </a:extLst>
          </p:cNvPr>
          <p:cNvSpPr txBox="1"/>
          <p:nvPr/>
        </p:nvSpPr>
        <p:spPr>
          <a:xfrm>
            <a:off x="6613922" y="1426068"/>
            <a:ext cx="6098344" cy="367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Nestle India</a:t>
            </a:r>
            <a:endParaRPr lang="en-US" sz="180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FC6397AD-54B0-AE65-3B59-3EB4A0071BEB}"/>
              </a:ext>
            </a:extLst>
          </p:cNvPr>
          <p:cNvSpPr/>
          <p:nvPr/>
        </p:nvSpPr>
        <p:spPr>
          <a:xfrm flipV="1">
            <a:off x="6406746" y="1758368"/>
            <a:ext cx="5435904" cy="45719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C97A5D65-EC18-514C-B51A-3A8654C6AB53}"/>
              </a:ext>
            </a:extLst>
          </p:cNvPr>
          <p:cNvSpPr/>
          <p:nvPr/>
        </p:nvSpPr>
        <p:spPr>
          <a:xfrm>
            <a:off x="847809" y="1980442"/>
            <a:ext cx="3976613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Founded &amp; HQ</a:t>
            </a:r>
            <a:endParaRPr lang="en-US" sz="1600" b="1" dirty="0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74AAD554-B1D9-D114-652C-5A3914F4C374}"/>
              </a:ext>
            </a:extLst>
          </p:cNvPr>
          <p:cNvSpPr/>
          <p:nvPr/>
        </p:nvSpPr>
        <p:spPr>
          <a:xfrm>
            <a:off x="847811" y="2302552"/>
            <a:ext cx="3976613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1933 | Mumbai | Parent: Unilever PLC (UK)</a:t>
            </a:r>
            <a:endParaRPr lang="en-US" sz="1600" dirty="0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423395BA-C84F-9624-FDB4-3D3EBC424D83}"/>
              </a:ext>
            </a:extLst>
          </p:cNvPr>
          <p:cNvSpPr/>
          <p:nvPr/>
        </p:nvSpPr>
        <p:spPr>
          <a:xfrm>
            <a:off x="805603" y="2828686"/>
            <a:ext cx="3976613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Segments</a:t>
            </a:r>
            <a:endParaRPr lang="en-US" sz="1600" b="1" dirty="0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434231C1-6088-B3D7-65E7-1C45359C89EC}"/>
              </a:ext>
            </a:extLst>
          </p:cNvPr>
          <p:cNvSpPr/>
          <p:nvPr/>
        </p:nvSpPr>
        <p:spPr>
          <a:xfrm>
            <a:off x="847810" y="3093881"/>
            <a:ext cx="3976613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Home Care · Beauty &amp; Personal Care ·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Foods &amp; Refreshment</a:t>
            </a:r>
            <a:endParaRPr lang="en-US" sz="1600" dirty="0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172CA69D-0465-CFDA-E2BE-C035F2C71716}"/>
              </a:ext>
            </a:extLst>
          </p:cNvPr>
          <p:cNvSpPr/>
          <p:nvPr/>
        </p:nvSpPr>
        <p:spPr>
          <a:xfrm>
            <a:off x="847809" y="3944896"/>
            <a:ext cx="3976613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Portfolio</a:t>
            </a:r>
            <a:endParaRPr lang="en-US" sz="1600" b="1" dirty="0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16EF5F57-4181-F19C-E486-B0A34125C644}"/>
              </a:ext>
            </a:extLst>
          </p:cNvPr>
          <p:cNvSpPr/>
          <p:nvPr/>
        </p:nvSpPr>
        <p:spPr>
          <a:xfrm>
            <a:off x="847810" y="4229503"/>
            <a:ext cx="3976613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50+ brands — Surf Excel, Dove, Lux, Lifebuoy,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Horlicks, Knorr, Lakme, Pepsodent</a:t>
            </a:r>
            <a:endParaRPr lang="en-US" sz="1600" dirty="0"/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EE744A61-1A90-C515-7BD4-EBF0FADC49F3}"/>
              </a:ext>
            </a:extLst>
          </p:cNvPr>
          <p:cNvSpPr/>
          <p:nvPr/>
        </p:nvSpPr>
        <p:spPr>
          <a:xfrm>
            <a:off x="847808" y="5004266"/>
            <a:ext cx="3976613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Cap (FY24)</a:t>
            </a:r>
            <a:endParaRPr lang="en-US" sz="1600" b="1" dirty="0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98FE2D61-22ED-DEB5-0289-6FADFA69ABB0}"/>
              </a:ext>
            </a:extLst>
          </p:cNvPr>
          <p:cNvSpPr/>
          <p:nvPr/>
        </p:nvSpPr>
        <p:spPr>
          <a:xfrm>
            <a:off x="847810" y="5318911"/>
            <a:ext cx="3976613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</a:t>
            </a:r>
            <a:r>
              <a:rPr lang="en-US" sz="16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₹5.5 Lakh Crore</a:t>
            </a: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| Revenue (FY24): ~₹62,000 Cr</a:t>
            </a:r>
            <a:endParaRPr lang="en-US" sz="1600" dirty="0"/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E57E4B22-44AF-E149-406B-D06B778A0767}"/>
              </a:ext>
            </a:extLst>
          </p:cNvPr>
          <p:cNvSpPr/>
          <p:nvPr/>
        </p:nvSpPr>
        <p:spPr>
          <a:xfrm>
            <a:off x="847808" y="5826565"/>
            <a:ext cx="3976613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Distribution Scale</a:t>
            </a:r>
            <a:endParaRPr lang="en-US" sz="1600" b="1" dirty="0"/>
          </a:p>
        </p:txBody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195BADC4-4ECB-4508-CF6B-6C8475739399}"/>
              </a:ext>
            </a:extLst>
          </p:cNvPr>
          <p:cNvSpPr/>
          <p:nvPr/>
        </p:nvSpPr>
        <p:spPr>
          <a:xfrm>
            <a:off x="847808" y="6094840"/>
            <a:ext cx="3976613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9M+ retail outlets</a:t>
            </a: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; rural reach spanning 700,000+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villages across India</a:t>
            </a:r>
            <a:endParaRPr lang="en-US" sz="1600" dirty="0"/>
          </a:p>
        </p:txBody>
      </p:sp>
      <p:sp>
        <p:nvSpPr>
          <p:cNvPr id="48" name="Text 20">
            <a:extLst>
              <a:ext uri="{FF2B5EF4-FFF2-40B4-BE49-F238E27FC236}">
                <a16:creationId xmlns:a16="http://schemas.microsoft.com/office/drawing/2014/main" id="{5F7B749D-40AA-06AD-CF3C-74D220910F1B}"/>
              </a:ext>
            </a:extLst>
          </p:cNvPr>
          <p:cNvSpPr/>
          <p:nvPr/>
        </p:nvSpPr>
        <p:spPr>
          <a:xfrm>
            <a:off x="6640888" y="2077839"/>
            <a:ext cx="3976613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Founded &amp; HQ</a:t>
            </a:r>
            <a:endParaRPr lang="en-US" sz="1600" b="1" dirty="0"/>
          </a:p>
        </p:txBody>
      </p:sp>
      <p:sp>
        <p:nvSpPr>
          <p:cNvPr id="49" name="Text 21">
            <a:extLst>
              <a:ext uri="{FF2B5EF4-FFF2-40B4-BE49-F238E27FC236}">
                <a16:creationId xmlns:a16="http://schemas.microsoft.com/office/drawing/2014/main" id="{D9A0C4AA-7B69-C5B4-6635-2186B9773D68}"/>
              </a:ext>
            </a:extLst>
          </p:cNvPr>
          <p:cNvSpPr/>
          <p:nvPr/>
        </p:nvSpPr>
        <p:spPr>
          <a:xfrm>
            <a:off x="6640888" y="2347561"/>
            <a:ext cx="3976613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1961 | Gurugram | Parent: Nestle S.A. (Switzerland)</a:t>
            </a:r>
            <a:endParaRPr lang="en-US" sz="1600" dirty="0"/>
          </a:p>
        </p:txBody>
      </p:sp>
      <p:sp>
        <p:nvSpPr>
          <p:cNvPr id="51" name="Text 23">
            <a:extLst>
              <a:ext uri="{FF2B5EF4-FFF2-40B4-BE49-F238E27FC236}">
                <a16:creationId xmlns:a16="http://schemas.microsoft.com/office/drawing/2014/main" id="{FAD48508-B3B8-77BE-64D2-5E540B5E6FF6}"/>
              </a:ext>
            </a:extLst>
          </p:cNvPr>
          <p:cNvSpPr/>
          <p:nvPr/>
        </p:nvSpPr>
        <p:spPr>
          <a:xfrm>
            <a:off x="6598683" y="2831566"/>
            <a:ext cx="3976613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Segments</a:t>
            </a:r>
            <a:endParaRPr lang="en-US" sz="1600" b="1" dirty="0"/>
          </a:p>
        </p:txBody>
      </p:sp>
      <p:sp>
        <p:nvSpPr>
          <p:cNvPr id="52" name="Text 24">
            <a:extLst>
              <a:ext uri="{FF2B5EF4-FFF2-40B4-BE49-F238E27FC236}">
                <a16:creationId xmlns:a16="http://schemas.microsoft.com/office/drawing/2014/main" id="{DD36A3FD-E5FC-76AF-8E59-8CA57E5C42D5}"/>
              </a:ext>
            </a:extLst>
          </p:cNvPr>
          <p:cNvSpPr/>
          <p:nvPr/>
        </p:nvSpPr>
        <p:spPr>
          <a:xfrm>
            <a:off x="6613926" y="3109834"/>
            <a:ext cx="3976613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Milk Products &amp; Nutrition · Prepared Dishes ·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Confectionery · Beverages</a:t>
            </a:r>
            <a:endParaRPr lang="en-US" sz="1600" dirty="0"/>
          </a:p>
        </p:txBody>
      </p:sp>
      <p:sp>
        <p:nvSpPr>
          <p:cNvPr id="54" name="Text 26">
            <a:extLst>
              <a:ext uri="{FF2B5EF4-FFF2-40B4-BE49-F238E27FC236}">
                <a16:creationId xmlns:a16="http://schemas.microsoft.com/office/drawing/2014/main" id="{803239DA-90A8-6CBA-FE6B-BCA52283CB38}"/>
              </a:ext>
            </a:extLst>
          </p:cNvPr>
          <p:cNvSpPr/>
          <p:nvPr/>
        </p:nvSpPr>
        <p:spPr>
          <a:xfrm>
            <a:off x="6613923" y="3962439"/>
            <a:ext cx="3976613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Portfolio</a:t>
            </a:r>
            <a:endParaRPr lang="en-US" sz="1600" b="1" dirty="0"/>
          </a:p>
        </p:txBody>
      </p:sp>
      <p:sp>
        <p:nvSpPr>
          <p:cNvPr id="55" name="Text 27">
            <a:extLst>
              <a:ext uri="{FF2B5EF4-FFF2-40B4-BE49-F238E27FC236}">
                <a16:creationId xmlns:a16="http://schemas.microsoft.com/office/drawing/2014/main" id="{A0C4C203-1EDB-93AA-C9C7-28335F4218BD}"/>
              </a:ext>
            </a:extLst>
          </p:cNvPr>
          <p:cNvSpPr/>
          <p:nvPr/>
        </p:nvSpPr>
        <p:spPr>
          <a:xfrm>
            <a:off x="6640888" y="4254692"/>
            <a:ext cx="3976613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Maggi · KitKat · Munch · Nescafé · Milkmaid ·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Nestlé NAN · Milo</a:t>
            </a:r>
            <a:endParaRPr lang="en-US" sz="1600" dirty="0"/>
          </a:p>
        </p:txBody>
      </p:sp>
      <p:sp>
        <p:nvSpPr>
          <p:cNvPr id="57" name="Text 29">
            <a:extLst>
              <a:ext uri="{FF2B5EF4-FFF2-40B4-BE49-F238E27FC236}">
                <a16:creationId xmlns:a16="http://schemas.microsoft.com/office/drawing/2014/main" id="{16FB7F89-AFA5-5731-4E2B-CE1355D4BDE2}"/>
              </a:ext>
            </a:extLst>
          </p:cNvPr>
          <p:cNvSpPr/>
          <p:nvPr/>
        </p:nvSpPr>
        <p:spPr>
          <a:xfrm>
            <a:off x="6640888" y="5097906"/>
            <a:ext cx="3976613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Cap (FY24)</a:t>
            </a:r>
            <a:endParaRPr lang="en-US" sz="1600" b="1" dirty="0"/>
          </a:p>
        </p:txBody>
      </p:sp>
      <p:sp>
        <p:nvSpPr>
          <p:cNvPr id="58" name="Text 30">
            <a:extLst>
              <a:ext uri="{FF2B5EF4-FFF2-40B4-BE49-F238E27FC236}">
                <a16:creationId xmlns:a16="http://schemas.microsoft.com/office/drawing/2014/main" id="{ADD1BC1D-AE96-2937-0478-1205DFD074F4}"/>
              </a:ext>
            </a:extLst>
          </p:cNvPr>
          <p:cNvSpPr/>
          <p:nvPr/>
        </p:nvSpPr>
        <p:spPr>
          <a:xfrm>
            <a:off x="6613925" y="5365240"/>
            <a:ext cx="3976613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</a:t>
            </a:r>
            <a:r>
              <a:rPr lang="en-US" sz="16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₹2.3 Lakh Crore</a:t>
            </a: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| Revenue (FY24): ~₹17,000 Cr</a:t>
            </a:r>
            <a:endParaRPr lang="en-US" sz="1600" dirty="0"/>
          </a:p>
        </p:txBody>
      </p:sp>
      <p:sp>
        <p:nvSpPr>
          <p:cNvPr id="60" name="Text 32">
            <a:extLst>
              <a:ext uri="{FF2B5EF4-FFF2-40B4-BE49-F238E27FC236}">
                <a16:creationId xmlns:a16="http://schemas.microsoft.com/office/drawing/2014/main" id="{72EB8E0F-98E7-E782-24B6-D30B698A44F0}"/>
              </a:ext>
            </a:extLst>
          </p:cNvPr>
          <p:cNvSpPr/>
          <p:nvPr/>
        </p:nvSpPr>
        <p:spPr>
          <a:xfrm>
            <a:off x="6613924" y="5847521"/>
            <a:ext cx="3976613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Distribution Scale</a:t>
            </a:r>
            <a:endParaRPr lang="en-US" sz="1600" b="1" dirty="0"/>
          </a:p>
        </p:txBody>
      </p:sp>
      <p:sp>
        <p:nvSpPr>
          <p:cNvPr id="61" name="Text 33">
            <a:extLst>
              <a:ext uri="{FF2B5EF4-FFF2-40B4-BE49-F238E27FC236}">
                <a16:creationId xmlns:a16="http://schemas.microsoft.com/office/drawing/2014/main" id="{630F3EE0-64D5-83A6-2030-37EA6B50C2E0}"/>
              </a:ext>
            </a:extLst>
          </p:cNvPr>
          <p:cNvSpPr/>
          <p:nvPr/>
        </p:nvSpPr>
        <p:spPr>
          <a:xfrm>
            <a:off x="6613923" y="6147296"/>
            <a:ext cx="3976613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5M+ outlets</a:t>
            </a: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; strong urban and semi-urban penetration;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limited rural depth</a:t>
            </a:r>
            <a:endParaRPr lang="en-US" sz="1600" dirty="0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B435AEBC-AE43-DA3A-9A5B-C5F28B9C2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58" y="2604805"/>
            <a:ext cx="5429250" cy="47625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EB6ED74A-43F0-9274-70AA-153683D5C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746" y="2603795"/>
            <a:ext cx="5429250" cy="47625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CFD6EDD5-523A-F217-EFED-65E483D02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58" y="3774085"/>
            <a:ext cx="5429250" cy="47625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36442B2D-5838-0031-8A31-66850030E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746" y="3760585"/>
            <a:ext cx="5429250" cy="47625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EBDBBAFB-E6D0-4B19-160E-7E93782BE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58" y="4870933"/>
            <a:ext cx="5429250" cy="47625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6B734D53-BD31-C134-F979-27ADFC419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400" y="4870933"/>
            <a:ext cx="5429250" cy="47625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0C501A79-E648-26D0-DF95-6467F9327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798" y="5721013"/>
            <a:ext cx="5429250" cy="47625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2B7AA43D-D2EA-A294-1E71-818B574FA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05" y="5717496"/>
            <a:ext cx="5429250" cy="4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54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2" descr="preencoded.png">
            <a:extLst>
              <a:ext uri="{FF2B5EF4-FFF2-40B4-BE49-F238E27FC236}">
                <a16:creationId xmlns:a16="http://schemas.microsoft.com/office/drawing/2014/main" id="{46F1E2E5-8FD3-6F18-4EDB-5C9A6631E5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18875" y="3185486"/>
            <a:ext cx="2786579" cy="1253506"/>
          </a:xfrm>
          <a:prstGeom prst="rect">
            <a:avLst/>
          </a:prstGeom>
        </p:spPr>
      </p:pic>
      <p:pic>
        <p:nvPicPr>
          <p:cNvPr id="28" name="Image 2" descr="preencoded.png">
            <a:extLst>
              <a:ext uri="{FF2B5EF4-FFF2-40B4-BE49-F238E27FC236}">
                <a16:creationId xmlns:a16="http://schemas.microsoft.com/office/drawing/2014/main" id="{584B01FE-9C50-E11E-ADC3-B7A833B421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492" y="3217586"/>
            <a:ext cx="2786579" cy="1253506"/>
          </a:xfrm>
          <a:prstGeom prst="rect">
            <a:avLst/>
          </a:prstGeom>
        </p:spPr>
      </p:pic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BE059DBE-A426-49EE-B4AF-F2DB63176B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12414" y="1538354"/>
            <a:ext cx="2786579" cy="12535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7C3FB0-1984-E746-F378-A54E2F868745}"/>
              </a:ext>
            </a:extLst>
          </p:cNvPr>
          <p:cNvSpPr txBox="1"/>
          <p:nvPr/>
        </p:nvSpPr>
        <p:spPr>
          <a:xfrm>
            <a:off x="281353" y="633045"/>
            <a:ext cx="99880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Revenue &amp; Profit Performance: FY2021–FY2026</a:t>
            </a: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850FB916-4B90-127A-BEED-41BEF072D50F}"/>
              </a:ext>
            </a:extLst>
          </p:cNvPr>
          <p:cNvSpPr/>
          <p:nvPr/>
        </p:nvSpPr>
        <p:spPr>
          <a:xfrm>
            <a:off x="281354" y="264427"/>
            <a:ext cx="1983544" cy="368618"/>
          </a:xfrm>
          <a:prstGeom prst="roundRect">
            <a:avLst>
              <a:gd name="adj" fmla="val 47433"/>
            </a:avLst>
          </a:prstGeom>
          <a:solidFill>
            <a:srgbClr val="FFD7CC"/>
          </a:solidFill>
          <a:ln/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F2359E-F8E9-2676-891A-0134A81E08AA}"/>
              </a:ext>
            </a:extLst>
          </p:cNvPr>
          <p:cNvSpPr txBox="1"/>
          <p:nvPr/>
        </p:nvSpPr>
        <p:spPr>
          <a:xfrm>
            <a:off x="253218" y="318357"/>
            <a:ext cx="2363372" cy="269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FINANCIAL DASHBOARD</a:t>
            </a:r>
            <a:endParaRPr lang="en-US" sz="1200" b="1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4FE11E0-F4DF-8C71-0E3F-D33504CD5B6E}"/>
              </a:ext>
            </a:extLst>
          </p:cNvPr>
          <p:cNvSpPr/>
          <p:nvPr/>
        </p:nvSpPr>
        <p:spPr>
          <a:xfrm>
            <a:off x="496119" y="1175147"/>
            <a:ext cx="3948261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CAGR</a:t>
            </a:r>
            <a:endParaRPr lang="en-US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88C45B2-0312-B38C-EFB0-C750DF0B6E28}"/>
              </a:ext>
            </a:extLst>
          </p:cNvPr>
          <p:cNvSpPr/>
          <p:nvPr/>
        </p:nvSpPr>
        <p:spPr>
          <a:xfrm>
            <a:off x="3626867" y="3317166"/>
            <a:ext cx="1635026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Nestle</a:t>
            </a:r>
            <a:r>
              <a:rPr lang="en-US" sz="1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b="1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India</a:t>
            </a:r>
            <a:endParaRPr lang="en-US" sz="1200" b="1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585A9A25-4241-A216-B528-0D10356BB217}"/>
              </a:ext>
            </a:extLst>
          </p:cNvPr>
          <p:cNvSpPr/>
          <p:nvPr/>
        </p:nvSpPr>
        <p:spPr>
          <a:xfrm>
            <a:off x="496119" y="2940947"/>
            <a:ext cx="3948261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Profit CAGR</a:t>
            </a:r>
            <a:endParaRPr lang="en-US" sz="1600" dirty="0"/>
          </a:p>
        </p:txBody>
      </p:sp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FDB798AE-9E64-FD3C-AC9D-2DEDEBD1AD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493" y="1543961"/>
            <a:ext cx="2786579" cy="1253506"/>
          </a:xfrm>
          <a:prstGeom prst="rect">
            <a:avLst/>
          </a:prstGeom>
        </p:spPr>
      </p:pic>
      <p:sp>
        <p:nvSpPr>
          <p:cNvPr id="18" name="Text 9">
            <a:extLst>
              <a:ext uri="{FF2B5EF4-FFF2-40B4-BE49-F238E27FC236}">
                <a16:creationId xmlns:a16="http://schemas.microsoft.com/office/drawing/2014/main" id="{3436736A-82C5-E342-3A68-778E1FB448A8}"/>
              </a:ext>
            </a:extLst>
          </p:cNvPr>
          <p:cNvSpPr/>
          <p:nvPr/>
        </p:nvSpPr>
        <p:spPr>
          <a:xfrm>
            <a:off x="629872" y="3337815"/>
            <a:ext cx="1635026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HUL</a:t>
            </a:r>
            <a:endParaRPr lang="en-US" sz="1200" b="1" dirty="0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C21C7E70-325C-4017-6B33-0B0B5B7632A0}"/>
              </a:ext>
            </a:extLst>
          </p:cNvPr>
          <p:cNvSpPr/>
          <p:nvPr/>
        </p:nvSpPr>
        <p:spPr>
          <a:xfrm>
            <a:off x="716309" y="4760139"/>
            <a:ext cx="3948261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EBITDA Margins</a:t>
            </a:r>
            <a:endParaRPr lang="en-US" sz="1400" dirty="0"/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ABBF1DE8-8121-9E18-F26F-19BF9A466146}"/>
              </a:ext>
            </a:extLst>
          </p:cNvPr>
          <p:cNvSpPr/>
          <p:nvPr/>
        </p:nvSpPr>
        <p:spPr>
          <a:xfrm>
            <a:off x="716309" y="5682853"/>
            <a:ext cx="6120589" cy="209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Dividend Policy</a:t>
            </a:r>
            <a:endParaRPr lang="en-US" sz="1400" dirty="0"/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A3285B56-6254-10A0-77CF-ABBF3231C651}"/>
              </a:ext>
            </a:extLst>
          </p:cNvPr>
          <p:cNvSpPr/>
          <p:nvPr/>
        </p:nvSpPr>
        <p:spPr>
          <a:xfrm>
            <a:off x="716309" y="5934596"/>
            <a:ext cx="6120589" cy="497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HUL: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90%+ payout ratio — consistent dividend aristocrat over 20+ years</a:t>
            </a:r>
            <a:endParaRPr lang="en-US" sz="14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4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Nestle: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100%+ payout with special dividends declared in FY22 and FY23</a:t>
            </a:r>
            <a:endParaRPr lang="en-US" sz="1400" dirty="0"/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F22B422C-2EDF-BF99-4130-671875CAFC61}"/>
              </a:ext>
            </a:extLst>
          </p:cNvPr>
          <p:cNvSpPr/>
          <p:nvPr/>
        </p:nvSpPr>
        <p:spPr>
          <a:xfrm>
            <a:off x="716309" y="5152225"/>
            <a:ext cx="4405461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HUL: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22–24% consistently | </a:t>
            </a:r>
            <a:r>
              <a:rPr lang="en-US" sz="14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Nestle: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22–26%; expansion driven by premiumisation</a:t>
            </a:r>
            <a:endParaRPr lang="en-US" sz="1400" dirty="0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8D387085-48D1-DB10-F4EC-A2857EB13D12}"/>
              </a:ext>
            </a:extLst>
          </p:cNvPr>
          <p:cNvSpPr/>
          <p:nvPr/>
        </p:nvSpPr>
        <p:spPr>
          <a:xfrm>
            <a:off x="629872" y="1644587"/>
            <a:ext cx="1635026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HUL</a:t>
            </a:r>
            <a:endParaRPr lang="en-US" sz="1200" b="1" dirty="0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53A8EECE-1EAC-3976-39F4-6B9BC6BF6D47}"/>
              </a:ext>
            </a:extLst>
          </p:cNvPr>
          <p:cNvSpPr/>
          <p:nvPr/>
        </p:nvSpPr>
        <p:spPr>
          <a:xfrm>
            <a:off x="3626867" y="1592937"/>
            <a:ext cx="1635026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Nestle</a:t>
            </a:r>
            <a:r>
              <a:rPr lang="en-US" sz="1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b="1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India</a:t>
            </a:r>
            <a:endParaRPr lang="en-US" sz="12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13244AA-1DBD-EA82-49FA-CBFCF8AA4F70}"/>
              </a:ext>
            </a:extLst>
          </p:cNvPr>
          <p:cNvSpPr txBox="1"/>
          <p:nvPr/>
        </p:nvSpPr>
        <p:spPr>
          <a:xfrm>
            <a:off x="629872" y="3410387"/>
            <a:ext cx="2350448" cy="105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3000"/>
              </a:lnSpc>
            </a:pPr>
            <a:r>
              <a:rPr lang="en-IN" b="1" dirty="0"/>
              <a:t>₹ 7,829.00</a:t>
            </a:r>
            <a:r>
              <a:rPr lang="en-IN" sz="1600" dirty="0"/>
              <a:t> </a:t>
            </a: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 (FY21) → </a:t>
            </a:r>
            <a:r>
              <a:rPr lang="en-IN" b="1" dirty="0"/>
              <a:t>₹ 10,136.00</a:t>
            </a:r>
            <a:r>
              <a:rPr lang="en-IN" sz="1600" dirty="0"/>
              <a:t> </a:t>
            </a: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 (FY26) | </a:t>
            </a:r>
            <a:endParaRPr lang="en-US" sz="16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1284DD-C3D2-5E54-0114-0A716EB6C104}"/>
              </a:ext>
            </a:extLst>
          </p:cNvPr>
          <p:cNvSpPr txBox="1"/>
          <p:nvPr/>
        </p:nvSpPr>
        <p:spPr>
          <a:xfrm>
            <a:off x="3489345" y="1759469"/>
            <a:ext cx="2709647" cy="749564"/>
          </a:xfrm>
          <a:prstGeom prst="rect">
            <a:avLst/>
          </a:prstGeom>
          <a:ln cap="flat">
            <a:prstDash val="solid"/>
            <a:miter/>
          </a:ln>
        </p:spPr>
        <p:txBody>
          <a:bodyPr wrap="square">
            <a:spAutoFit/>
          </a:bodyPr>
          <a:lstStyle/>
          <a:p>
            <a:pPr>
              <a:lnSpc>
                <a:spcPct val="123000"/>
              </a:lnSpc>
            </a:pPr>
            <a:r>
              <a:rPr lang="en-IN" sz="1600" b="1" dirty="0"/>
              <a:t> </a:t>
            </a:r>
            <a:r>
              <a:rPr lang="en-IN" b="1" dirty="0"/>
              <a:t>₹ 14,740.5</a:t>
            </a:r>
            <a:r>
              <a:rPr lang="en-IN" sz="1600" dirty="0"/>
              <a:t> </a:t>
            </a: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 (FY21)</a:t>
            </a:r>
          </a:p>
          <a:p>
            <a:pPr>
              <a:lnSpc>
                <a:spcPct val="123000"/>
              </a:lnSpc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 </a:t>
            </a:r>
            <a:r>
              <a:rPr lang="en-IN" b="1" dirty="0"/>
              <a:t>₹ 23,154.60</a:t>
            </a:r>
            <a:r>
              <a:rPr lang="en-IN" sz="1600" dirty="0"/>
              <a:t>  </a:t>
            </a: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 (FY26) |</a:t>
            </a:r>
            <a:endParaRPr lang="en-US" sz="16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205386-7527-669B-8386-4EA649CC14D0}"/>
              </a:ext>
            </a:extLst>
          </p:cNvPr>
          <p:cNvSpPr txBox="1"/>
          <p:nvPr/>
        </p:nvSpPr>
        <p:spPr>
          <a:xfrm>
            <a:off x="629872" y="1797364"/>
            <a:ext cx="2350448" cy="977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3000"/>
              </a:lnSpc>
            </a:pPr>
            <a:r>
              <a:rPr lang="en-IN" sz="1600" b="1" dirty="0"/>
              <a:t>₹ 47,028.0</a:t>
            </a:r>
            <a:r>
              <a:rPr lang="en-IN" sz="1600" dirty="0"/>
              <a:t> </a:t>
            </a: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 (FY21) → </a:t>
            </a:r>
            <a:r>
              <a:rPr lang="en-IN" sz="1600" b="1" dirty="0"/>
              <a:t>₹ 64,468.0</a:t>
            </a:r>
            <a:r>
              <a:rPr lang="en-IN" sz="1600" dirty="0"/>
              <a:t> </a:t>
            </a: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 (FY26) | </a:t>
            </a:r>
            <a:r>
              <a:rPr lang="en-US" sz="16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CAGR ~37%</a:t>
            </a:r>
            <a:endParaRPr lang="en-US"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F4E5FC2-9B69-451F-619D-AEBA5C31CCB7}"/>
              </a:ext>
            </a:extLst>
          </p:cNvPr>
          <p:cNvSpPr txBox="1"/>
          <p:nvPr/>
        </p:nvSpPr>
        <p:spPr>
          <a:xfrm>
            <a:off x="3626867" y="3462489"/>
            <a:ext cx="2350448" cy="749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3000"/>
              </a:lnSpc>
            </a:pPr>
            <a:r>
              <a:rPr lang="en-IN" b="1" dirty="0"/>
              <a:t>₹ 2,230.8</a:t>
            </a:r>
            <a:r>
              <a:rPr lang="en-IN" sz="1600" dirty="0"/>
              <a:t> </a:t>
            </a: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 (FY21) → </a:t>
            </a:r>
            <a:r>
              <a:rPr lang="en-IN" b="1" dirty="0"/>
              <a:t>₹ 3,384.4</a:t>
            </a:r>
            <a:r>
              <a:rPr lang="en-IN" sz="1600" dirty="0"/>
              <a:t> </a:t>
            </a: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 (FY26) </a:t>
            </a:r>
            <a:endParaRPr lang="en-US" sz="1600" dirty="0"/>
          </a:p>
        </p:txBody>
      </p:sp>
      <p:graphicFrame>
        <p:nvGraphicFramePr>
          <p:cNvPr id="45" name="Chart 44">
            <a:extLst>
              <a:ext uri="{FF2B5EF4-FFF2-40B4-BE49-F238E27FC236}">
                <a16:creationId xmlns:a16="http://schemas.microsoft.com/office/drawing/2014/main" id="{453E8BB3-EBDC-478E-8A5A-9D2C6E92F9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82942277"/>
              </p:ext>
            </p:extLst>
          </p:nvPr>
        </p:nvGraphicFramePr>
        <p:xfrm>
          <a:off x="6419907" y="1194760"/>
          <a:ext cx="5510836" cy="39574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253094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1DEC31A-2A96-6C8E-31A8-A101964D27EF}"/>
              </a:ext>
            </a:extLst>
          </p:cNvPr>
          <p:cNvSpPr/>
          <p:nvPr/>
        </p:nvSpPr>
        <p:spPr>
          <a:xfrm>
            <a:off x="327303" y="208384"/>
            <a:ext cx="1501494" cy="255845"/>
          </a:xfrm>
          <a:prstGeom prst="roundRect">
            <a:avLst>
              <a:gd name="adj" fmla="val 47395"/>
            </a:avLst>
          </a:prstGeom>
          <a:solidFill>
            <a:srgbClr val="FFD7C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B48C6F4-61D3-AD12-CD94-1D3791B52B3D}"/>
              </a:ext>
            </a:extLst>
          </p:cNvPr>
          <p:cNvSpPr/>
          <p:nvPr/>
        </p:nvSpPr>
        <p:spPr>
          <a:xfrm>
            <a:off x="386611" y="238000"/>
            <a:ext cx="1850148" cy="22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RATIO ANALYSIS</a:t>
            </a:r>
            <a:endParaRPr lang="en-US" sz="1200" b="1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CB1A7320-1E27-F4CC-356C-91285B3166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303" y="1321592"/>
            <a:ext cx="3020804" cy="1822897"/>
          </a:xfrm>
          <a:prstGeom prst="rect">
            <a:avLst/>
          </a:prstGeom>
        </p:spPr>
      </p:pic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43883F86-E9C9-6551-4D7E-44F9EF112A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74599" y="1321592"/>
            <a:ext cx="3020804" cy="1822897"/>
          </a:xfrm>
          <a:prstGeom prst="rect">
            <a:avLst/>
          </a:prstGeom>
        </p:spPr>
      </p:pic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DBCFF92D-3A78-D164-13EB-CFB6CED563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303" y="3654088"/>
            <a:ext cx="3020804" cy="1822897"/>
          </a:xfrm>
          <a:prstGeom prst="rect">
            <a:avLst/>
          </a:prstGeom>
        </p:spPr>
      </p:pic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68D4FD8B-8197-4CA0-5971-83EC1FF1F2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74599" y="3644351"/>
            <a:ext cx="3020804" cy="1822897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9B5BED2F-B3A4-38D4-0D43-4C5E3CC1BE83}"/>
              </a:ext>
            </a:extLst>
          </p:cNvPr>
          <p:cNvSpPr/>
          <p:nvPr/>
        </p:nvSpPr>
        <p:spPr>
          <a:xfrm>
            <a:off x="386611" y="956504"/>
            <a:ext cx="3935204" cy="36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Margin Comparison</a:t>
            </a:r>
            <a:endParaRPr lang="en-US" sz="20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040BCA36-E0BD-CD53-64BB-051C4E622102}"/>
              </a:ext>
            </a:extLst>
          </p:cNvPr>
          <p:cNvSpPr/>
          <p:nvPr/>
        </p:nvSpPr>
        <p:spPr>
          <a:xfrm>
            <a:off x="558269" y="1746780"/>
            <a:ext cx="2789838" cy="1201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HUL: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48–52% | </a:t>
            </a:r>
            <a:r>
              <a:rPr lang="en-US" sz="14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Nestle: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55–58%</a:t>
            </a:r>
            <a:endParaRPr lang="en-US" sz="14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Nestle commands superior gross margins driven by its premium product mix and focused SKU portfolio.</a:t>
            </a:r>
            <a:endParaRPr 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9B83D9-0452-6284-F5CA-D202C7A536BD}"/>
              </a:ext>
            </a:extLst>
          </p:cNvPr>
          <p:cNvSpPr txBox="1"/>
          <p:nvPr/>
        </p:nvSpPr>
        <p:spPr>
          <a:xfrm>
            <a:off x="386611" y="1349520"/>
            <a:ext cx="24512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1200" dirty="0">
                <a:solidFill>
                  <a:srgbClr val="55575A"/>
                </a:solidFill>
                <a:effectLst/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Gross Profit Margin</a:t>
            </a:r>
            <a:endParaRPr lang="en-IN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9021C416-0337-28DF-7C75-3C582104EC2B}"/>
              </a:ext>
            </a:extLst>
          </p:cNvPr>
          <p:cNvSpPr/>
          <p:nvPr/>
        </p:nvSpPr>
        <p:spPr>
          <a:xfrm>
            <a:off x="3690082" y="1803050"/>
            <a:ext cx="2789838" cy="1089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HUL: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15–17% | </a:t>
            </a:r>
            <a:r>
              <a:rPr lang="en-US" sz="14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Nestle: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16–21%</a:t>
            </a:r>
            <a:endParaRPr lang="en-US" sz="14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Nestle's margin trajectory is steeper, reflecting meaningful operating leverage as revenues scale.</a:t>
            </a:r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7D1F99-9266-45F6-A154-9B0BD988AD03}"/>
              </a:ext>
            </a:extLst>
          </p:cNvPr>
          <p:cNvSpPr txBox="1"/>
          <p:nvPr/>
        </p:nvSpPr>
        <p:spPr>
          <a:xfrm>
            <a:off x="3690082" y="1367910"/>
            <a:ext cx="2184010" cy="366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lnSpc>
                <a:spcPct val="104000"/>
              </a:lnSpc>
              <a:buNone/>
            </a:pPr>
            <a:r>
              <a:rPr lang="en-US" sz="1800" kern="1200" dirty="0">
                <a:solidFill>
                  <a:srgbClr val="55575A"/>
                </a:solidFill>
                <a:effectLst/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Net Profit Margin</a:t>
            </a:r>
            <a:endParaRPr lang="en-IN" dirty="0">
              <a:effectLst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233F32-5FD8-44B9-3433-DD5F05619C4D}"/>
              </a:ext>
            </a:extLst>
          </p:cNvPr>
          <p:cNvSpPr txBox="1"/>
          <p:nvPr/>
        </p:nvSpPr>
        <p:spPr>
          <a:xfrm>
            <a:off x="314291" y="3287834"/>
            <a:ext cx="3046828" cy="366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 Efficiency</a:t>
            </a:r>
            <a:endParaRPr lang="en-US" sz="1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0192C5-9222-8146-74E5-C59C8FC09F2C}"/>
              </a:ext>
            </a:extLst>
          </p:cNvPr>
          <p:cNvSpPr txBox="1"/>
          <p:nvPr/>
        </p:nvSpPr>
        <p:spPr>
          <a:xfrm>
            <a:off x="386611" y="3674180"/>
            <a:ext cx="2789838" cy="366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on Equity (ROE)</a:t>
            </a:r>
            <a:endParaRPr lang="en-US" sz="18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23DF98-4B71-5954-1B64-F88DF3A49EDC}"/>
              </a:ext>
            </a:extLst>
          </p:cNvPr>
          <p:cNvSpPr txBox="1"/>
          <p:nvPr/>
        </p:nvSpPr>
        <p:spPr>
          <a:xfrm>
            <a:off x="400675" y="3993175"/>
            <a:ext cx="3046827" cy="1365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HUL: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18–22% | </a:t>
            </a:r>
            <a:r>
              <a:rPr lang="en-US" sz="14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Nestle: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n-US" sz="1400" b="1" dirty="0">
                <a:solidFill>
                  <a:srgbClr val="FF7047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90–110%</a:t>
            </a:r>
            <a:endParaRPr lang="en-US" sz="14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Nestle's asset-light, negative working capital model drives an exceptionally high ROE — a structural competitive advantage.</a:t>
            </a:r>
            <a:endParaRPr 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278097-ED80-9E79-B719-EDE0927AD2C6}"/>
              </a:ext>
            </a:extLst>
          </p:cNvPr>
          <p:cNvSpPr txBox="1"/>
          <p:nvPr/>
        </p:nvSpPr>
        <p:spPr>
          <a:xfrm>
            <a:off x="3574599" y="3674180"/>
            <a:ext cx="3177893" cy="305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on Capital Employed (ROCE)</a:t>
            </a:r>
            <a:endParaRPr lang="en-US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073B48F-582E-44FB-7575-801755908222}"/>
              </a:ext>
            </a:extLst>
          </p:cNvPr>
          <p:cNvSpPr txBox="1"/>
          <p:nvPr/>
        </p:nvSpPr>
        <p:spPr>
          <a:xfrm>
            <a:off x="3690082" y="4002380"/>
            <a:ext cx="2789838" cy="1106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HUL: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25–30% | </a:t>
            </a:r>
            <a:r>
              <a:rPr lang="en-US" sz="14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Nestle: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n-US" sz="1400" b="1" dirty="0">
                <a:solidFill>
                  <a:srgbClr val="FF7047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60–80%</a:t>
            </a:r>
            <a:endParaRPr lang="en-US" sz="14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Nestle is significantly more capital-efficient across the entire study period.</a:t>
            </a:r>
            <a:endParaRPr lang="en-US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BED2F0-4691-6C3D-024B-3C7292146762}"/>
              </a:ext>
            </a:extLst>
          </p:cNvPr>
          <p:cNvSpPr txBox="1"/>
          <p:nvPr/>
        </p:nvSpPr>
        <p:spPr>
          <a:xfrm>
            <a:off x="331886" y="5563378"/>
            <a:ext cx="1621302" cy="366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lnSpc>
                <a:spcPct val="104000"/>
              </a:lnSpc>
              <a:buNone/>
            </a:pPr>
            <a:r>
              <a:rPr lang="en-US" sz="1800" kern="1200" dirty="0">
                <a:solidFill>
                  <a:srgbClr val="0C0D0F"/>
                </a:solidFill>
                <a:effectLst/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EPS Growth</a:t>
            </a:r>
            <a:endParaRPr lang="en-IN" dirty="0">
              <a:effectLst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B729F0-D63F-422C-E91F-061A86AD3954}"/>
              </a:ext>
            </a:extLst>
          </p:cNvPr>
          <p:cNvSpPr txBox="1"/>
          <p:nvPr/>
        </p:nvSpPr>
        <p:spPr>
          <a:xfrm>
            <a:off x="314291" y="5950404"/>
            <a:ext cx="5011617" cy="589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lnSpc>
                <a:spcPct val="120000"/>
              </a:lnSpc>
              <a:buNone/>
            </a:pPr>
            <a:r>
              <a:rPr lang="en-US" sz="1400" b="1" kern="1200" dirty="0">
                <a:solidFill>
                  <a:srgbClr val="55575A"/>
                </a:solidFill>
                <a:effectLst/>
                <a:latin typeface="Manrope Bold" panose="020B0604020202020204" charset="0"/>
                <a:ea typeface="Manrope Bold" panose="020B0604020202020204" charset="0"/>
                <a:cs typeface="Manrope Bold" panose="020B0604020202020204" charset="0"/>
              </a:rPr>
              <a:t>HUL:</a:t>
            </a:r>
            <a:r>
              <a:rPr lang="en-US" sz="1400" kern="1200" dirty="0">
                <a:solidFill>
                  <a:srgbClr val="55575A"/>
                </a:solidFill>
                <a:effectLst/>
                <a:latin typeface="Manrope" panose="020B0604020202020204" charset="0"/>
                <a:ea typeface="Manrope" panose="020B0604020202020204" charset="0"/>
                <a:cs typeface="Manrope" panose="020B0604020202020204" charset="0"/>
              </a:rPr>
              <a:t> ₹22.8 (FY21) → ₹43.7 (FY2</a:t>
            </a:r>
            <a:r>
              <a:rPr lang="en-US" sz="1400" dirty="0">
                <a:solidFill>
                  <a:srgbClr val="55575A"/>
                </a:solidFill>
                <a:latin typeface="Manrope" panose="020B0604020202020204" charset="0"/>
                <a:ea typeface="Manrope" panose="020B0604020202020204" charset="0"/>
                <a:cs typeface="Manrope" panose="020B0604020202020204" charset="0"/>
              </a:rPr>
              <a:t>6</a:t>
            </a:r>
            <a:r>
              <a:rPr lang="en-US" sz="1400" kern="1200" dirty="0">
                <a:solidFill>
                  <a:srgbClr val="55575A"/>
                </a:solidFill>
                <a:effectLst/>
                <a:latin typeface="Manrope" panose="020B0604020202020204" charset="0"/>
                <a:ea typeface="Manrope" panose="020B0604020202020204" charset="0"/>
                <a:cs typeface="Manrope" panose="020B0604020202020204" charset="0"/>
              </a:rPr>
              <a:t>) | </a:t>
            </a:r>
            <a:r>
              <a:rPr lang="en-US" sz="1400" b="1" kern="1200" dirty="0">
                <a:solidFill>
                  <a:srgbClr val="55575A"/>
                </a:solidFill>
                <a:effectLst/>
                <a:latin typeface="Manrope Bold" panose="020B0604020202020204" charset="0"/>
                <a:ea typeface="Manrope Bold" panose="020B0604020202020204" charset="0"/>
                <a:cs typeface="Manrope Bold" panose="020B0604020202020204" charset="0"/>
              </a:rPr>
              <a:t>CAGR ~18%</a:t>
            </a:r>
            <a:endParaRPr lang="en-IN" sz="1400" dirty="0">
              <a:effectLst/>
            </a:endParaRPr>
          </a:p>
          <a:p>
            <a:pPr marL="0" indent="0" algn="l" rtl="0" eaLnBrk="1" latinLnBrk="0" hangingPunct="1">
              <a:lnSpc>
                <a:spcPct val="120000"/>
              </a:lnSpc>
              <a:buNone/>
            </a:pPr>
            <a:r>
              <a:rPr lang="en-US" sz="1400" b="1" kern="1200" dirty="0">
                <a:solidFill>
                  <a:srgbClr val="55575A"/>
                </a:solidFill>
                <a:effectLst/>
                <a:latin typeface="Manrope Bold" panose="020B0604020202020204" charset="0"/>
                <a:ea typeface="Manrope Bold" panose="020B0604020202020204" charset="0"/>
                <a:cs typeface="Manrope Bold" panose="020B0604020202020204" charset="0"/>
              </a:rPr>
              <a:t>Nestle:</a:t>
            </a:r>
            <a:r>
              <a:rPr lang="en-US" sz="1400" kern="1200" dirty="0">
                <a:solidFill>
                  <a:srgbClr val="55575A"/>
                </a:solidFill>
                <a:effectLst/>
                <a:latin typeface="Manrope" panose="020B0604020202020204" charset="0"/>
                <a:ea typeface="Manrope" panose="020B0604020202020204" charset="0"/>
                <a:cs typeface="Manrope" panose="020B0604020202020204" charset="0"/>
              </a:rPr>
              <a:t> ₹215 (FY21) → ₹373 (FY26) | </a:t>
            </a:r>
            <a:r>
              <a:rPr lang="en-US" sz="1400" b="1" kern="1200" dirty="0">
                <a:solidFill>
                  <a:srgbClr val="55575A"/>
                </a:solidFill>
                <a:effectLst/>
                <a:latin typeface="Manrope Bold" panose="020B0604020202020204" charset="0"/>
                <a:ea typeface="Manrope Bold" panose="020B0604020202020204" charset="0"/>
                <a:cs typeface="Manrope Bold" panose="020B0604020202020204" charset="0"/>
              </a:rPr>
              <a:t>CAGR ~15%</a:t>
            </a:r>
            <a:endParaRPr lang="en-IN" sz="1400" dirty="0">
              <a:effectLst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3830A7B-5EDB-7EE9-F7C6-678C8B738C64}"/>
              </a:ext>
            </a:extLst>
          </p:cNvPr>
          <p:cNvSpPr txBox="1"/>
          <p:nvPr/>
        </p:nvSpPr>
        <p:spPr>
          <a:xfrm>
            <a:off x="6496927" y="5567417"/>
            <a:ext cx="5498233" cy="1106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Nestle's ROE of </a:t>
            </a:r>
            <a:r>
              <a:rPr lang="en-US" sz="14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110%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vs. HUL's </a:t>
            </a:r>
            <a:r>
              <a:rPr lang="en-US" sz="14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21%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is not a marginal difference — it reflects a fundamentally different business model. Nestle's negative working capital means suppliers effectively finance its operations, amplifying returns on equity dramatically.</a:t>
            </a:r>
            <a:endParaRPr lang="en-US" sz="1400" dirty="0"/>
          </a:p>
        </p:txBody>
      </p:sp>
      <p:graphicFrame>
        <p:nvGraphicFramePr>
          <p:cNvPr id="39" name="Chart 38">
            <a:extLst>
              <a:ext uri="{FF2B5EF4-FFF2-40B4-BE49-F238E27FC236}">
                <a16:creationId xmlns:a16="http://schemas.microsoft.com/office/drawing/2014/main" id="{5E25F87E-EAB6-880D-CFC4-3E8D310757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1801403"/>
              </p:ext>
            </p:extLst>
          </p:nvPr>
        </p:nvGraphicFramePr>
        <p:xfrm>
          <a:off x="6752492" y="1317348"/>
          <a:ext cx="5242668" cy="4149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87268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18">
            <a:extLst>
              <a:ext uri="{FF2B5EF4-FFF2-40B4-BE49-F238E27FC236}">
                <a16:creationId xmlns:a16="http://schemas.microsoft.com/office/drawing/2014/main" id="{FD244B4B-7508-E414-536D-F96A1BB1CD50}"/>
              </a:ext>
            </a:extLst>
          </p:cNvPr>
          <p:cNvSpPr/>
          <p:nvPr/>
        </p:nvSpPr>
        <p:spPr>
          <a:xfrm>
            <a:off x="666566" y="5921955"/>
            <a:ext cx="10109286" cy="835670"/>
          </a:xfrm>
          <a:prstGeom prst="roundRect">
            <a:avLst>
              <a:gd name="adj" fmla="val 11690"/>
            </a:avLst>
          </a:prstGeom>
          <a:solidFill>
            <a:srgbClr val="FFFFFF"/>
          </a:solidFill>
          <a:ln w="14288">
            <a:solidFill>
              <a:srgbClr val="FF7047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B83ECB-4233-7F5C-1103-4839D1ADFE97}"/>
              </a:ext>
            </a:extLst>
          </p:cNvPr>
          <p:cNvSpPr txBox="1"/>
          <p:nvPr/>
        </p:nvSpPr>
        <p:spPr>
          <a:xfrm>
            <a:off x="939019" y="624226"/>
            <a:ext cx="83878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Liquidity &amp; Solvency: Both Companies Are Financially Strong</a:t>
            </a:r>
            <a:endParaRPr lang="en-IN" sz="2400" b="1" dirty="0"/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BAF2EA1B-8D40-FCBF-D392-E320806008DE}"/>
              </a:ext>
            </a:extLst>
          </p:cNvPr>
          <p:cNvSpPr/>
          <p:nvPr/>
        </p:nvSpPr>
        <p:spPr>
          <a:xfrm>
            <a:off x="256962" y="225083"/>
            <a:ext cx="1599967" cy="316354"/>
          </a:xfrm>
          <a:prstGeom prst="roundRect">
            <a:avLst>
              <a:gd name="adj" fmla="val 47395"/>
            </a:avLst>
          </a:prstGeom>
          <a:solidFill>
            <a:srgbClr val="FFD7CC"/>
          </a:solidFill>
          <a:ln/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841B938-E882-BBBF-8C6D-25A5A4031DB5}"/>
              </a:ext>
            </a:extLst>
          </p:cNvPr>
          <p:cNvSpPr/>
          <p:nvPr/>
        </p:nvSpPr>
        <p:spPr>
          <a:xfrm>
            <a:off x="372541" y="292326"/>
            <a:ext cx="1035100" cy="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RATIO ANALYSIS</a:t>
            </a:r>
            <a:endParaRPr lang="en-US" sz="1200" b="1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3AD0A13D-46B1-7755-FB53-30C49B219C3B}"/>
              </a:ext>
            </a:extLst>
          </p:cNvPr>
          <p:cNvSpPr/>
          <p:nvPr/>
        </p:nvSpPr>
        <p:spPr>
          <a:xfrm>
            <a:off x="8050470" y="1203916"/>
            <a:ext cx="3344361" cy="1945528"/>
          </a:xfrm>
          <a:prstGeom prst="roundRect">
            <a:avLst>
              <a:gd name="adj" fmla="val 7378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F3E34545-1344-8C7A-D59F-8D18A9EAE9C0}"/>
              </a:ext>
            </a:extLst>
          </p:cNvPr>
          <p:cNvSpPr/>
          <p:nvPr/>
        </p:nvSpPr>
        <p:spPr>
          <a:xfrm>
            <a:off x="4245158" y="1203916"/>
            <a:ext cx="3344361" cy="1965812"/>
          </a:xfrm>
          <a:prstGeom prst="roundRect">
            <a:avLst>
              <a:gd name="adj" fmla="val 7378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9FB892CF-3EDF-326D-4638-71B38DBD6D9E}"/>
              </a:ext>
            </a:extLst>
          </p:cNvPr>
          <p:cNvSpPr/>
          <p:nvPr/>
        </p:nvSpPr>
        <p:spPr>
          <a:xfrm>
            <a:off x="425778" y="1203916"/>
            <a:ext cx="3344361" cy="1979358"/>
          </a:xfrm>
          <a:prstGeom prst="roundRect">
            <a:avLst>
              <a:gd name="adj" fmla="val 7378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E86C39AB-FEA0-BACA-949C-13470BFC0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3781" y="3467762"/>
            <a:ext cx="3049268" cy="2356258"/>
          </a:xfrm>
          <a:prstGeom prst="rect">
            <a:avLst/>
          </a:prstGeom>
        </p:spPr>
      </p:pic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A905D32A-DA4D-CB82-A2E0-65DD9ACF48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08315" y="3467763"/>
            <a:ext cx="3049267" cy="235625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81D9C8B-640D-F480-6D02-22CAA63EE978}"/>
              </a:ext>
            </a:extLst>
          </p:cNvPr>
          <p:cNvSpPr txBox="1"/>
          <p:nvPr/>
        </p:nvSpPr>
        <p:spPr>
          <a:xfrm>
            <a:off x="496118" y="1210950"/>
            <a:ext cx="1818250" cy="366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lnSpc>
                <a:spcPct val="104000"/>
              </a:lnSpc>
              <a:buNone/>
            </a:pPr>
            <a:r>
              <a:rPr lang="en-US" sz="1800" kern="1200" dirty="0">
                <a:solidFill>
                  <a:srgbClr val="55575A"/>
                </a:solidFill>
                <a:effectLst/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Current Ratio</a:t>
            </a:r>
            <a:endParaRPr lang="en-IN" dirty="0">
              <a:effectLst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D07A0D-9BF2-5430-3E3C-542F49C151B5}"/>
              </a:ext>
            </a:extLst>
          </p:cNvPr>
          <p:cNvSpPr txBox="1"/>
          <p:nvPr/>
        </p:nvSpPr>
        <p:spPr>
          <a:xfrm>
            <a:off x="4283729" y="1210950"/>
            <a:ext cx="2366889" cy="366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lnSpc>
                <a:spcPct val="104000"/>
              </a:lnSpc>
              <a:buNone/>
            </a:pPr>
            <a:r>
              <a:rPr lang="en-US" sz="1800" kern="1200" dirty="0">
                <a:solidFill>
                  <a:srgbClr val="55575A"/>
                </a:solidFill>
                <a:effectLst/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Quick Ratio</a:t>
            </a:r>
            <a:endParaRPr lang="en-IN" dirty="0">
              <a:effectLst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00081D-592E-1E06-1400-454F50C56217}"/>
              </a:ext>
            </a:extLst>
          </p:cNvPr>
          <p:cNvSpPr txBox="1"/>
          <p:nvPr/>
        </p:nvSpPr>
        <p:spPr>
          <a:xfrm>
            <a:off x="8078606" y="1210950"/>
            <a:ext cx="2148607" cy="366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lnSpc>
                <a:spcPct val="104000"/>
              </a:lnSpc>
              <a:buNone/>
            </a:pPr>
            <a:r>
              <a:rPr lang="en-US" sz="1800" kern="1200" dirty="0">
                <a:solidFill>
                  <a:srgbClr val="55575A"/>
                </a:solidFill>
                <a:effectLst/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Debt-to-Equity</a:t>
            </a:r>
            <a:endParaRPr lang="en-IN" dirty="0">
              <a:effectLst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32EBA3-9952-645D-BA52-9124B320E5BA}"/>
              </a:ext>
            </a:extLst>
          </p:cNvPr>
          <p:cNvSpPr txBox="1"/>
          <p:nvPr/>
        </p:nvSpPr>
        <p:spPr>
          <a:xfrm>
            <a:off x="3670497" y="3488409"/>
            <a:ext cx="2591973" cy="366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 Conversion Cycle</a:t>
            </a:r>
            <a:endParaRPr lang="en-US" sz="1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627C21-7A63-B430-FFCF-4724A669D689}"/>
              </a:ext>
            </a:extLst>
          </p:cNvPr>
          <p:cNvSpPr txBox="1"/>
          <p:nvPr/>
        </p:nvSpPr>
        <p:spPr>
          <a:xfrm>
            <a:off x="496118" y="3484892"/>
            <a:ext cx="2732650" cy="366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lnSpc>
                <a:spcPct val="104000"/>
              </a:lnSpc>
              <a:buNone/>
            </a:pPr>
            <a:r>
              <a:rPr lang="en-US" sz="1800" kern="1200" dirty="0">
                <a:solidFill>
                  <a:srgbClr val="55575A"/>
                </a:solidFill>
                <a:effectLst/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Interest Coverage Ratio</a:t>
            </a:r>
            <a:endParaRPr lang="en-IN" dirty="0">
              <a:effectLst/>
            </a:endParaRPr>
          </a:p>
        </p:txBody>
      </p:sp>
      <p:sp>
        <p:nvSpPr>
          <p:cNvPr id="23" name="Shape 16">
            <a:extLst>
              <a:ext uri="{FF2B5EF4-FFF2-40B4-BE49-F238E27FC236}">
                <a16:creationId xmlns:a16="http://schemas.microsoft.com/office/drawing/2014/main" id="{83CBA069-B685-1F1A-E9A9-74B7C138DA86}"/>
              </a:ext>
            </a:extLst>
          </p:cNvPr>
          <p:cNvSpPr/>
          <p:nvPr/>
        </p:nvSpPr>
        <p:spPr>
          <a:xfrm>
            <a:off x="6885030" y="3428999"/>
            <a:ext cx="4810852" cy="2356257"/>
          </a:xfrm>
          <a:prstGeom prst="roundRect">
            <a:avLst>
              <a:gd name="adj" fmla="val 11148"/>
            </a:avLst>
          </a:prstGeom>
          <a:solidFill>
            <a:srgbClr val="FFD7CC"/>
          </a:solidFill>
          <a:ln/>
        </p:spPr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38A3B5-D94C-EB5A-A5D2-95375586CDDF}"/>
              </a:ext>
            </a:extLst>
          </p:cNvPr>
          <p:cNvSpPr txBox="1"/>
          <p:nvPr/>
        </p:nvSpPr>
        <p:spPr>
          <a:xfrm>
            <a:off x="688210" y="5893186"/>
            <a:ext cx="3049267" cy="366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Differentiates Them</a:t>
            </a:r>
            <a:endParaRPr lang="en-US" sz="1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1958D7-CD1C-6F7E-0DF0-6CB976A90CAA}"/>
              </a:ext>
            </a:extLst>
          </p:cNvPr>
          <p:cNvSpPr txBox="1"/>
          <p:nvPr/>
        </p:nvSpPr>
        <p:spPr>
          <a:xfrm>
            <a:off x="689430" y="6259440"/>
            <a:ext cx="10339640" cy="374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ROE, ROCE, Net Margin expansion, and long-term stock return are the true battlegrounds for this comparison.</a:t>
            </a:r>
            <a:endParaRPr lang="en-US" sz="1600" dirty="0"/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34755B88-9FF1-0D34-0FF6-F1FDEE8200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7234" y="3667935"/>
            <a:ext cx="324745" cy="25972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C6DEA4F-087B-9C77-0249-7FB27A28192D}"/>
              </a:ext>
            </a:extLst>
          </p:cNvPr>
          <p:cNvSpPr txBox="1"/>
          <p:nvPr/>
        </p:nvSpPr>
        <p:spPr>
          <a:xfrm>
            <a:off x="7251979" y="3581238"/>
            <a:ext cx="4557163" cy="1913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Key Analyst Insight:</a:t>
            </a:r>
            <a:r>
              <a:rPr lang="en-US" sz="16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Both companies are financially fortress-like. Solvency is NOT a differentiator between HUL and Nestle India. The investment thesis must be built on profitability trajectories, capital efficiency, and strategic positioning — not balance sheet risk.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9A0AC9-4C8A-86A0-3936-53269079E66C}"/>
              </a:ext>
            </a:extLst>
          </p:cNvPr>
          <p:cNvSpPr txBox="1"/>
          <p:nvPr/>
        </p:nvSpPr>
        <p:spPr>
          <a:xfrm>
            <a:off x="510185" y="1463598"/>
            <a:ext cx="3174379" cy="1685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HUL: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0.8–1.0x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Nestle: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0.6–0.8x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Both operate around 1x — a hallmark of FMCG businesses with strong supplier credit terms and negative working capital.</a:t>
            </a:r>
            <a:endParaRPr 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3D84F4-36D9-28D1-4C41-0EA6320A0389}"/>
              </a:ext>
            </a:extLst>
          </p:cNvPr>
          <p:cNvSpPr txBox="1"/>
          <p:nvPr/>
        </p:nvSpPr>
        <p:spPr>
          <a:xfrm>
            <a:off x="4322143" y="1483881"/>
            <a:ext cx="3133733" cy="147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HUL: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0.6–0.8x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Nestle: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0.5–0.7x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Adequate for FMCG operations; high inventory turns mean liquidity is not a concern despite sub-1x ratios.</a:t>
            </a:r>
            <a:endParaRPr 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3BF96B-B9D0-FDD6-F0FC-87AC577E6D46}"/>
              </a:ext>
            </a:extLst>
          </p:cNvPr>
          <p:cNvSpPr txBox="1"/>
          <p:nvPr/>
        </p:nvSpPr>
        <p:spPr>
          <a:xfrm>
            <a:off x="8092674" y="1458244"/>
            <a:ext cx="3316225" cy="1416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HUL: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Near zero — virtually debt-free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Nestle: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Minimal long-term debt; lease liabilities under Ind AS 116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Both companies self-fund operations from internal accruals.</a:t>
            </a:r>
            <a:endParaRPr 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C863F8-8B2A-63FD-962D-8484B7A48C25}"/>
              </a:ext>
            </a:extLst>
          </p:cNvPr>
          <p:cNvSpPr txBox="1"/>
          <p:nvPr/>
        </p:nvSpPr>
        <p:spPr>
          <a:xfrm>
            <a:off x="510185" y="3826527"/>
            <a:ext cx="2914656" cy="1727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HUL: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n-US" sz="1400" b="1" dirty="0">
                <a:solidFill>
                  <a:srgbClr val="FF7047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30x+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Nestle: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n-US" sz="1400" b="1" dirty="0">
                <a:solidFill>
                  <a:srgbClr val="FF7047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30x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Both companies carry negligible financial risk. Interest expense is a rounding error relative to operating profit.</a:t>
            </a:r>
            <a:endParaRPr 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672089-007E-9A70-C8D0-B5E956607BBA}"/>
              </a:ext>
            </a:extLst>
          </p:cNvPr>
          <p:cNvSpPr txBox="1"/>
          <p:nvPr/>
        </p:nvSpPr>
        <p:spPr>
          <a:xfrm>
            <a:off x="3737865" y="3832750"/>
            <a:ext cx="2762791" cy="1685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HUL: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Negative (~</a:t>
            </a:r>
            <a:r>
              <a:rPr lang="en-US" sz="14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-20 days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)  </a:t>
            </a:r>
            <a:r>
              <a:rPr lang="en-US" sz="14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Nestle: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Negative (~</a:t>
            </a:r>
            <a:r>
              <a:rPr lang="en-US" sz="14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-15 days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)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Suppliers effectively finance operations for both companies — a structural advantage that amplifies capital efficiency.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23852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">
            <a:extLst>
              <a:ext uri="{FF2B5EF4-FFF2-40B4-BE49-F238E27FC236}">
                <a16:creationId xmlns:a16="http://schemas.microsoft.com/office/drawing/2014/main" id="{1F8B5FB1-2351-F091-39A7-42BAD11A8267}"/>
              </a:ext>
            </a:extLst>
          </p:cNvPr>
          <p:cNvSpPr/>
          <p:nvPr/>
        </p:nvSpPr>
        <p:spPr>
          <a:xfrm>
            <a:off x="486594" y="5562117"/>
            <a:ext cx="3706147" cy="1097098"/>
          </a:xfrm>
          <a:prstGeom prst="roundRect">
            <a:avLst>
              <a:gd name="adj" fmla="val 7378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1D5FBE-21F0-3674-E3E0-6683D9224D4A}"/>
              </a:ext>
            </a:extLst>
          </p:cNvPr>
          <p:cNvSpPr txBox="1"/>
          <p:nvPr/>
        </p:nvSpPr>
        <p:spPr>
          <a:xfrm>
            <a:off x="587131" y="590595"/>
            <a:ext cx="6098344" cy="457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FY2025–26 Performance Trajectory</a:t>
            </a:r>
            <a:endParaRPr lang="en-US" sz="2400" b="1" dirty="0"/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8CCF8886-B167-8A4B-1230-A3326F3C73FF}"/>
              </a:ext>
            </a:extLst>
          </p:cNvPr>
          <p:cNvSpPr/>
          <p:nvPr/>
        </p:nvSpPr>
        <p:spPr>
          <a:xfrm>
            <a:off x="214765" y="181580"/>
            <a:ext cx="1318613" cy="240066"/>
          </a:xfrm>
          <a:prstGeom prst="roundRect">
            <a:avLst>
              <a:gd name="adj" fmla="val 47411"/>
            </a:avLst>
          </a:prstGeom>
          <a:solidFill>
            <a:srgbClr val="FFD7CC"/>
          </a:solidFill>
          <a:ln/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EFE0CB-806F-B487-A656-BDF946F67558}"/>
              </a:ext>
            </a:extLst>
          </p:cNvPr>
          <p:cNvSpPr txBox="1"/>
          <p:nvPr/>
        </p:nvSpPr>
        <p:spPr>
          <a:xfrm>
            <a:off x="186630" y="181580"/>
            <a:ext cx="1346748" cy="240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lnSpc>
                <a:spcPct val="96000"/>
              </a:lnSpc>
              <a:buNone/>
            </a:pPr>
            <a:r>
              <a:rPr lang="en-US" sz="1000" kern="1200" dirty="0">
                <a:solidFill>
                  <a:srgbClr val="55575A"/>
                </a:solidFill>
                <a:effectLst/>
                <a:latin typeface="Manrope" panose="020B0604020202020204" charset="0"/>
                <a:ea typeface="Manrope" panose="020B0604020202020204" charset="0"/>
                <a:cs typeface="Manrope" panose="020B0604020202020204" charset="0"/>
              </a:rPr>
              <a:t>TREND ANALYSIS</a:t>
            </a:r>
            <a:endParaRPr lang="en-IN" sz="1000" dirty="0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0B3DA5-39F6-5DFB-E9D4-1CBE26957562}"/>
              </a:ext>
            </a:extLst>
          </p:cNvPr>
          <p:cNvSpPr txBox="1"/>
          <p:nvPr/>
        </p:nvSpPr>
        <p:spPr>
          <a:xfrm>
            <a:off x="563771" y="1295883"/>
            <a:ext cx="3072532" cy="305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&amp; Margin Trends</a:t>
            </a:r>
            <a:endParaRPr lang="en-US" sz="1400" dirty="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247A8AED-F71F-FA97-D7BD-89541274EA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334" y="1704313"/>
            <a:ext cx="4103078" cy="9122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530F42C-3701-CE50-38E5-4BD3ADA2917C}"/>
              </a:ext>
            </a:extLst>
          </p:cNvPr>
          <p:cNvSpPr txBox="1"/>
          <p:nvPr/>
        </p:nvSpPr>
        <p:spPr>
          <a:xfrm>
            <a:off x="545470" y="1731877"/>
            <a:ext cx="2099603" cy="305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Trend</a:t>
            </a:r>
            <a:endParaRPr 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0C6A8A-55FB-3098-B72B-62547E68F3A2}"/>
              </a:ext>
            </a:extLst>
          </p:cNvPr>
          <p:cNvSpPr txBox="1"/>
          <p:nvPr/>
        </p:nvSpPr>
        <p:spPr>
          <a:xfrm>
            <a:off x="559537" y="1932126"/>
            <a:ext cx="10821227" cy="567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HUL grew faster in absolute terms post-GST and post-COVID recovery. Nestle accelerated from FY22 onward driven by Maggi </a:t>
            </a:r>
            <a:r>
              <a:rPr lang="en-US" sz="1400" dirty="0" err="1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premiumisation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and the recovery of out-of-home food consumption.</a:t>
            </a:r>
            <a:endParaRPr lang="en-US" sz="1400" dirty="0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9E58EDCB-EAE3-AAB1-94EA-3B6BF9FDD5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6594" y="4241410"/>
            <a:ext cx="4103078" cy="912277"/>
          </a:xfrm>
          <a:prstGeom prst="rect">
            <a:avLst/>
          </a:prstGeom>
        </p:spPr>
      </p:pic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0B5961DF-769F-2F28-2DBC-ED887AFD18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6594" y="2972861"/>
            <a:ext cx="4103078" cy="91227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419AC60-B275-53A7-8991-5FBA808BF43B}"/>
              </a:ext>
            </a:extLst>
          </p:cNvPr>
          <p:cNvSpPr txBox="1"/>
          <p:nvPr/>
        </p:nvSpPr>
        <p:spPr>
          <a:xfrm>
            <a:off x="559537" y="2972861"/>
            <a:ext cx="1540500" cy="305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lnSpc>
                <a:spcPct val="104000"/>
              </a:lnSpc>
              <a:buNone/>
            </a:pPr>
            <a:r>
              <a:rPr lang="en-US" sz="1400" kern="1200" dirty="0">
                <a:solidFill>
                  <a:srgbClr val="55575A"/>
                </a:solidFill>
                <a:effectLst/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Margin Trend</a:t>
            </a:r>
            <a:endParaRPr lang="en-IN" sz="1400" dirty="0">
              <a:effectLst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09999E-A228-E3E5-51AB-372459AFC7A7}"/>
              </a:ext>
            </a:extLst>
          </p:cNvPr>
          <p:cNvSpPr txBox="1"/>
          <p:nvPr/>
        </p:nvSpPr>
        <p:spPr>
          <a:xfrm>
            <a:off x="559537" y="3272747"/>
            <a:ext cx="10821226" cy="567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lnSpc>
                <a:spcPct val="114000"/>
              </a:lnSpc>
              <a:buNone/>
            </a:pPr>
            <a:r>
              <a:rPr lang="en-US" sz="1400" kern="1200" dirty="0">
                <a:solidFill>
                  <a:srgbClr val="55575A"/>
                </a:solidFill>
                <a:effectLst/>
                <a:latin typeface="Manrope" panose="020B0604020202020204" charset="0"/>
                <a:ea typeface="Manrope" panose="020B0604020202020204" charset="0"/>
                <a:cs typeface="Manrope" panose="020B0604020202020204" charset="0"/>
              </a:rPr>
              <a:t>Both companies faced raw material headwinds in FY22 — palm oil, wheat, and packaging inflation. HUL absorbed the impact via pricing power; Nestle recovered faster owing to its narrower, focused SKU portfolio.</a:t>
            </a:r>
            <a:endParaRPr lang="en-IN" sz="1400" dirty="0">
              <a:effectLst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E41362-A399-FCC0-9016-8CCF97CC91DB}"/>
              </a:ext>
            </a:extLst>
          </p:cNvPr>
          <p:cNvSpPr txBox="1"/>
          <p:nvPr/>
        </p:nvSpPr>
        <p:spPr>
          <a:xfrm>
            <a:off x="559537" y="4241409"/>
            <a:ext cx="2324687" cy="305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lnSpc>
                <a:spcPct val="104000"/>
              </a:lnSpc>
              <a:buNone/>
            </a:pPr>
            <a:r>
              <a:rPr lang="en-US" sz="1400" kern="1200" dirty="0">
                <a:solidFill>
                  <a:srgbClr val="55575A"/>
                </a:solidFill>
                <a:effectLst/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Volume vs. Price Growth</a:t>
            </a:r>
            <a:endParaRPr lang="en-IN" sz="1400" dirty="0">
              <a:effectLst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A647F7-A7BF-D79E-3B24-311B50660ADE}"/>
              </a:ext>
            </a:extLst>
          </p:cNvPr>
          <p:cNvSpPr txBox="1"/>
          <p:nvPr/>
        </p:nvSpPr>
        <p:spPr>
          <a:xfrm>
            <a:off x="535643" y="5822385"/>
            <a:ext cx="4251614" cy="808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400" b="1" dirty="0">
                <a:latin typeface="Manrope" panose="020B0604020202020204" charset="0"/>
                <a:cs typeface="Arial" panose="020B0604020202020204" pitchFamily="34" charset="0"/>
              </a:rPr>
              <a:t>₹2,000 Cr/year</a:t>
            </a:r>
            <a:br>
              <a:rPr lang="en-US" sz="1400" dirty="0">
                <a:latin typeface="Manrope" panose="020B0604020202020204" charset="0"/>
                <a:cs typeface="Arial" panose="020B0604020202020204" pitchFamily="34" charset="0"/>
              </a:rPr>
            </a:br>
            <a:r>
              <a:rPr lang="en-US" sz="1400" dirty="0">
                <a:solidFill>
                  <a:srgbClr val="55575A"/>
                </a:solidFill>
                <a:latin typeface="Manrope" panose="020B0604020202020204" charset="0"/>
              </a:rPr>
              <a:t>Focused on capacity expansion, technology upgrades, and supply chain optimization. </a:t>
            </a:r>
            <a:endParaRPr lang="en-IN" sz="1400" dirty="0">
              <a:solidFill>
                <a:srgbClr val="55575A"/>
              </a:solidFill>
              <a:latin typeface="Manrope" panose="020B060402020202020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EF40C6-2059-ED4D-AEC8-8828B6D60467}"/>
              </a:ext>
            </a:extLst>
          </p:cNvPr>
          <p:cNvSpPr txBox="1"/>
          <p:nvPr/>
        </p:nvSpPr>
        <p:spPr>
          <a:xfrm>
            <a:off x="499578" y="5144944"/>
            <a:ext cx="3292934" cy="366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Capex &amp; Investment</a:t>
            </a:r>
            <a:endParaRPr lang="en-US" sz="1800" b="1" dirty="0"/>
          </a:p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D4D5439B-AA96-3008-AA1C-A25FF37B1155}"/>
              </a:ext>
            </a:extLst>
          </p:cNvPr>
          <p:cNvSpPr/>
          <p:nvPr/>
        </p:nvSpPr>
        <p:spPr>
          <a:xfrm>
            <a:off x="4928675" y="5527541"/>
            <a:ext cx="4187189" cy="1131674"/>
          </a:xfrm>
          <a:prstGeom prst="roundRect">
            <a:avLst>
              <a:gd name="adj" fmla="val 7378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4898B3-64AA-22BA-2CC1-73AF778D5783}"/>
              </a:ext>
            </a:extLst>
          </p:cNvPr>
          <p:cNvSpPr txBox="1"/>
          <p:nvPr/>
        </p:nvSpPr>
        <p:spPr>
          <a:xfrm>
            <a:off x="559537" y="5571158"/>
            <a:ext cx="1380046" cy="335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HUL Capex</a:t>
            </a:r>
            <a:endParaRPr lang="en-US" sz="16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4466F5D-C1AF-DC22-D778-65BA9E3F4CDB}"/>
              </a:ext>
            </a:extLst>
          </p:cNvPr>
          <p:cNvSpPr txBox="1"/>
          <p:nvPr/>
        </p:nvSpPr>
        <p:spPr>
          <a:xfrm>
            <a:off x="4914608" y="5527541"/>
            <a:ext cx="1719776" cy="335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Nestle Capex</a:t>
            </a:r>
            <a:endParaRPr lang="en-US" sz="16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261D23-7FB0-66E6-9F1A-AA3539F4D79D}"/>
              </a:ext>
            </a:extLst>
          </p:cNvPr>
          <p:cNvSpPr txBox="1"/>
          <p:nvPr/>
        </p:nvSpPr>
        <p:spPr>
          <a:xfrm>
            <a:off x="4886472" y="5728541"/>
            <a:ext cx="456701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₹650–700 Cr/Year</a:t>
            </a:r>
            <a:br>
              <a:rPr lang="en-US" dirty="0"/>
            </a:br>
            <a:r>
              <a:rPr lang="en-US" sz="1400" dirty="0">
                <a:solidFill>
                  <a:srgbClr val="55575A"/>
                </a:solidFill>
                <a:latin typeface="Manrope" panose="020B0604020202020204" charset="0"/>
              </a:rPr>
              <a:t>Continued investment in manufacturing capacity, automation, and operational efficiency across plants</a:t>
            </a:r>
            <a:r>
              <a:rPr lang="en-US" i="1" dirty="0"/>
              <a:t>.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7695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5EECFC1-5DB1-C57F-53C8-C171F63FE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486" y="1063629"/>
            <a:ext cx="9590283" cy="525446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C4ED83-DD69-E82C-054D-7FA6185AF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06" y="191038"/>
            <a:ext cx="1214732" cy="3567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8A9B6E-87BD-456C-30E8-E9A807F3039C}"/>
              </a:ext>
            </a:extLst>
          </p:cNvPr>
          <p:cNvSpPr txBox="1"/>
          <p:nvPr/>
        </p:nvSpPr>
        <p:spPr>
          <a:xfrm>
            <a:off x="206106" y="249379"/>
            <a:ext cx="1508760" cy="240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lnSpc>
                <a:spcPct val="96000"/>
              </a:lnSpc>
              <a:buNone/>
            </a:pPr>
            <a:r>
              <a:rPr lang="en-US" sz="1000" kern="1200" dirty="0">
                <a:effectLst/>
                <a:latin typeface="Manrope" panose="020B0604020202020204" charset="0"/>
                <a:ea typeface="Manrope" panose="020B0604020202020204" charset="0"/>
                <a:cs typeface="Manrope" panose="020B0604020202020204" charset="0"/>
              </a:rPr>
              <a:t>SWOT ANALYSIS</a:t>
            </a:r>
            <a:endParaRPr lang="en-IN" sz="1000" dirty="0">
              <a:effectLst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D98674AC-EE0E-FDEC-C0D5-8A0789DF9E25}"/>
              </a:ext>
            </a:extLst>
          </p:cNvPr>
          <p:cNvSpPr/>
          <p:nvPr/>
        </p:nvSpPr>
        <p:spPr>
          <a:xfrm>
            <a:off x="1151096" y="855712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SWOT Analysis: Hindustan Unilever Ltd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81933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9A3B54-67A8-2548-04A1-DC37DDC89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697" y="1216092"/>
            <a:ext cx="9365795" cy="52691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28E352-9A43-93E5-432B-7CC9A30AC204}"/>
              </a:ext>
            </a:extLst>
          </p:cNvPr>
          <p:cNvSpPr txBox="1"/>
          <p:nvPr/>
        </p:nvSpPr>
        <p:spPr>
          <a:xfrm>
            <a:off x="1246697" y="710172"/>
            <a:ext cx="6098344" cy="396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SWOT Analysis: Nestle India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73046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890BC776-FA00-1DF5-518D-BEB1C34804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0670" y="886193"/>
            <a:ext cx="5125329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Head-to-Head Scorecard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49EE8D-395F-93A2-13A3-ED51F1123CA3}"/>
              </a:ext>
            </a:extLst>
          </p:cNvPr>
          <p:cNvSpPr txBox="1"/>
          <p:nvPr/>
        </p:nvSpPr>
        <p:spPr>
          <a:xfrm>
            <a:off x="970671" y="1561514"/>
            <a:ext cx="10508566" cy="5273158"/>
          </a:xfrm>
          <a:prstGeom prst="rect">
            <a:avLst/>
          </a:prstGeom>
          <a:noFill/>
        </p:spPr>
        <p:txBody>
          <a:bodyPr wrap="square" tIns="540000" rIns="288000" bIns="1116000">
            <a:spAutoFit/>
          </a:bodyPr>
          <a:lstStyle/>
          <a:p>
            <a:r>
              <a:rPr lang="en-IN" sz="2600" b="1" dirty="0"/>
              <a:t>Parameter                        HUL                      Nestle India              Winner  </a:t>
            </a:r>
          </a:p>
          <a:p>
            <a:endParaRPr lang="en-IN" sz="2600" b="1" dirty="0"/>
          </a:p>
          <a:p>
            <a:r>
              <a:rPr lang="en-IN" sz="2600" dirty="0"/>
              <a:t>Revenue Scale                ₹62,000Cr            ₹17,000 Cr              ✅ HUL</a:t>
            </a:r>
          </a:p>
          <a:p>
            <a:r>
              <a:rPr lang="en-IN" sz="2600" dirty="0"/>
              <a:t>Net Profit Margin                16.6%                   21.2%                ✅ Nestle</a:t>
            </a:r>
          </a:p>
          <a:p>
            <a:r>
              <a:rPr lang="en-IN" sz="2600" dirty="0"/>
              <a:t>Return on Equity (ROE)          21%                     110%                 ✅ Nestle </a:t>
            </a:r>
          </a:p>
          <a:p>
            <a:r>
              <a:rPr lang="en-IN" sz="2600" dirty="0"/>
              <a:t>5-Year Stock Return             ~45%                 ~120%                 ✅ Nestle </a:t>
            </a:r>
          </a:p>
          <a:p>
            <a:r>
              <a:rPr lang="en-IN" sz="2600" dirty="0"/>
              <a:t>Dividend Payout                   90%+                  100%+               ✅ Nestle </a:t>
            </a:r>
          </a:p>
          <a:p>
            <a:r>
              <a:rPr lang="en-IN" sz="2600" dirty="0"/>
              <a:t>Portfolio Breadth               50+ brands           ~30 brands           ✅ HUL</a:t>
            </a:r>
          </a:p>
          <a:p>
            <a:r>
              <a:rPr lang="en-IN" sz="2600" dirty="0"/>
              <a:t>Rural Penetration               9M+ outlets            5M+ outlets          ✅ HUL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CA482A-A188-77E1-963F-8BC0F9E31DEC}"/>
              </a:ext>
            </a:extLst>
          </p:cNvPr>
          <p:cNvCxnSpPr>
            <a:cxnSpLocks/>
          </p:cNvCxnSpPr>
          <p:nvPr/>
        </p:nvCxnSpPr>
        <p:spPr>
          <a:xfrm>
            <a:off x="970671" y="2532185"/>
            <a:ext cx="10199077" cy="0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B595546-16AA-C5AF-DC84-2E6286713320}"/>
              </a:ext>
            </a:extLst>
          </p:cNvPr>
          <p:cNvCxnSpPr>
            <a:cxnSpLocks/>
          </p:cNvCxnSpPr>
          <p:nvPr/>
        </p:nvCxnSpPr>
        <p:spPr>
          <a:xfrm>
            <a:off x="4021016" y="2050367"/>
            <a:ext cx="0" cy="3765506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B5174B9-E99D-827E-AE7D-1783A77C6F9F}"/>
              </a:ext>
            </a:extLst>
          </p:cNvPr>
          <p:cNvCxnSpPr>
            <a:cxnSpLocks/>
          </p:cNvCxnSpPr>
          <p:nvPr/>
        </p:nvCxnSpPr>
        <p:spPr>
          <a:xfrm>
            <a:off x="6480517" y="2050367"/>
            <a:ext cx="0" cy="3765506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011A527-CCEC-5220-510B-AC0649DFB27F}"/>
              </a:ext>
            </a:extLst>
          </p:cNvPr>
          <p:cNvCxnSpPr>
            <a:cxnSpLocks/>
          </p:cNvCxnSpPr>
          <p:nvPr/>
        </p:nvCxnSpPr>
        <p:spPr>
          <a:xfrm>
            <a:off x="9277644" y="2050367"/>
            <a:ext cx="0" cy="3765506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" name="Shape 0">
            <a:extLst>
              <a:ext uri="{FF2B5EF4-FFF2-40B4-BE49-F238E27FC236}">
                <a16:creationId xmlns:a16="http://schemas.microsoft.com/office/drawing/2014/main" id="{1956312B-54B5-49E1-75A5-8D319E6F0D75}"/>
              </a:ext>
            </a:extLst>
          </p:cNvPr>
          <p:cNvSpPr/>
          <p:nvPr/>
        </p:nvSpPr>
        <p:spPr>
          <a:xfrm>
            <a:off x="496119" y="239152"/>
            <a:ext cx="1768779" cy="298927"/>
          </a:xfrm>
          <a:prstGeom prst="roundRect">
            <a:avLst>
              <a:gd name="adj" fmla="val 47383"/>
            </a:avLst>
          </a:prstGeom>
          <a:solidFill>
            <a:srgbClr val="FFD7CC"/>
          </a:solidFill>
          <a:ln/>
        </p:spPr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1D928E-F3AD-4310-4860-52283B70BB57}"/>
              </a:ext>
            </a:extLst>
          </p:cNvPr>
          <p:cNvSpPr txBox="1"/>
          <p:nvPr/>
        </p:nvSpPr>
        <p:spPr>
          <a:xfrm>
            <a:off x="482051" y="249279"/>
            <a:ext cx="2364544" cy="29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WINNER ANALYSIS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86228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B69653-1669-B42D-37ED-2BECF7C51189}"/>
              </a:ext>
            </a:extLst>
          </p:cNvPr>
          <p:cNvSpPr txBox="1"/>
          <p:nvPr/>
        </p:nvSpPr>
        <p:spPr>
          <a:xfrm>
            <a:off x="7424224" y="1497994"/>
            <a:ext cx="6098344" cy="366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18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Nestle Wins On</a:t>
            </a:r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8C07B0-B5EF-A731-27D3-ABECAF439EF1}"/>
              </a:ext>
            </a:extLst>
          </p:cNvPr>
          <p:cNvSpPr txBox="1"/>
          <p:nvPr/>
        </p:nvSpPr>
        <p:spPr>
          <a:xfrm>
            <a:off x="1290716" y="1497994"/>
            <a:ext cx="6098344" cy="366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lnSpc>
                <a:spcPct val="104000"/>
              </a:lnSpc>
              <a:buNone/>
            </a:pPr>
            <a:r>
              <a:rPr lang="en-US" sz="1800" kern="1200" dirty="0">
                <a:solidFill>
                  <a:srgbClr val="000000"/>
                </a:solidFill>
                <a:effectLst/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✅</a:t>
            </a:r>
            <a:r>
              <a:rPr lang="en-US" sz="1800" kern="1200" dirty="0">
                <a:solidFill>
                  <a:srgbClr val="0C0D0F"/>
                </a:solidFill>
                <a:effectLst/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 HUL Wins On</a:t>
            </a:r>
            <a:endParaRPr lang="en-IN" dirty="0"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CCAF4E-BBBD-40D5-C90D-CF9E84202BF6}"/>
              </a:ext>
            </a:extLst>
          </p:cNvPr>
          <p:cNvSpPr txBox="1"/>
          <p:nvPr/>
        </p:nvSpPr>
        <p:spPr>
          <a:xfrm>
            <a:off x="6096000" y="2271638"/>
            <a:ext cx="5627077" cy="3776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Net profit margin, ROE, ROCE, 5-year stock returns, and dividend payout ratio. Nestle is the </a:t>
            </a:r>
            <a:r>
              <a:rPr lang="en-US" sz="24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financial efficiency and wealth-creation play</a:t>
            </a:r>
            <a:r>
              <a:rPr lang="en-US" sz="2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superior returns on every rupee of capital deployed, driven by its negative working capital model and premium brand positioning.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607382-4B85-A1EC-8636-568B70018DB3}"/>
              </a:ext>
            </a:extLst>
          </p:cNvPr>
          <p:cNvSpPr txBox="1"/>
          <p:nvPr/>
        </p:nvSpPr>
        <p:spPr>
          <a:xfrm>
            <a:off x="684628" y="2282336"/>
            <a:ext cx="4900246" cy="3776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lnSpc>
                <a:spcPct val="126000"/>
              </a:lnSpc>
              <a:buNone/>
            </a:pPr>
            <a:r>
              <a:rPr lang="en-US" sz="2400" kern="1200" dirty="0">
                <a:solidFill>
                  <a:srgbClr val="55575A"/>
                </a:solidFill>
                <a:effectLst/>
                <a:latin typeface="Manrope" panose="020B0604020202020204" charset="0"/>
                <a:ea typeface="Manrope" panose="020B0604020202020204" charset="0"/>
                <a:cs typeface="Manrope" panose="020B0604020202020204" charset="0"/>
              </a:rPr>
              <a:t>Revenue scale, portfolio diversification, rural distribution depth, and dividend consistency over 20+ consecutive years. HUL is the </a:t>
            </a:r>
            <a:r>
              <a:rPr lang="en-US" sz="2400" b="1" kern="1200" dirty="0">
                <a:solidFill>
                  <a:srgbClr val="55575A"/>
                </a:solidFill>
                <a:effectLst/>
                <a:latin typeface="Manrope Bold" panose="02000000000000000000" charset="-120"/>
                <a:ea typeface="Manrope Bold" panose="02000000000000000000" charset="-120"/>
                <a:cs typeface="Manrope Bold" panose="02000000000000000000" charset="-120"/>
              </a:rPr>
              <a:t>scale and resilience play</a:t>
            </a:r>
            <a:r>
              <a:rPr lang="en-US" sz="2400" kern="1200" dirty="0">
                <a:solidFill>
                  <a:srgbClr val="55575A"/>
                </a:solidFill>
                <a:effectLst/>
                <a:latin typeface="Manrope" panose="020B0604020202020204" charset="0"/>
                <a:ea typeface="Manrope" panose="020B0604020202020204" charset="0"/>
                <a:cs typeface="Manrope" panose="020B0604020202020204" charset="0"/>
              </a:rPr>
              <a:t> — lower concentration risk with India's most extensive FMCG footprint.</a:t>
            </a:r>
            <a:endParaRPr lang="en-IN" sz="2400" dirty="0">
              <a:effectLst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DD2A2AE-B399-CC26-2D18-235B5C932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1371" y="1308298"/>
            <a:ext cx="177017" cy="5133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810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F63E4A98-E634-CBAD-0387-8D45155FB5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1924948"/>
              </p:ext>
            </p:extLst>
          </p:nvPr>
        </p:nvGraphicFramePr>
        <p:xfrm>
          <a:off x="1037495" y="1447805"/>
          <a:ext cx="10286997" cy="4995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1EE6EB9-B4DB-53C3-4A7D-B4D682A5EB7B}"/>
              </a:ext>
            </a:extLst>
          </p:cNvPr>
          <p:cNvSpPr txBox="1"/>
          <p:nvPr/>
        </p:nvSpPr>
        <p:spPr>
          <a:xfrm>
            <a:off x="896815" y="793042"/>
            <a:ext cx="38721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Manrope" panose="020B0604020202020204" charset="0"/>
              </a:rPr>
              <a:t>Key Takeaway</a:t>
            </a:r>
          </a:p>
        </p:txBody>
      </p:sp>
    </p:spTree>
    <p:extLst>
      <p:ext uri="{BB962C8B-B14F-4D97-AF65-F5344CB8AC3E}">
        <p14:creationId xmlns:p14="http://schemas.microsoft.com/office/powerpoint/2010/main" val="304083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BFE9927-6F93-11A3-5B58-2D0A58359A6D}"/>
              </a:ext>
            </a:extLst>
          </p:cNvPr>
          <p:cNvSpPr/>
          <p:nvPr/>
        </p:nvSpPr>
        <p:spPr>
          <a:xfrm>
            <a:off x="242895" y="263545"/>
            <a:ext cx="1557773" cy="299160"/>
          </a:xfrm>
          <a:prstGeom prst="roundRect">
            <a:avLst>
              <a:gd name="adj" fmla="val 47413"/>
            </a:avLst>
          </a:prstGeom>
          <a:solidFill>
            <a:srgbClr val="FFD7CC"/>
          </a:solidFill>
          <a:ln/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F6750E-3B48-B2A5-9192-8C17DC2E9DC6}"/>
              </a:ext>
            </a:extLst>
          </p:cNvPr>
          <p:cNvSpPr txBox="1"/>
          <p:nvPr/>
        </p:nvSpPr>
        <p:spPr>
          <a:xfrm>
            <a:off x="299170" y="291677"/>
            <a:ext cx="1445227" cy="29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lnSpc>
                <a:spcPct val="96000"/>
              </a:lnSpc>
              <a:buNone/>
            </a:pPr>
            <a:r>
              <a:rPr lang="en-US" sz="1400" kern="1200" dirty="0">
                <a:solidFill>
                  <a:srgbClr val="55575A"/>
                </a:solidFill>
                <a:effectLst/>
                <a:latin typeface="Manrope" panose="020B0604020202020204" charset="0"/>
                <a:ea typeface="Manrope" panose="020B0604020202020204" charset="0"/>
                <a:cs typeface="Manrope" panose="020B0604020202020204" charset="0"/>
              </a:rPr>
              <a:t>KEY FINDINGS</a:t>
            </a:r>
            <a:endParaRPr lang="en-IN" sz="1400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F4FF3D-7CEE-D2E1-6EEA-C7FF4BC0AF07}"/>
              </a:ext>
            </a:extLst>
          </p:cNvPr>
          <p:cNvSpPr txBox="1"/>
          <p:nvPr/>
        </p:nvSpPr>
        <p:spPr>
          <a:xfrm>
            <a:off x="881103" y="667964"/>
            <a:ext cx="6098344" cy="457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C0D0F"/>
                </a:solidFill>
                <a:latin typeface="Lucida Bright" panose="02040602050505020304" pitchFamily="18" charset="0"/>
                <a:ea typeface="Inter" pitchFamily="34" charset="-122"/>
                <a:cs typeface="Inter" pitchFamily="34" charset="-120"/>
              </a:rPr>
              <a:t>Conclusions &amp; Investment Takeaways</a:t>
            </a:r>
            <a:endParaRPr lang="en-US" sz="2400" dirty="0">
              <a:latin typeface="Lucida Bright" panose="020406020505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493B88-4DC9-C6FD-D970-EB35609511F8}"/>
              </a:ext>
            </a:extLst>
          </p:cNvPr>
          <p:cNvSpPr txBox="1"/>
          <p:nvPr/>
        </p:nvSpPr>
        <p:spPr>
          <a:xfrm>
            <a:off x="204438" y="1139593"/>
            <a:ext cx="11959425" cy="5742699"/>
          </a:xfrm>
          <a:prstGeom prst="rect">
            <a:avLst/>
          </a:prstGeom>
          <a:noFill/>
        </p:spPr>
        <p:txBody>
          <a:bodyPr wrap="square" lIns="108000" tIns="0" rIns="288000" bIns="216000">
            <a:spAutoFit/>
          </a:bodyPr>
          <a:lstStyle/>
          <a:p>
            <a:pPr marL="342900" indent="-342900">
              <a:spcBef>
                <a:spcPts val="1800"/>
              </a:spcBef>
              <a:spcAft>
                <a:spcPts val="900"/>
              </a:spcAft>
              <a:buAutoNum type="arabicPeriod"/>
            </a:pPr>
            <a:r>
              <a:rPr lang="en-US" sz="1600" b="1" u="none" strike="noStrike" dirty="0">
                <a:effectLst/>
                <a:latin typeface="Manrope" panose="020B0604020202020204" charset="0"/>
              </a:rPr>
              <a:t>Scale vs. Efficiency Realignment</a:t>
            </a:r>
            <a:endParaRPr lang="en-US" sz="1600" b="1" dirty="0">
              <a:latin typeface="Manrope" panose="020B0604020202020204" charset="0"/>
            </a:endParaRPr>
          </a:p>
          <a:p>
            <a:r>
              <a:rPr lang="en-US" sz="1600" b="0" u="none" strike="noStrike" dirty="0">
                <a:effectLst/>
                <a:latin typeface="Manrope" panose="020B0604020202020204" charset="0"/>
              </a:rPr>
              <a:t>HUL continues to lead on absolute scale with </a:t>
            </a:r>
            <a:r>
              <a:rPr lang="en-US" sz="1600" b="1" u="none" strike="noStrike" dirty="0">
                <a:effectLst/>
                <a:latin typeface="Manrope" panose="020B0604020202020204" charset="0"/>
              </a:rPr>
              <a:t>₹63,763 Cr in turnover</a:t>
            </a:r>
            <a:r>
              <a:rPr lang="en-US" sz="1600" b="0" u="none" strike="noStrike" dirty="0">
                <a:effectLst/>
                <a:latin typeface="Manrope" panose="020B0604020202020204" charset="0"/>
              </a:rPr>
              <a:t>, leveraging a massive physical network. While Nestle still wins on raw efficiency metrics, its capital base dilution (including a 1:1 bonus share issue in 2024–2026) lowered its historic triple-digit ROE down to </a:t>
            </a:r>
            <a:r>
              <a:rPr lang="en-US" sz="1600" b="1" u="none" strike="noStrike" dirty="0">
                <a:effectLst/>
                <a:latin typeface="Manrope" panose="020B0604020202020204" charset="0"/>
              </a:rPr>
              <a:t>73.2%</a:t>
            </a:r>
            <a:r>
              <a:rPr lang="en-US" sz="1600" b="0" u="none" strike="noStrike" dirty="0">
                <a:effectLst/>
                <a:latin typeface="Manrope" panose="020B0604020202020204" charset="0"/>
              </a:rPr>
              <a:t>. 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600" b="1" u="none" strike="noStrike" dirty="0">
                <a:effectLst/>
                <a:latin typeface="Manrope" panose="020B0604020202020204" charset="0"/>
              </a:rPr>
              <a:t>2. Margin Squeezes &amp; Volume Prioritization</a:t>
            </a:r>
          </a:p>
          <a:p>
            <a:pPr>
              <a:buNone/>
            </a:pPr>
            <a:r>
              <a:rPr lang="en-US" sz="1600" b="0" u="none" strike="noStrike" dirty="0">
                <a:effectLst/>
                <a:latin typeface="Manrope" panose="020B0604020202020204" charset="0"/>
              </a:rPr>
              <a:t>The commodity inflation shock extended well past FY22. By FY25–FY26, both companies encountered a structural urban demand slowdown. HUL adjusted its playbook to prioritize volume growth over sheer pricing power, while Nestle's margins took hits from unprecedented cocoa and coffee price spikes.</a:t>
            </a:r>
            <a:endParaRPr lang="en-US" sz="1600" dirty="0">
              <a:latin typeface="Manrope" panose="020B0604020202020204" charset="0"/>
            </a:endParaRPr>
          </a:p>
          <a:p>
            <a:pPr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1600" b="1" u="none" strike="noStrike" dirty="0">
                <a:effectLst/>
                <a:latin typeface="Manrope" panose="020B0604020202020204" charset="0"/>
              </a:rPr>
              <a:t>3. Shift in Capital Allocation</a:t>
            </a:r>
          </a:p>
          <a:p>
            <a:pPr>
              <a:buNone/>
            </a:pPr>
            <a:r>
              <a:rPr lang="en-US" sz="1600" b="0" u="none" strike="noStrike" dirty="0">
                <a:effectLst/>
                <a:latin typeface="Manrope" panose="020B0604020202020204" charset="0"/>
              </a:rPr>
              <a:t>HUL remains debt-free with a steady 92%+ dividend distribution pattern. Conversely, Nestle moved away from its 100%+ payout ratio baseline, opting to aggressively reinvest profits into domestic product expansion and manufacturing capital expenditure. 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600" b="1" u="none" strike="noStrike" dirty="0">
                <a:effectLst/>
                <a:latin typeface="Manrope" panose="020B0604020202020204" charset="0"/>
              </a:rPr>
              <a:t>4. Investor Returns &amp; Re-Rating</a:t>
            </a:r>
          </a:p>
          <a:p>
            <a:pPr>
              <a:buNone/>
            </a:pPr>
            <a:r>
              <a:rPr lang="en-US" sz="1600" b="0" u="none" strike="noStrike" dirty="0">
                <a:effectLst/>
                <a:latin typeface="Manrope" panose="020B0604020202020204" charset="0"/>
              </a:rPr>
              <a:t>The massive wealth-creation gap where Nestle outperformed HUL by 2.7x slowed down. Slower premium packaged food growth and localized margin pressures led to a stock price cooling period for Nestle, aligning its trading multiples closer to traditional defensive FMCG benchmarks. 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600" b="1" u="none" strike="noStrike" dirty="0">
                <a:effectLst/>
                <a:latin typeface="Manrope" panose="020B0604020202020204" charset="0"/>
              </a:rPr>
              <a:t>5. Diversification vs. Brand Dependency</a:t>
            </a:r>
          </a:p>
          <a:p>
            <a:pPr>
              <a:buNone/>
            </a:pPr>
            <a:r>
              <a:rPr lang="en-US" sz="1600" b="0" u="none" strike="noStrike" dirty="0">
                <a:effectLst/>
                <a:latin typeface="Manrope" panose="020B0604020202020204" charset="0"/>
              </a:rPr>
              <a:t>Nestle worked to broaden its portfolio mix to reduce its structural reliance on Maggi noodles (~30%+ revenue bucket). However, HUL remains the fundamentally lower-risk profile, as its top brands are widely distributed across diverse, insulated home and personal care categories.</a:t>
            </a:r>
          </a:p>
        </p:txBody>
      </p:sp>
    </p:spTree>
    <p:extLst>
      <p:ext uri="{BB962C8B-B14F-4D97-AF65-F5344CB8AC3E}">
        <p14:creationId xmlns:p14="http://schemas.microsoft.com/office/powerpoint/2010/main" val="3667243434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923</TotalTime>
  <Words>1497</Words>
  <Application>Microsoft Office PowerPoint</Application>
  <PresentationFormat>Widescreen</PresentationFormat>
  <Paragraphs>152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Google Sans</vt:lpstr>
      <vt:lpstr>Inter</vt:lpstr>
      <vt:lpstr>Lucida Bright</vt:lpstr>
      <vt:lpstr>Manrope</vt:lpstr>
      <vt:lpstr>Manrope Bold</vt:lpstr>
      <vt:lpstr>Tw Cen MT</vt:lpstr>
      <vt:lpstr>Droplet</vt:lpstr>
      <vt:lpstr>PowerPoint Presentation</vt:lpstr>
      <vt:lpstr>PowerPoint Presentation</vt:lpstr>
      <vt:lpstr>Company at a Glance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Govind Patidar</dc:creator>
  <cp:lastModifiedBy>Govind Patidar</cp:lastModifiedBy>
  <cp:revision>27</cp:revision>
  <dcterms:created xsi:type="dcterms:W3CDTF">2026-07-16T03:49:31Z</dcterms:created>
  <dcterms:modified xsi:type="dcterms:W3CDTF">2026-07-31T08:16:15Z</dcterms:modified>
</cp:coreProperties>
</file>