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83" r:id="rId1"/>
  </p:sldMasterIdLst>
  <p:sldIdLst>
    <p:sldId id="256" r:id="rId2"/>
    <p:sldId id="257" r:id="rId3"/>
    <p:sldId id="267" r:id="rId4"/>
    <p:sldId id="258" r:id="rId5"/>
    <p:sldId id="259" r:id="rId6"/>
    <p:sldId id="260" r:id="rId7"/>
    <p:sldId id="261" r:id="rId8"/>
    <p:sldId id="262" r:id="rId9"/>
    <p:sldId id="263" r:id="rId10"/>
    <p:sldId id="264" r:id="rId11"/>
    <p:sldId id="265"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A4BF22-2F62-4E75-B84F-FBC080BD0D34}"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IN"/>
        </a:p>
      </dgm:t>
    </dgm:pt>
    <dgm:pt modelId="{948C03B5-B518-47DE-80E7-BE9BA988A80B}">
      <dgm:prSet phldrT="[Text]"/>
      <dgm:spPr/>
      <dgm:t>
        <a:bodyPr/>
        <a:lstStyle/>
        <a:p>
          <a:pPr>
            <a:buNone/>
          </a:pPr>
          <a:r>
            <a:rPr lang="en-IN" dirty="0"/>
            <a:t>• Market Cap (E)  = 32155000 </a:t>
          </a:r>
        </a:p>
      </dgm:t>
    </dgm:pt>
    <dgm:pt modelId="{5233F2C9-24CF-40BA-B436-7906AD4DF203}" type="sibTrans" cxnId="{DE728A23-53EF-45D1-8F8C-89040A94B83E}">
      <dgm:prSet/>
      <dgm:spPr/>
      <dgm:t>
        <a:bodyPr/>
        <a:lstStyle/>
        <a:p>
          <a:endParaRPr lang="en-IN"/>
        </a:p>
      </dgm:t>
    </dgm:pt>
    <dgm:pt modelId="{5D4A4AE3-9BB0-44BF-A239-BFF80E1F93FA}" type="parTrans" cxnId="{DE728A23-53EF-45D1-8F8C-89040A94B83E}">
      <dgm:prSet/>
      <dgm:spPr/>
      <dgm:t>
        <a:bodyPr/>
        <a:lstStyle/>
        <a:p>
          <a:endParaRPr lang="en-IN"/>
        </a:p>
      </dgm:t>
    </dgm:pt>
    <dgm:pt modelId="{0CFC55E5-B569-450E-A5A8-BB9783CFDF3C}">
      <dgm:prSet/>
      <dgm:spPr/>
      <dgm:t>
        <a:bodyPr/>
        <a:lstStyle/>
        <a:p>
          <a:r>
            <a:rPr lang="en-US" dirty="0"/>
            <a:t>• Market Value of Debt (D)= </a:t>
          </a:r>
          <a:r>
            <a:rPr lang="en-IN" dirty="0"/>
            <a:t>14719000</a:t>
          </a:r>
          <a:endParaRPr lang="en-US" dirty="0"/>
        </a:p>
      </dgm:t>
    </dgm:pt>
    <dgm:pt modelId="{60CA2667-952D-4600-9647-ACE86C4F3B32}" type="parTrans" cxnId="{AE8F1BF4-1FE3-4CEB-844E-7BBF671184EC}">
      <dgm:prSet/>
      <dgm:spPr/>
      <dgm:t>
        <a:bodyPr/>
        <a:lstStyle/>
        <a:p>
          <a:endParaRPr lang="en-IN"/>
        </a:p>
      </dgm:t>
    </dgm:pt>
    <dgm:pt modelId="{AFAF2637-6E77-46CD-AD69-C3115559887B}" type="sibTrans" cxnId="{AE8F1BF4-1FE3-4CEB-844E-7BBF671184EC}">
      <dgm:prSet/>
      <dgm:spPr/>
      <dgm:t>
        <a:bodyPr/>
        <a:lstStyle/>
        <a:p>
          <a:endParaRPr lang="en-IN"/>
        </a:p>
      </dgm:t>
    </dgm:pt>
    <dgm:pt modelId="{F8B7D76D-224F-4D80-A0B1-D162100618A7}">
      <dgm:prSet/>
      <dgm:spPr/>
      <dgm:t>
        <a:bodyPr/>
        <a:lstStyle/>
        <a:p>
          <a:r>
            <a:rPr lang="en-IN" dirty="0"/>
            <a:t>• Total Value =46874000</a:t>
          </a:r>
        </a:p>
      </dgm:t>
    </dgm:pt>
    <dgm:pt modelId="{58B026A7-56A7-4194-8164-9184A6A4B0D8}" type="parTrans" cxnId="{D458DEF3-ADFE-4548-87EB-12EDFD99761E}">
      <dgm:prSet/>
      <dgm:spPr/>
      <dgm:t>
        <a:bodyPr/>
        <a:lstStyle/>
        <a:p>
          <a:endParaRPr lang="en-IN"/>
        </a:p>
      </dgm:t>
    </dgm:pt>
    <dgm:pt modelId="{163B1E32-9DE3-4083-9DF3-A4A8EEAE73B1}" type="sibTrans" cxnId="{D458DEF3-ADFE-4548-87EB-12EDFD99761E}">
      <dgm:prSet/>
      <dgm:spPr/>
      <dgm:t>
        <a:bodyPr/>
        <a:lstStyle/>
        <a:p>
          <a:endParaRPr lang="en-IN"/>
        </a:p>
      </dgm:t>
    </dgm:pt>
    <dgm:pt modelId="{CA01A334-6BD3-45C8-845F-A909399848EC}">
      <dgm:prSet/>
      <dgm:spPr/>
      <dgm:t>
        <a:bodyPr/>
        <a:lstStyle/>
        <a:p>
          <a:r>
            <a:rPr lang="en-IN" dirty="0"/>
            <a:t>• E/V =  68.59%</a:t>
          </a:r>
        </a:p>
      </dgm:t>
    </dgm:pt>
    <dgm:pt modelId="{BDC3EC98-550C-4625-B1FF-910B5CB5032C}" type="parTrans" cxnId="{F5866A85-0D5A-45E9-BF5B-EA657928FBF3}">
      <dgm:prSet/>
      <dgm:spPr/>
      <dgm:t>
        <a:bodyPr/>
        <a:lstStyle/>
        <a:p>
          <a:endParaRPr lang="en-IN"/>
        </a:p>
      </dgm:t>
    </dgm:pt>
    <dgm:pt modelId="{67E8FF1C-6E76-4C20-A8E4-E89DC799F70A}" type="sibTrans" cxnId="{F5866A85-0D5A-45E9-BF5B-EA657928FBF3}">
      <dgm:prSet/>
      <dgm:spPr/>
      <dgm:t>
        <a:bodyPr/>
        <a:lstStyle/>
        <a:p>
          <a:endParaRPr lang="en-IN"/>
        </a:p>
      </dgm:t>
    </dgm:pt>
    <dgm:pt modelId="{C2BE50AE-FFAC-4F42-B854-CEEF21C61E65}">
      <dgm:prSet/>
      <dgm:spPr/>
      <dgm:t>
        <a:bodyPr/>
        <a:lstStyle/>
        <a:p>
          <a:r>
            <a:rPr lang="en-IN" dirty="0"/>
            <a:t>• D/V=  31.4%</a:t>
          </a:r>
        </a:p>
      </dgm:t>
    </dgm:pt>
    <dgm:pt modelId="{675E6918-8714-45F0-83B9-CE7BE614FB61}" type="sibTrans" cxnId="{49B38C46-8A80-47E0-BF6B-46BDB450DF61}">
      <dgm:prSet/>
      <dgm:spPr/>
      <dgm:t>
        <a:bodyPr/>
        <a:lstStyle/>
        <a:p>
          <a:endParaRPr lang="en-IN"/>
        </a:p>
      </dgm:t>
    </dgm:pt>
    <dgm:pt modelId="{43486E5D-1F97-42A7-B2A4-7E89600CCD3B}" type="parTrans" cxnId="{49B38C46-8A80-47E0-BF6B-46BDB450DF61}">
      <dgm:prSet/>
      <dgm:spPr/>
      <dgm:t>
        <a:bodyPr/>
        <a:lstStyle/>
        <a:p>
          <a:endParaRPr lang="en-IN"/>
        </a:p>
      </dgm:t>
    </dgm:pt>
    <dgm:pt modelId="{55577101-D524-465F-B3B9-7C20FDA1B25C}" type="pres">
      <dgm:prSet presAssocID="{4BA4BF22-2F62-4E75-B84F-FBC080BD0D34}" presName="Name0" presStyleCnt="0">
        <dgm:presLayoutVars>
          <dgm:chMax val="7"/>
          <dgm:chPref val="7"/>
          <dgm:dir/>
        </dgm:presLayoutVars>
      </dgm:prSet>
      <dgm:spPr/>
    </dgm:pt>
    <dgm:pt modelId="{1812EF87-807D-433C-9185-9DB47D5900CF}" type="pres">
      <dgm:prSet presAssocID="{4BA4BF22-2F62-4E75-B84F-FBC080BD0D34}" presName="Name1" presStyleCnt="0"/>
      <dgm:spPr/>
    </dgm:pt>
    <dgm:pt modelId="{2FA9AD24-CC0E-4F3B-8F58-65283AAE8C8F}" type="pres">
      <dgm:prSet presAssocID="{4BA4BF22-2F62-4E75-B84F-FBC080BD0D34}" presName="cycle" presStyleCnt="0"/>
      <dgm:spPr/>
    </dgm:pt>
    <dgm:pt modelId="{D171FAF3-3B3F-4016-93F1-BDF34451F505}" type="pres">
      <dgm:prSet presAssocID="{4BA4BF22-2F62-4E75-B84F-FBC080BD0D34}" presName="srcNode" presStyleLbl="node1" presStyleIdx="0" presStyleCnt="5"/>
      <dgm:spPr/>
    </dgm:pt>
    <dgm:pt modelId="{90C12933-1863-4738-8886-15A6AB120196}" type="pres">
      <dgm:prSet presAssocID="{4BA4BF22-2F62-4E75-B84F-FBC080BD0D34}" presName="conn" presStyleLbl="parChTrans1D2" presStyleIdx="0" presStyleCnt="1"/>
      <dgm:spPr/>
    </dgm:pt>
    <dgm:pt modelId="{4478E517-A026-475D-8066-A5B368FAD357}" type="pres">
      <dgm:prSet presAssocID="{4BA4BF22-2F62-4E75-B84F-FBC080BD0D34}" presName="extraNode" presStyleLbl="node1" presStyleIdx="0" presStyleCnt="5"/>
      <dgm:spPr/>
    </dgm:pt>
    <dgm:pt modelId="{3C7A2A4B-05E2-4E78-A998-7920009A6E29}" type="pres">
      <dgm:prSet presAssocID="{4BA4BF22-2F62-4E75-B84F-FBC080BD0D34}" presName="dstNode" presStyleLbl="node1" presStyleIdx="0" presStyleCnt="5"/>
      <dgm:spPr/>
    </dgm:pt>
    <dgm:pt modelId="{14C5F0BF-55B0-49A0-9C92-4138997369B8}" type="pres">
      <dgm:prSet presAssocID="{948C03B5-B518-47DE-80E7-BE9BA988A80B}" presName="text_1" presStyleLbl="node1" presStyleIdx="0" presStyleCnt="5">
        <dgm:presLayoutVars>
          <dgm:bulletEnabled val="1"/>
        </dgm:presLayoutVars>
      </dgm:prSet>
      <dgm:spPr/>
    </dgm:pt>
    <dgm:pt modelId="{8865DB4F-F31A-484B-931E-B0355FD3CF63}" type="pres">
      <dgm:prSet presAssocID="{948C03B5-B518-47DE-80E7-BE9BA988A80B}" presName="accent_1" presStyleCnt="0"/>
      <dgm:spPr/>
    </dgm:pt>
    <dgm:pt modelId="{44E3D646-4D4A-431C-A5B0-80847DD098EF}" type="pres">
      <dgm:prSet presAssocID="{948C03B5-B518-47DE-80E7-BE9BA988A80B}" presName="accentRepeatNode" presStyleLbl="solidFgAcc1" presStyleIdx="0" presStyleCnt="5"/>
      <dgm:spPr/>
    </dgm:pt>
    <dgm:pt modelId="{ABF6EA6D-46FE-48C9-83DC-905A084E2C51}" type="pres">
      <dgm:prSet presAssocID="{0CFC55E5-B569-450E-A5A8-BB9783CFDF3C}" presName="text_2" presStyleLbl="node1" presStyleIdx="1" presStyleCnt="5">
        <dgm:presLayoutVars>
          <dgm:bulletEnabled val="1"/>
        </dgm:presLayoutVars>
      </dgm:prSet>
      <dgm:spPr/>
    </dgm:pt>
    <dgm:pt modelId="{F36ECF25-0A11-4212-8A73-1B4A86FCC872}" type="pres">
      <dgm:prSet presAssocID="{0CFC55E5-B569-450E-A5A8-BB9783CFDF3C}" presName="accent_2" presStyleCnt="0"/>
      <dgm:spPr/>
    </dgm:pt>
    <dgm:pt modelId="{93189EC5-C308-4923-A573-D6B04D5343D1}" type="pres">
      <dgm:prSet presAssocID="{0CFC55E5-B569-450E-A5A8-BB9783CFDF3C}" presName="accentRepeatNode" presStyleLbl="solidFgAcc1" presStyleIdx="1" presStyleCnt="5"/>
      <dgm:spPr/>
    </dgm:pt>
    <dgm:pt modelId="{396C2429-2BBE-4EED-9B58-115D0EAA37B6}" type="pres">
      <dgm:prSet presAssocID="{F8B7D76D-224F-4D80-A0B1-D162100618A7}" presName="text_3" presStyleLbl="node1" presStyleIdx="2" presStyleCnt="5">
        <dgm:presLayoutVars>
          <dgm:bulletEnabled val="1"/>
        </dgm:presLayoutVars>
      </dgm:prSet>
      <dgm:spPr/>
    </dgm:pt>
    <dgm:pt modelId="{1E17A449-9B18-4C88-B659-312AD4F762BC}" type="pres">
      <dgm:prSet presAssocID="{F8B7D76D-224F-4D80-A0B1-D162100618A7}" presName="accent_3" presStyleCnt="0"/>
      <dgm:spPr/>
    </dgm:pt>
    <dgm:pt modelId="{6BCE7D50-528C-4395-8595-D07B48187A37}" type="pres">
      <dgm:prSet presAssocID="{F8B7D76D-224F-4D80-A0B1-D162100618A7}" presName="accentRepeatNode" presStyleLbl="solidFgAcc1" presStyleIdx="2" presStyleCnt="5"/>
      <dgm:spPr/>
    </dgm:pt>
    <dgm:pt modelId="{A383C0B6-C608-4A2D-81CD-99148E7E831D}" type="pres">
      <dgm:prSet presAssocID="{CA01A334-6BD3-45C8-845F-A909399848EC}" presName="text_4" presStyleLbl="node1" presStyleIdx="3" presStyleCnt="5">
        <dgm:presLayoutVars>
          <dgm:bulletEnabled val="1"/>
        </dgm:presLayoutVars>
      </dgm:prSet>
      <dgm:spPr/>
    </dgm:pt>
    <dgm:pt modelId="{64C42D8A-7413-4E1C-A555-D73F9C0FFBAA}" type="pres">
      <dgm:prSet presAssocID="{CA01A334-6BD3-45C8-845F-A909399848EC}" presName="accent_4" presStyleCnt="0"/>
      <dgm:spPr/>
    </dgm:pt>
    <dgm:pt modelId="{4DAD1BD3-03FD-4B61-B837-73DEFA2553EB}" type="pres">
      <dgm:prSet presAssocID="{CA01A334-6BD3-45C8-845F-A909399848EC}" presName="accentRepeatNode" presStyleLbl="solidFgAcc1" presStyleIdx="3" presStyleCnt="5"/>
      <dgm:spPr/>
    </dgm:pt>
    <dgm:pt modelId="{1807514F-B977-4D24-91E0-FC51915D2DDF}" type="pres">
      <dgm:prSet presAssocID="{C2BE50AE-FFAC-4F42-B854-CEEF21C61E65}" presName="text_5" presStyleLbl="node1" presStyleIdx="4" presStyleCnt="5">
        <dgm:presLayoutVars>
          <dgm:bulletEnabled val="1"/>
        </dgm:presLayoutVars>
      </dgm:prSet>
      <dgm:spPr/>
    </dgm:pt>
    <dgm:pt modelId="{6AFC8316-F5CE-404F-993F-46C47EF9A87B}" type="pres">
      <dgm:prSet presAssocID="{C2BE50AE-FFAC-4F42-B854-CEEF21C61E65}" presName="accent_5" presStyleCnt="0"/>
      <dgm:spPr/>
    </dgm:pt>
    <dgm:pt modelId="{4CC081F7-D4F7-47A5-B56A-DB35CD8F0F2F}" type="pres">
      <dgm:prSet presAssocID="{C2BE50AE-FFAC-4F42-B854-CEEF21C61E65}" presName="accentRepeatNode" presStyleLbl="solidFgAcc1" presStyleIdx="4" presStyleCnt="5"/>
      <dgm:spPr/>
    </dgm:pt>
  </dgm:ptLst>
  <dgm:cxnLst>
    <dgm:cxn modelId="{CAE9CC1D-5920-4597-9510-BAE4D30D8A6B}" type="presOf" srcId="{4BA4BF22-2F62-4E75-B84F-FBC080BD0D34}" destId="{55577101-D524-465F-B3B9-7C20FDA1B25C}" srcOrd="0" destOrd="0" presId="urn:microsoft.com/office/officeart/2008/layout/VerticalCurvedList"/>
    <dgm:cxn modelId="{DE728A23-53EF-45D1-8F8C-89040A94B83E}" srcId="{4BA4BF22-2F62-4E75-B84F-FBC080BD0D34}" destId="{948C03B5-B518-47DE-80E7-BE9BA988A80B}" srcOrd="0" destOrd="0" parTransId="{5D4A4AE3-9BB0-44BF-A239-BFF80E1F93FA}" sibTransId="{5233F2C9-24CF-40BA-B436-7906AD4DF203}"/>
    <dgm:cxn modelId="{49B38C46-8A80-47E0-BF6B-46BDB450DF61}" srcId="{4BA4BF22-2F62-4E75-B84F-FBC080BD0D34}" destId="{C2BE50AE-FFAC-4F42-B854-CEEF21C61E65}" srcOrd="4" destOrd="0" parTransId="{43486E5D-1F97-42A7-B2A4-7E89600CCD3B}" sibTransId="{675E6918-8714-45F0-83B9-CE7BE614FB61}"/>
    <dgm:cxn modelId="{49DFE568-7A92-4A05-901C-D60E7399B36B}" type="presOf" srcId="{0CFC55E5-B569-450E-A5A8-BB9783CFDF3C}" destId="{ABF6EA6D-46FE-48C9-83DC-905A084E2C51}" srcOrd="0" destOrd="0" presId="urn:microsoft.com/office/officeart/2008/layout/VerticalCurvedList"/>
    <dgm:cxn modelId="{88C7124A-BC7F-41DB-8059-4CD4DBEE9CFD}" type="presOf" srcId="{948C03B5-B518-47DE-80E7-BE9BA988A80B}" destId="{14C5F0BF-55B0-49A0-9C92-4138997369B8}" srcOrd="0" destOrd="0" presId="urn:microsoft.com/office/officeart/2008/layout/VerticalCurvedList"/>
    <dgm:cxn modelId="{F5866A85-0D5A-45E9-BF5B-EA657928FBF3}" srcId="{4BA4BF22-2F62-4E75-B84F-FBC080BD0D34}" destId="{CA01A334-6BD3-45C8-845F-A909399848EC}" srcOrd="3" destOrd="0" parTransId="{BDC3EC98-550C-4625-B1FF-910B5CB5032C}" sibTransId="{67E8FF1C-6E76-4C20-A8E4-E89DC799F70A}"/>
    <dgm:cxn modelId="{751B4C88-FD91-46BA-AC34-C1AE58F4CCFD}" type="presOf" srcId="{CA01A334-6BD3-45C8-845F-A909399848EC}" destId="{A383C0B6-C608-4A2D-81CD-99148E7E831D}" srcOrd="0" destOrd="0" presId="urn:microsoft.com/office/officeart/2008/layout/VerticalCurvedList"/>
    <dgm:cxn modelId="{9069B092-D8E6-4DBA-A9FF-4391AC064539}" type="presOf" srcId="{C2BE50AE-FFAC-4F42-B854-CEEF21C61E65}" destId="{1807514F-B977-4D24-91E0-FC51915D2DDF}" srcOrd="0" destOrd="0" presId="urn:microsoft.com/office/officeart/2008/layout/VerticalCurvedList"/>
    <dgm:cxn modelId="{6B8A16CA-6397-44D1-9283-2E1A82711A32}" type="presOf" srcId="{F8B7D76D-224F-4D80-A0B1-D162100618A7}" destId="{396C2429-2BBE-4EED-9B58-115D0EAA37B6}" srcOrd="0" destOrd="0" presId="urn:microsoft.com/office/officeart/2008/layout/VerticalCurvedList"/>
    <dgm:cxn modelId="{DF045DE6-4C98-45A7-8E44-F2B3675A812C}" type="presOf" srcId="{5233F2C9-24CF-40BA-B436-7906AD4DF203}" destId="{90C12933-1863-4738-8886-15A6AB120196}" srcOrd="0" destOrd="0" presId="urn:microsoft.com/office/officeart/2008/layout/VerticalCurvedList"/>
    <dgm:cxn modelId="{D458DEF3-ADFE-4548-87EB-12EDFD99761E}" srcId="{4BA4BF22-2F62-4E75-B84F-FBC080BD0D34}" destId="{F8B7D76D-224F-4D80-A0B1-D162100618A7}" srcOrd="2" destOrd="0" parTransId="{58B026A7-56A7-4194-8164-9184A6A4B0D8}" sibTransId="{163B1E32-9DE3-4083-9DF3-A4A8EEAE73B1}"/>
    <dgm:cxn modelId="{AE8F1BF4-1FE3-4CEB-844E-7BBF671184EC}" srcId="{4BA4BF22-2F62-4E75-B84F-FBC080BD0D34}" destId="{0CFC55E5-B569-450E-A5A8-BB9783CFDF3C}" srcOrd="1" destOrd="0" parTransId="{60CA2667-952D-4600-9647-ACE86C4F3B32}" sibTransId="{AFAF2637-6E77-46CD-AD69-C3115559887B}"/>
    <dgm:cxn modelId="{BFECA3EF-D5BB-4478-9C99-2881A04B4988}" type="presParOf" srcId="{55577101-D524-465F-B3B9-7C20FDA1B25C}" destId="{1812EF87-807D-433C-9185-9DB47D5900CF}" srcOrd="0" destOrd="0" presId="urn:microsoft.com/office/officeart/2008/layout/VerticalCurvedList"/>
    <dgm:cxn modelId="{8E01C988-AA62-4DAF-9DF7-9F914B1CF77B}" type="presParOf" srcId="{1812EF87-807D-433C-9185-9DB47D5900CF}" destId="{2FA9AD24-CC0E-4F3B-8F58-65283AAE8C8F}" srcOrd="0" destOrd="0" presId="urn:microsoft.com/office/officeart/2008/layout/VerticalCurvedList"/>
    <dgm:cxn modelId="{428D13D0-001E-4E75-A452-8BAEEEB55B84}" type="presParOf" srcId="{2FA9AD24-CC0E-4F3B-8F58-65283AAE8C8F}" destId="{D171FAF3-3B3F-4016-93F1-BDF34451F505}" srcOrd="0" destOrd="0" presId="urn:microsoft.com/office/officeart/2008/layout/VerticalCurvedList"/>
    <dgm:cxn modelId="{690DF79F-C8AA-436C-9356-C08A7112B2CB}" type="presParOf" srcId="{2FA9AD24-CC0E-4F3B-8F58-65283AAE8C8F}" destId="{90C12933-1863-4738-8886-15A6AB120196}" srcOrd="1" destOrd="0" presId="urn:microsoft.com/office/officeart/2008/layout/VerticalCurvedList"/>
    <dgm:cxn modelId="{C63A15B6-978E-4F0E-B638-789F9B98D4F3}" type="presParOf" srcId="{2FA9AD24-CC0E-4F3B-8F58-65283AAE8C8F}" destId="{4478E517-A026-475D-8066-A5B368FAD357}" srcOrd="2" destOrd="0" presId="urn:microsoft.com/office/officeart/2008/layout/VerticalCurvedList"/>
    <dgm:cxn modelId="{C137732D-D7F9-4E8E-92B7-CE577F9001B2}" type="presParOf" srcId="{2FA9AD24-CC0E-4F3B-8F58-65283AAE8C8F}" destId="{3C7A2A4B-05E2-4E78-A998-7920009A6E29}" srcOrd="3" destOrd="0" presId="urn:microsoft.com/office/officeart/2008/layout/VerticalCurvedList"/>
    <dgm:cxn modelId="{4EA4F2EC-981D-41E8-A130-C5A079759266}" type="presParOf" srcId="{1812EF87-807D-433C-9185-9DB47D5900CF}" destId="{14C5F0BF-55B0-49A0-9C92-4138997369B8}" srcOrd="1" destOrd="0" presId="urn:microsoft.com/office/officeart/2008/layout/VerticalCurvedList"/>
    <dgm:cxn modelId="{AA299479-D354-48F6-9D46-2E2704AE71CF}" type="presParOf" srcId="{1812EF87-807D-433C-9185-9DB47D5900CF}" destId="{8865DB4F-F31A-484B-931E-B0355FD3CF63}" srcOrd="2" destOrd="0" presId="urn:microsoft.com/office/officeart/2008/layout/VerticalCurvedList"/>
    <dgm:cxn modelId="{EC4F758C-841B-4E96-B76C-ECD6BC3ECB96}" type="presParOf" srcId="{8865DB4F-F31A-484B-931E-B0355FD3CF63}" destId="{44E3D646-4D4A-431C-A5B0-80847DD098EF}" srcOrd="0" destOrd="0" presId="urn:microsoft.com/office/officeart/2008/layout/VerticalCurvedList"/>
    <dgm:cxn modelId="{E13FB5F3-C003-48D9-8FB9-B2B3908E440D}" type="presParOf" srcId="{1812EF87-807D-433C-9185-9DB47D5900CF}" destId="{ABF6EA6D-46FE-48C9-83DC-905A084E2C51}" srcOrd="3" destOrd="0" presId="urn:microsoft.com/office/officeart/2008/layout/VerticalCurvedList"/>
    <dgm:cxn modelId="{C73E9BBD-23CD-4C74-9DCB-0706E7A476C2}" type="presParOf" srcId="{1812EF87-807D-433C-9185-9DB47D5900CF}" destId="{F36ECF25-0A11-4212-8A73-1B4A86FCC872}" srcOrd="4" destOrd="0" presId="urn:microsoft.com/office/officeart/2008/layout/VerticalCurvedList"/>
    <dgm:cxn modelId="{BBCD0F37-9D42-4BA4-938D-268796465FA4}" type="presParOf" srcId="{F36ECF25-0A11-4212-8A73-1B4A86FCC872}" destId="{93189EC5-C308-4923-A573-D6B04D5343D1}" srcOrd="0" destOrd="0" presId="urn:microsoft.com/office/officeart/2008/layout/VerticalCurvedList"/>
    <dgm:cxn modelId="{26487E32-F6B0-4E64-BBAE-6DCE1895D098}" type="presParOf" srcId="{1812EF87-807D-433C-9185-9DB47D5900CF}" destId="{396C2429-2BBE-4EED-9B58-115D0EAA37B6}" srcOrd="5" destOrd="0" presId="urn:microsoft.com/office/officeart/2008/layout/VerticalCurvedList"/>
    <dgm:cxn modelId="{12B2DBCD-AAFF-42FE-8AAF-F13115F9D146}" type="presParOf" srcId="{1812EF87-807D-433C-9185-9DB47D5900CF}" destId="{1E17A449-9B18-4C88-B659-312AD4F762BC}" srcOrd="6" destOrd="0" presId="urn:microsoft.com/office/officeart/2008/layout/VerticalCurvedList"/>
    <dgm:cxn modelId="{20B7DFBA-E5F9-4F74-AF42-9591DFC31258}" type="presParOf" srcId="{1E17A449-9B18-4C88-B659-312AD4F762BC}" destId="{6BCE7D50-528C-4395-8595-D07B48187A37}" srcOrd="0" destOrd="0" presId="urn:microsoft.com/office/officeart/2008/layout/VerticalCurvedList"/>
    <dgm:cxn modelId="{549D6ACF-6610-4AD3-86D5-2BC334823D43}" type="presParOf" srcId="{1812EF87-807D-433C-9185-9DB47D5900CF}" destId="{A383C0B6-C608-4A2D-81CD-99148E7E831D}" srcOrd="7" destOrd="0" presId="urn:microsoft.com/office/officeart/2008/layout/VerticalCurvedList"/>
    <dgm:cxn modelId="{D4A5D2BA-D940-4943-AC00-9AD415253996}" type="presParOf" srcId="{1812EF87-807D-433C-9185-9DB47D5900CF}" destId="{64C42D8A-7413-4E1C-A555-D73F9C0FFBAA}" srcOrd="8" destOrd="0" presId="urn:microsoft.com/office/officeart/2008/layout/VerticalCurvedList"/>
    <dgm:cxn modelId="{C0D0D8A5-8CCC-4559-BACC-7738B987CA67}" type="presParOf" srcId="{64C42D8A-7413-4E1C-A555-D73F9C0FFBAA}" destId="{4DAD1BD3-03FD-4B61-B837-73DEFA2553EB}" srcOrd="0" destOrd="0" presId="urn:microsoft.com/office/officeart/2008/layout/VerticalCurvedList"/>
    <dgm:cxn modelId="{43568E79-65A5-422F-A54F-E45359FD766B}" type="presParOf" srcId="{1812EF87-807D-433C-9185-9DB47D5900CF}" destId="{1807514F-B977-4D24-91E0-FC51915D2DDF}" srcOrd="9" destOrd="0" presId="urn:microsoft.com/office/officeart/2008/layout/VerticalCurvedList"/>
    <dgm:cxn modelId="{A455306F-D2F4-42A3-B1D7-5868B1708A87}" type="presParOf" srcId="{1812EF87-807D-433C-9185-9DB47D5900CF}" destId="{6AFC8316-F5CE-404F-993F-46C47EF9A87B}" srcOrd="10" destOrd="0" presId="urn:microsoft.com/office/officeart/2008/layout/VerticalCurvedList"/>
    <dgm:cxn modelId="{BD7529F3-3BA1-431C-ADDA-CAB81F119C5B}" type="presParOf" srcId="{6AFC8316-F5CE-404F-993F-46C47EF9A87B}" destId="{4CC081F7-D4F7-47A5-B56A-DB35CD8F0F2F}"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D4BE9D-E13C-4F0A-9EFD-6C5C5A2E8BC6}" type="doc">
      <dgm:prSet loTypeId="urn:microsoft.com/office/officeart/2008/layout/PictureStrips" loCatId="list" qsTypeId="urn:microsoft.com/office/officeart/2005/8/quickstyle/simple1" qsCatId="simple" csTypeId="urn:microsoft.com/office/officeart/2005/8/colors/accent1_2" csCatId="accent1" phldr="1"/>
      <dgm:spPr/>
      <dgm:t>
        <a:bodyPr/>
        <a:lstStyle/>
        <a:p>
          <a:endParaRPr lang="en-IN"/>
        </a:p>
      </dgm:t>
    </dgm:pt>
    <dgm:pt modelId="{FF775D26-7277-46FC-B982-DEFF5EFB69A8}">
      <dgm:prSet/>
      <dgm:spPr/>
      <dgm:t>
        <a:bodyPr/>
        <a:lstStyle/>
        <a:p>
          <a:r>
            <a:rPr lang="en-US"/>
            <a:t>Formula: Re = Rf + β(Rm − Rf)</a:t>
          </a:r>
          <a:endParaRPr lang="en-IN"/>
        </a:p>
      </dgm:t>
    </dgm:pt>
    <dgm:pt modelId="{16CA6F39-6A3F-48CE-BE94-5570F44B3010}" type="parTrans" cxnId="{A5A2CFDC-4447-45FA-AD5B-E3A173726F35}">
      <dgm:prSet/>
      <dgm:spPr/>
      <dgm:t>
        <a:bodyPr/>
        <a:lstStyle/>
        <a:p>
          <a:endParaRPr lang="en-IN"/>
        </a:p>
      </dgm:t>
    </dgm:pt>
    <dgm:pt modelId="{ECA6D3B7-91F5-47A5-B944-6898DC0EAE92}" type="sibTrans" cxnId="{A5A2CFDC-4447-45FA-AD5B-E3A173726F35}">
      <dgm:prSet/>
      <dgm:spPr/>
      <dgm:t>
        <a:bodyPr/>
        <a:lstStyle/>
        <a:p>
          <a:endParaRPr lang="en-IN"/>
        </a:p>
      </dgm:t>
    </dgm:pt>
    <dgm:pt modelId="{DF04D8B6-581C-4C01-A554-AE4F2E2F999E}">
      <dgm:prSet/>
      <dgm:spPr/>
      <dgm:t>
        <a:bodyPr/>
        <a:lstStyle/>
        <a:p>
          <a:r>
            <a:rPr lang="en-US"/>
            <a:t>Risk-free Rate: 4.30%</a:t>
          </a:r>
          <a:endParaRPr lang="en-IN"/>
        </a:p>
      </dgm:t>
    </dgm:pt>
    <dgm:pt modelId="{1B5E22AD-FC52-4005-8665-D9E707AF47DF}" type="parTrans" cxnId="{9E0EA99C-0250-47D3-80CC-7D433BB9DE9D}">
      <dgm:prSet/>
      <dgm:spPr/>
      <dgm:t>
        <a:bodyPr/>
        <a:lstStyle/>
        <a:p>
          <a:endParaRPr lang="en-IN"/>
        </a:p>
      </dgm:t>
    </dgm:pt>
    <dgm:pt modelId="{82638E1B-BAEE-4B8E-850A-F1B124CB2C50}" type="sibTrans" cxnId="{9E0EA99C-0250-47D3-80CC-7D433BB9DE9D}">
      <dgm:prSet/>
      <dgm:spPr/>
      <dgm:t>
        <a:bodyPr/>
        <a:lstStyle/>
        <a:p>
          <a:endParaRPr lang="en-IN"/>
        </a:p>
      </dgm:t>
    </dgm:pt>
    <dgm:pt modelId="{B7AA42E1-EF93-498C-8A1D-F08C20987DE0}">
      <dgm:prSet/>
      <dgm:spPr/>
      <dgm:t>
        <a:bodyPr/>
        <a:lstStyle/>
        <a:p>
          <a:r>
            <a:rPr lang="en-US"/>
            <a:t>Beta: 1.83</a:t>
          </a:r>
          <a:endParaRPr lang="en-IN"/>
        </a:p>
      </dgm:t>
    </dgm:pt>
    <dgm:pt modelId="{FB9A3987-7AE0-49D2-A896-2377C4FDA080}" type="parTrans" cxnId="{2EEFBF02-60BF-4A8A-A9EE-3B8A2B401A06}">
      <dgm:prSet/>
      <dgm:spPr/>
      <dgm:t>
        <a:bodyPr/>
        <a:lstStyle/>
        <a:p>
          <a:endParaRPr lang="en-IN"/>
        </a:p>
      </dgm:t>
    </dgm:pt>
    <dgm:pt modelId="{082241F9-E356-42CC-9960-9010E7D225C5}" type="sibTrans" cxnId="{2EEFBF02-60BF-4A8A-A9EE-3B8A2B401A06}">
      <dgm:prSet/>
      <dgm:spPr/>
      <dgm:t>
        <a:bodyPr/>
        <a:lstStyle/>
        <a:p>
          <a:endParaRPr lang="en-IN"/>
        </a:p>
      </dgm:t>
    </dgm:pt>
    <dgm:pt modelId="{5C951C34-6C5A-45A3-9160-EB26FBEABB46}">
      <dgm:prSet/>
      <dgm:spPr/>
      <dgm:t>
        <a:bodyPr/>
        <a:lstStyle/>
        <a:p>
          <a:r>
            <a:rPr lang="en-US"/>
            <a:t>Market Risk Premium: 5.50%</a:t>
          </a:r>
          <a:endParaRPr lang="en-IN"/>
        </a:p>
      </dgm:t>
    </dgm:pt>
    <dgm:pt modelId="{4D64B33E-9CDD-4085-B986-93E1A7A61906}" type="parTrans" cxnId="{B3C6C3FB-70D1-4E3D-8ABE-463956811B38}">
      <dgm:prSet/>
      <dgm:spPr/>
      <dgm:t>
        <a:bodyPr/>
        <a:lstStyle/>
        <a:p>
          <a:endParaRPr lang="en-IN"/>
        </a:p>
      </dgm:t>
    </dgm:pt>
    <dgm:pt modelId="{15CA5206-A5DF-468F-922B-2BB227E78113}" type="sibTrans" cxnId="{B3C6C3FB-70D1-4E3D-8ABE-463956811B38}">
      <dgm:prSet/>
      <dgm:spPr/>
      <dgm:t>
        <a:bodyPr/>
        <a:lstStyle/>
        <a:p>
          <a:endParaRPr lang="en-IN"/>
        </a:p>
      </dgm:t>
    </dgm:pt>
    <dgm:pt modelId="{F873846E-BAE4-43D1-BD52-86C9E64056F4}">
      <dgm:prSet/>
      <dgm:spPr/>
      <dgm:t>
        <a:bodyPr/>
        <a:lstStyle/>
        <a:p>
          <a:r>
            <a:rPr lang="en-US"/>
            <a:t>Cost of Equity (Re): 14.37%</a:t>
          </a:r>
          <a:endParaRPr lang="en-IN"/>
        </a:p>
      </dgm:t>
    </dgm:pt>
    <dgm:pt modelId="{BC4F98E3-B34C-47C2-A132-8356F35A55D3}" type="parTrans" cxnId="{E2A50DAD-C19A-46AD-9554-ED6EB836DCF9}">
      <dgm:prSet/>
      <dgm:spPr/>
      <dgm:t>
        <a:bodyPr/>
        <a:lstStyle/>
        <a:p>
          <a:endParaRPr lang="en-IN"/>
        </a:p>
      </dgm:t>
    </dgm:pt>
    <dgm:pt modelId="{6B1E525B-BBB8-4402-82FB-56175C622181}" type="sibTrans" cxnId="{E2A50DAD-C19A-46AD-9554-ED6EB836DCF9}">
      <dgm:prSet/>
      <dgm:spPr/>
      <dgm:t>
        <a:bodyPr/>
        <a:lstStyle/>
        <a:p>
          <a:endParaRPr lang="en-IN"/>
        </a:p>
      </dgm:t>
    </dgm:pt>
    <dgm:pt modelId="{DDC903D2-46DE-4941-8FA2-2DAFA7D97218}">
      <dgm:prSet/>
      <dgm:spPr/>
      <dgm:t>
        <a:bodyPr/>
        <a:lstStyle/>
        <a:p>
          <a:r>
            <a:rPr lang="en-US"/>
            <a:t>Beta &gt; 1 indicates Tesla is more volatile than the market.</a:t>
          </a:r>
          <a:endParaRPr lang="en-IN"/>
        </a:p>
      </dgm:t>
    </dgm:pt>
    <dgm:pt modelId="{509E3565-7CA1-4BB0-8458-28E545B0CDCC}" type="parTrans" cxnId="{88E75D4C-0DE3-4EB2-8CF2-B86F57BBDD91}">
      <dgm:prSet/>
      <dgm:spPr/>
      <dgm:t>
        <a:bodyPr/>
        <a:lstStyle/>
        <a:p>
          <a:endParaRPr lang="en-IN"/>
        </a:p>
      </dgm:t>
    </dgm:pt>
    <dgm:pt modelId="{CF73B6F5-A454-40C4-898D-77FDD7177E3A}" type="sibTrans" cxnId="{88E75D4C-0DE3-4EB2-8CF2-B86F57BBDD91}">
      <dgm:prSet/>
      <dgm:spPr/>
      <dgm:t>
        <a:bodyPr/>
        <a:lstStyle/>
        <a:p>
          <a:endParaRPr lang="en-IN"/>
        </a:p>
      </dgm:t>
    </dgm:pt>
    <dgm:pt modelId="{2CA41EF1-BE8B-469B-9B5C-4D5AE6AF3701}" type="pres">
      <dgm:prSet presAssocID="{E3D4BE9D-E13C-4F0A-9EFD-6C5C5A2E8BC6}" presName="Name0" presStyleCnt="0">
        <dgm:presLayoutVars>
          <dgm:dir/>
          <dgm:resizeHandles val="exact"/>
        </dgm:presLayoutVars>
      </dgm:prSet>
      <dgm:spPr/>
    </dgm:pt>
    <dgm:pt modelId="{8BF30E96-3F30-46D0-802F-F300FA4E6746}" type="pres">
      <dgm:prSet presAssocID="{FF775D26-7277-46FC-B982-DEFF5EFB69A8}" presName="composite" presStyleCnt="0"/>
      <dgm:spPr/>
    </dgm:pt>
    <dgm:pt modelId="{A36F2D0B-2A3C-46AC-AF67-AD4C014331EE}" type="pres">
      <dgm:prSet presAssocID="{FF775D26-7277-46FC-B982-DEFF5EFB69A8}" presName="rect1" presStyleLbl="trAlignAcc1" presStyleIdx="0" presStyleCnt="6">
        <dgm:presLayoutVars>
          <dgm:bulletEnabled val="1"/>
        </dgm:presLayoutVars>
      </dgm:prSet>
      <dgm:spPr/>
    </dgm:pt>
    <dgm:pt modelId="{C79F3F34-BC85-49FD-A9FB-EF363B81FF69}" type="pres">
      <dgm:prSet presAssocID="{FF775D26-7277-46FC-B982-DEFF5EFB69A8}" presName="rect2" presStyleLbl="fgImgPlace1" presStyleIdx="0" presStyleCnt="6"/>
      <dgm:spPr>
        <a:blipFill>
          <a:blip xmlns:r="http://schemas.openxmlformats.org/officeDocument/2006/relationships" r:embed="rId1">
            <a:extLst>
              <a:ext uri="{96DAC541-7B7A-43D3-8B79-37D633B846F1}">
                <asvg:svgBlip xmlns:asvg="http://schemas.microsoft.com/office/drawing/2016/SVG/main" r:embed="rId2"/>
              </a:ext>
            </a:extLst>
          </a:blip>
          <a:srcRect/>
          <a:stretch>
            <a:fillRect l="-25000" r="-25000"/>
          </a:stretch>
        </a:blipFill>
      </dgm:spPr>
      <dgm:extLst>
        <a:ext uri="{E40237B7-FDA0-4F09-8148-C483321AD2D9}">
          <dgm14:cNvPr xmlns:dgm14="http://schemas.microsoft.com/office/drawing/2010/diagram" id="0" name="" descr="Playbook"/>
        </a:ext>
      </dgm:extLst>
    </dgm:pt>
    <dgm:pt modelId="{83FC8037-5A4F-4DE8-B554-467D1B61D28D}" type="pres">
      <dgm:prSet presAssocID="{ECA6D3B7-91F5-47A5-B944-6898DC0EAE92}" presName="sibTrans" presStyleCnt="0"/>
      <dgm:spPr/>
    </dgm:pt>
    <dgm:pt modelId="{C7BBEDA6-9AEC-4F7C-B4A9-892937CC1775}" type="pres">
      <dgm:prSet presAssocID="{DF04D8B6-581C-4C01-A554-AE4F2E2F999E}" presName="composite" presStyleCnt="0"/>
      <dgm:spPr/>
    </dgm:pt>
    <dgm:pt modelId="{394F1CEA-12A9-4428-A564-EDCC9F1CE317}" type="pres">
      <dgm:prSet presAssocID="{DF04D8B6-581C-4C01-A554-AE4F2E2F999E}" presName="rect1" presStyleLbl="trAlignAcc1" presStyleIdx="1" presStyleCnt="6" custLinFactNeighborY="4948">
        <dgm:presLayoutVars>
          <dgm:bulletEnabled val="1"/>
        </dgm:presLayoutVars>
      </dgm:prSet>
      <dgm:spPr/>
    </dgm:pt>
    <dgm:pt modelId="{E7F0C751-2132-4D0E-98B3-55B55C7967EE}" type="pres">
      <dgm:prSet presAssocID="{DF04D8B6-581C-4C01-A554-AE4F2E2F999E}" presName="rect2" presStyleLbl="fgImgPlace1" presStyleIdx="1" presStyleCnt="6" custScaleX="94555" custScaleY="80965" custLinFactNeighborX="12376" custLinFactNeighborY="10611"/>
      <dgm:spPr>
        <a:blipFill>
          <a:blip xmlns:r="http://schemas.openxmlformats.org/officeDocument/2006/relationships" r:embed="rId3">
            <a:extLst>
              <a:ext uri="{96DAC541-7B7A-43D3-8B79-37D633B846F1}">
                <asvg:svgBlip xmlns:asvg="http://schemas.microsoft.com/office/drawing/2016/SVG/main" r:embed="rId4"/>
              </a:ext>
            </a:extLst>
          </a:blip>
          <a:srcRect/>
          <a:stretch>
            <a:fillRect l="-14000" r="-14000"/>
          </a:stretch>
        </a:blipFill>
      </dgm:spPr>
      <dgm:extLst>
        <a:ext uri="{E40237B7-FDA0-4F09-8148-C483321AD2D9}">
          <dgm14:cNvPr xmlns:dgm14="http://schemas.microsoft.com/office/drawing/2010/diagram" id="0" name="" descr="Open hand with plant"/>
        </a:ext>
      </dgm:extLst>
    </dgm:pt>
    <dgm:pt modelId="{9AA30A08-D847-4FA5-B453-487E10A52675}" type="pres">
      <dgm:prSet presAssocID="{82638E1B-BAEE-4B8E-850A-F1B124CB2C50}" presName="sibTrans" presStyleCnt="0"/>
      <dgm:spPr/>
    </dgm:pt>
    <dgm:pt modelId="{9DA05BC2-0BEF-437C-9E89-1211AFC385FE}" type="pres">
      <dgm:prSet presAssocID="{B7AA42E1-EF93-498C-8A1D-F08C20987DE0}" presName="composite" presStyleCnt="0"/>
      <dgm:spPr/>
    </dgm:pt>
    <dgm:pt modelId="{25DCF976-E8A0-43CF-A16C-72ACC3A14212}" type="pres">
      <dgm:prSet presAssocID="{B7AA42E1-EF93-498C-8A1D-F08C20987DE0}" presName="rect1" presStyleLbl="trAlignAcc1" presStyleIdx="2" presStyleCnt="6">
        <dgm:presLayoutVars>
          <dgm:bulletEnabled val="1"/>
        </dgm:presLayoutVars>
      </dgm:prSet>
      <dgm:spPr/>
    </dgm:pt>
    <dgm:pt modelId="{C3169B53-1F91-446F-8EF4-754096CBAA1D}" type="pres">
      <dgm:prSet presAssocID="{B7AA42E1-EF93-498C-8A1D-F08C20987DE0}" presName="rect2" presStyleLbl="fgImgPlace1" presStyleIdx="2" presStyleCnt="6"/>
      <dgm:spPr>
        <a:blipFill>
          <a:blip xmlns:r="http://schemas.openxmlformats.org/officeDocument/2006/relationships" r:embed="rId5">
            <a:extLst>
              <a:ext uri="{96DAC541-7B7A-43D3-8B79-37D633B846F1}">
                <asvg:svgBlip xmlns:asvg="http://schemas.microsoft.com/office/drawing/2016/SVG/main" r:embed="rId6"/>
              </a:ext>
            </a:extLst>
          </a:blip>
          <a:srcRect/>
          <a:stretch>
            <a:fillRect l="-25000" r="-25000"/>
          </a:stretch>
        </a:blipFill>
      </dgm:spPr>
      <dgm:extLst>
        <a:ext uri="{E40237B7-FDA0-4F09-8148-C483321AD2D9}">
          <dgm14:cNvPr xmlns:dgm14="http://schemas.microsoft.com/office/drawing/2010/diagram" id="0" name="" descr="Bitcoin"/>
        </a:ext>
      </dgm:extLst>
    </dgm:pt>
    <dgm:pt modelId="{20019C73-2FB4-48FE-B89A-BEAF0C444F5E}" type="pres">
      <dgm:prSet presAssocID="{082241F9-E356-42CC-9960-9010E7D225C5}" presName="sibTrans" presStyleCnt="0"/>
      <dgm:spPr/>
    </dgm:pt>
    <dgm:pt modelId="{B45E0EC4-ADA6-4CCE-B29C-C6C605084F36}" type="pres">
      <dgm:prSet presAssocID="{5C951C34-6C5A-45A3-9160-EB26FBEABB46}" presName="composite" presStyleCnt="0"/>
      <dgm:spPr/>
    </dgm:pt>
    <dgm:pt modelId="{345FE85C-F3E5-4A26-817C-EE44EE6449B8}" type="pres">
      <dgm:prSet presAssocID="{5C951C34-6C5A-45A3-9160-EB26FBEABB46}" presName="rect1" presStyleLbl="trAlignAcc1" presStyleIdx="3" presStyleCnt="6">
        <dgm:presLayoutVars>
          <dgm:bulletEnabled val="1"/>
        </dgm:presLayoutVars>
      </dgm:prSet>
      <dgm:spPr/>
    </dgm:pt>
    <dgm:pt modelId="{957E95BC-DE6F-4748-B0A6-1D37957BAE16}" type="pres">
      <dgm:prSet presAssocID="{5C951C34-6C5A-45A3-9160-EB26FBEABB46}" presName="rect2" presStyleLbl="fgImgPlace1" presStyleIdx="3" presStyleCnt="6"/>
      <dgm:spPr>
        <a:blipFill>
          <a:blip xmlns:r="http://schemas.openxmlformats.org/officeDocument/2006/relationships" r:embed="rId7">
            <a:extLst>
              <a:ext uri="{96DAC541-7B7A-43D3-8B79-37D633B846F1}">
                <asvg:svgBlip xmlns:asvg="http://schemas.microsoft.com/office/drawing/2016/SVG/main" r:embed="rId8"/>
              </a:ext>
            </a:extLst>
          </a:blip>
          <a:srcRect/>
          <a:stretch>
            <a:fillRect l="-25000" r="-25000"/>
          </a:stretch>
        </a:blipFill>
      </dgm:spPr>
      <dgm:extLst>
        <a:ext uri="{E40237B7-FDA0-4F09-8148-C483321AD2D9}">
          <dgm14:cNvPr xmlns:dgm14="http://schemas.microsoft.com/office/drawing/2010/diagram" id="0" name="" descr="Bullseye"/>
        </a:ext>
      </dgm:extLst>
    </dgm:pt>
    <dgm:pt modelId="{8B442BA4-50B4-46E7-A31C-8786965BB9D6}" type="pres">
      <dgm:prSet presAssocID="{15CA5206-A5DF-468F-922B-2BB227E78113}" presName="sibTrans" presStyleCnt="0"/>
      <dgm:spPr/>
    </dgm:pt>
    <dgm:pt modelId="{37C8A4F3-B533-40C8-91E8-877A61E2E85B}" type="pres">
      <dgm:prSet presAssocID="{F873846E-BAE4-43D1-BD52-86C9E64056F4}" presName="composite" presStyleCnt="0"/>
      <dgm:spPr/>
    </dgm:pt>
    <dgm:pt modelId="{81B0BEAB-54ED-4AE7-9F06-9BA19A99A1E7}" type="pres">
      <dgm:prSet presAssocID="{F873846E-BAE4-43D1-BD52-86C9E64056F4}" presName="rect1" presStyleLbl="trAlignAcc1" presStyleIdx="4" presStyleCnt="6">
        <dgm:presLayoutVars>
          <dgm:bulletEnabled val="1"/>
        </dgm:presLayoutVars>
      </dgm:prSet>
      <dgm:spPr/>
    </dgm:pt>
    <dgm:pt modelId="{C71B3830-152B-477E-B039-E188DEE9B56A}" type="pres">
      <dgm:prSet presAssocID="{F873846E-BAE4-43D1-BD52-86C9E64056F4}" presName="rect2" presStyleLbl="fgImgPlace1" presStyleIdx="4" presStyleCnt="6"/>
      <dgm:spPr>
        <a:blipFill>
          <a:blip xmlns:r="http://schemas.openxmlformats.org/officeDocument/2006/relationships" r:embed="rId9">
            <a:extLst>
              <a:ext uri="{96DAC541-7B7A-43D3-8B79-37D633B846F1}">
                <asvg:svgBlip xmlns:asvg="http://schemas.microsoft.com/office/drawing/2016/SVG/main" r:embed="rId10"/>
              </a:ext>
            </a:extLst>
          </a:blip>
          <a:srcRect/>
          <a:stretch>
            <a:fillRect l="-25000" r="-25000"/>
          </a:stretch>
        </a:blipFill>
      </dgm:spPr>
      <dgm:extLst>
        <a:ext uri="{E40237B7-FDA0-4F09-8148-C483321AD2D9}">
          <dgm14:cNvPr xmlns:dgm14="http://schemas.microsoft.com/office/drawing/2010/diagram" id="0" name="" descr="Rupee"/>
        </a:ext>
      </dgm:extLst>
    </dgm:pt>
    <dgm:pt modelId="{1209F02A-4A37-44DB-8C96-6515F072FC63}" type="pres">
      <dgm:prSet presAssocID="{6B1E525B-BBB8-4402-82FB-56175C622181}" presName="sibTrans" presStyleCnt="0"/>
      <dgm:spPr/>
    </dgm:pt>
    <dgm:pt modelId="{C59C217A-9A0D-4A6B-8FA3-F84C38EFA236}" type="pres">
      <dgm:prSet presAssocID="{DDC903D2-46DE-4941-8FA2-2DAFA7D97218}" presName="composite" presStyleCnt="0"/>
      <dgm:spPr/>
    </dgm:pt>
    <dgm:pt modelId="{39647D28-4FA0-4FB6-9CDD-C75234703966}" type="pres">
      <dgm:prSet presAssocID="{DDC903D2-46DE-4941-8FA2-2DAFA7D97218}" presName="rect1" presStyleLbl="trAlignAcc1" presStyleIdx="5" presStyleCnt="6">
        <dgm:presLayoutVars>
          <dgm:bulletEnabled val="1"/>
        </dgm:presLayoutVars>
      </dgm:prSet>
      <dgm:spPr/>
    </dgm:pt>
    <dgm:pt modelId="{C8AFAFC4-9694-44F6-ADB2-D522AB0D73A6}" type="pres">
      <dgm:prSet presAssocID="{DDC903D2-46DE-4941-8FA2-2DAFA7D97218}" presName="rect2" presStyleLbl="fgImgPlace1" presStyleIdx="5" presStyleCnt="6"/>
      <dgm:spPr>
        <a:blipFill>
          <a:blip xmlns:r="http://schemas.openxmlformats.org/officeDocument/2006/relationships" r:embed="rId11">
            <a:extLst>
              <a:ext uri="{96DAC541-7B7A-43D3-8B79-37D633B846F1}">
                <asvg:svgBlip xmlns:asvg="http://schemas.microsoft.com/office/drawing/2016/SVG/main" r:embed="rId12"/>
              </a:ext>
            </a:extLst>
          </a:blip>
          <a:srcRect/>
          <a:stretch>
            <a:fillRect l="-25000" r="-25000"/>
          </a:stretch>
        </a:blipFill>
      </dgm:spPr>
      <dgm:extLst>
        <a:ext uri="{E40237B7-FDA0-4F09-8148-C483321AD2D9}">
          <dgm14:cNvPr xmlns:dgm14="http://schemas.microsoft.com/office/drawing/2010/diagram" id="0" name="" descr="Upward trend"/>
        </a:ext>
      </dgm:extLst>
    </dgm:pt>
  </dgm:ptLst>
  <dgm:cxnLst>
    <dgm:cxn modelId="{2EEFBF02-60BF-4A8A-A9EE-3B8A2B401A06}" srcId="{E3D4BE9D-E13C-4F0A-9EFD-6C5C5A2E8BC6}" destId="{B7AA42E1-EF93-498C-8A1D-F08C20987DE0}" srcOrd="2" destOrd="0" parTransId="{FB9A3987-7AE0-49D2-A896-2377C4FDA080}" sibTransId="{082241F9-E356-42CC-9960-9010E7D225C5}"/>
    <dgm:cxn modelId="{B6C1EE18-1CE0-45C6-8C3C-F72BF8D049BC}" type="presOf" srcId="{F873846E-BAE4-43D1-BD52-86C9E64056F4}" destId="{81B0BEAB-54ED-4AE7-9F06-9BA19A99A1E7}" srcOrd="0" destOrd="0" presId="urn:microsoft.com/office/officeart/2008/layout/PictureStrips"/>
    <dgm:cxn modelId="{28D5C962-F486-4AD1-BD49-4B49D7341700}" type="presOf" srcId="{B7AA42E1-EF93-498C-8A1D-F08C20987DE0}" destId="{25DCF976-E8A0-43CF-A16C-72ACC3A14212}" srcOrd="0" destOrd="0" presId="urn:microsoft.com/office/officeart/2008/layout/PictureStrips"/>
    <dgm:cxn modelId="{88E75D4C-0DE3-4EB2-8CF2-B86F57BBDD91}" srcId="{E3D4BE9D-E13C-4F0A-9EFD-6C5C5A2E8BC6}" destId="{DDC903D2-46DE-4941-8FA2-2DAFA7D97218}" srcOrd="5" destOrd="0" parTransId="{509E3565-7CA1-4BB0-8458-28E545B0CDCC}" sibTransId="{CF73B6F5-A454-40C4-898D-77FDD7177E3A}"/>
    <dgm:cxn modelId="{30CED296-8452-4470-A883-F4A02D2E1363}" type="presOf" srcId="{DF04D8B6-581C-4C01-A554-AE4F2E2F999E}" destId="{394F1CEA-12A9-4428-A564-EDCC9F1CE317}" srcOrd="0" destOrd="0" presId="urn:microsoft.com/office/officeart/2008/layout/PictureStrips"/>
    <dgm:cxn modelId="{9E0EA99C-0250-47D3-80CC-7D433BB9DE9D}" srcId="{E3D4BE9D-E13C-4F0A-9EFD-6C5C5A2E8BC6}" destId="{DF04D8B6-581C-4C01-A554-AE4F2E2F999E}" srcOrd="1" destOrd="0" parTransId="{1B5E22AD-FC52-4005-8665-D9E707AF47DF}" sibTransId="{82638E1B-BAEE-4B8E-850A-F1B124CB2C50}"/>
    <dgm:cxn modelId="{B4BE4BA1-8480-4BB4-899C-583BCF60E56E}" type="presOf" srcId="{DDC903D2-46DE-4941-8FA2-2DAFA7D97218}" destId="{39647D28-4FA0-4FB6-9CDD-C75234703966}" srcOrd="0" destOrd="0" presId="urn:microsoft.com/office/officeart/2008/layout/PictureStrips"/>
    <dgm:cxn modelId="{E2A50DAD-C19A-46AD-9554-ED6EB836DCF9}" srcId="{E3D4BE9D-E13C-4F0A-9EFD-6C5C5A2E8BC6}" destId="{F873846E-BAE4-43D1-BD52-86C9E64056F4}" srcOrd="4" destOrd="0" parTransId="{BC4F98E3-B34C-47C2-A132-8356F35A55D3}" sibTransId="{6B1E525B-BBB8-4402-82FB-56175C622181}"/>
    <dgm:cxn modelId="{FD4C79C4-35F0-4A01-9644-0B575BAB6197}" type="presOf" srcId="{FF775D26-7277-46FC-B982-DEFF5EFB69A8}" destId="{A36F2D0B-2A3C-46AC-AF67-AD4C014331EE}" srcOrd="0" destOrd="0" presId="urn:microsoft.com/office/officeart/2008/layout/PictureStrips"/>
    <dgm:cxn modelId="{D19301CB-C687-489E-B275-CB1CEE1B0700}" type="presOf" srcId="{E3D4BE9D-E13C-4F0A-9EFD-6C5C5A2E8BC6}" destId="{2CA41EF1-BE8B-469B-9B5C-4D5AE6AF3701}" srcOrd="0" destOrd="0" presId="urn:microsoft.com/office/officeart/2008/layout/PictureStrips"/>
    <dgm:cxn modelId="{A5A2CFDC-4447-45FA-AD5B-E3A173726F35}" srcId="{E3D4BE9D-E13C-4F0A-9EFD-6C5C5A2E8BC6}" destId="{FF775D26-7277-46FC-B982-DEFF5EFB69A8}" srcOrd="0" destOrd="0" parTransId="{16CA6F39-6A3F-48CE-BE94-5570F44B3010}" sibTransId="{ECA6D3B7-91F5-47A5-B944-6898DC0EAE92}"/>
    <dgm:cxn modelId="{9E800CF8-76B5-4AC8-A761-91979C1AF910}" type="presOf" srcId="{5C951C34-6C5A-45A3-9160-EB26FBEABB46}" destId="{345FE85C-F3E5-4A26-817C-EE44EE6449B8}" srcOrd="0" destOrd="0" presId="urn:microsoft.com/office/officeart/2008/layout/PictureStrips"/>
    <dgm:cxn modelId="{B3C6C3FB-70D1-4E3D-8ABE-463956811B38}" srcId="{E3D4BE9D-E13C-4F0A-9EFD-6C5C5A2E8BC6}" destId="{5C951C34-6C5A-45A3-9160-EB26FBEABB46}" srcOrd="3" destOrd="0" parTransId="{4D64B33E-9CDD-4085-B986-93E1A7A61906}" sibTransId="{15CA5206-A5DF-468F-922B-2BB227E78113}"/>
    <dgm:cxn modelId="{686964B6-7CA2-48CA-B6E7-868E7696C219}" type="presParOf" srcId="{2CA41EF1-BE8B-469B-9B5C-4D5AE6AF3701}" destId="{8BF30E96-3F30-46D0-802F-F300FA4E6746}" srcOrd="0" destOrd="0" presId="urn:microsoft.com/office/officeart/2008/layout/PictureStrips"/>
    <dgm:cxn modelId="{C17CCCA5-8C9D-4ED0-B1EC-47E0412B8C6E}" type="presParOf" srcId="{8BF30E96-3F30-46D0-802F-F300FA4E6746}" destId="{A36F2D0B-2A3C-46AC-AF67-AD4C014331EE}" srcOrd="0" destOrd="0" presId="urn:microsoft.com/office/officeart/2008/layout/PictureStrips"/>
    <dgm:cxn modelId="{69B6D278-B546-4C39-9672-F25A0B56905F}" type="presParOf" srcId="{8BF30E96-3F30-46D0-802F-F300FA4E6746}" destId="{C79F3F34-BC85-49FD-A9FB-EF363B81FF69}" srcOrd="1" destOrd="0" presId="urn:microsoft.com/office/officeart/2008/layout/PictureStrips"/>
    <dgm:cxn modelId="{147701A4-0582-4BA4-8B55-240C3BEBDBCE}" type="presParOf" srcId="{2CA41EF1-BE8B-469B-9B5C-4D5AE6AF3701}" destId="{83FC8037-5A4F-4DE8-B554-467D1B61D28D}" srcOrd="1" destOrd="0" presId="urn:microsoft.com/office/officeart/2008/layout/PictureStrips"/>
    <dgm:cxn modelId="{4748EF17-121B-4E19-B504-BB44E4D00224}" type="presParOf" srcId="{2CA41EF1-BE8B-469B-9B5C-4D5AE6AF3701}" destId="{C7BBEDA6-9AEC-4F7C-B4A9-892937CC1775}" srcOrd="2" destOrd="0" presId="urn:microsoft.com/office/officeart/2008/layout/PictureStrips"/>
    <dgm:cxn modelId="{1F0F0411-3D83-4562-8531-B4306915EBA1}" type="presParOf" srcId="{C7BBEDA6-9AEC-4F7C-B4A9-892937CC1775}" destId="{394F1CEA-12A9-4428-A564-EDCC9F1CE317}" srcOrd="0" destOrd="0" presId="urn:microsoft.com/office/officeart/2008/layout/PictureStrips"/>
    <dgm:cxn modelId="{00458517-26BE-409F-A602-7C52F5AF3E1C}" type="presParOf" srcId="{C7BBEDA6-9AEC-4F7C-B4A9-892937CC1775}" destId="{E7F0C751-2132-4D0E-98B3-55B55C7967EE}" srcOrd="1" destOrd="0" presId="urn:microsoft.com/office/officeart/2008/layout/PictureStrips"/>
    <dgm:cxn modelId="{65329F09-BF76-45BE-B7E3-2CB2856336B6}" type="presParOf" srcId="{2CA41EF1-BE8B-469B-9B5C-4D5AE6AF3701}" destId="{9AA30A08-D847-4FA5-B453-487E10A52675}" srcOrd="3" destOrd="0" presId="urn:microsoft.com/office/officeart/2008/layout/PictureStrips"/>
    <dgm:cxn modelId="{CF7CA97E-890E-401E-BD4D-F94B9BBE6BE7}" type="presParOf" srcId="{2CA41EF1-BE8B-469B-9B5C-4D5AE6AF3701}" destId="{9DA05BC2-0BEF-437C-9E89-1211AFC385FE}" srcOrd="4" destOrd="0" presId="urn:microsoft.com/office/officeart/2008/layout/PictureStrips"/>
    <dgm:cxn modelId="{449B8EE3-DDE8-4EA0-AF59-5B7180162C30}" type="presParOf" srcId="{9DA05BC2-0BEF-437C-9E89-1211AFC385FE}" destId="{25DCF976-E8A0-43CF-A16C-72ACC3A14212}" srcOrd="0" destOrd="0" presId="urn:microsoft.com/office/officeart/2008/layout/PictureStrips"/>
    <dgm:cxn modelId="{4176508C-864D-481B-8F29-42F1E10F56FF}" type="presParOf" srcId="{9DA05BC2-0BEF-437C-9E89-1211AFC385FE}" destId="{C3169B53-1F91-446F-8EF4-754096CBAA1D}" srcOrd="1" destOrd="0" presId="urn:microsoft.com/office/officeart/2008/layout/PictureStrips"/>
    <dgm:cxn modelId="{EC7E0B22-E792-484F-A0D8-B89BD08EAB14}" type="presParOf" srcId="{2CA41EF1-BE8B-469B-9B5C-4D5AE6AF3701}" destId="{20019C73-2FB4-48FE-B89A-BEAF0C444F5E}" srcOrd="5" destOrd="0" presId="urn:microsoft.com/office/officeart/2008/layout/PictureStrips"/>
    <dgm:cxn modelId="{E8EBDE13-0041-4A2A-A325-BBF18E15F77F}" type="presParOf" srcId="{2CA41EF1-BE8B-469B-9B5C-4D5AE6AF3701}" destId="{B45E0EC4-ADA6-4CCE-B29C-C6C605084F36}" srcOrd="6" destOrd="0" presId="urn:microsoft.com/office/officeart/2008/layout/PictureStrips"/>
    <dgm:cxn modelId="{5D2C56C9-A103-4BFC-A6AE-98E91B3D3443}" type="presParOf" srcId="{B45E0EC4-ADA6-4CCE-B29C-C6C605084F36}" destId="{345FE85C-F3E5-4A26-817C-EE44EE6449B8}" srcOrd="0" destOrd="0" presId="urn:microsoft.com/office/officeart/2008/layout/PictureStrips"/>
    <dgm:cxn modelId="{37DF4B63-9D4A-42BB-9185-91751C2BCCA4}" type="presParOf" srcId="{B45E0EC4-ADA6-4CCE-B29C-C6C605084F36}" destId="{957E95BC-DE6F-4748-B0A6-1D37957BAE16}" srcOrd="1" destOrd="0" presId="urn:microsoft.com/office/officeart/2008/layout/PictureStrips"/>
    <dgm:cxn modelId="{53300230-5470-4F23-BF51-62F316FF822A}" type="presParOf" srcId="{2CA41EF1-BE8B-469B-9B5C-4D5AE6AF3701}" destId="{8B442BA4-50B4-46E7-A31C-8786965BB9D6}" srcOrd="7" destOrd="0" presId="urn:microsoft.com/office/officeart/2008/layout/PictureStrips"/>
    <dgm:cxn modelId="{E563A0F1-60AC-4E2E-96E9-F8652A7E0F34}" type="presParOf" srcId="{2CA41EF1-BE8B-469B-9B5C-4D5AE6AF3701}" destId="{37C8A4F3-B533-40C8-91E8-877A61E2E85B}" srcOrd="8" destOrd="0" presId="urn:microsoft.com/office/officeart/2008/layout/PictureStrips"/>
    <dgm:cxn modelId="{7B2ADBA3-4E23-422A-B9B1-DBFF81F6A85B}" type="presParOf" srcId="{37C8A4F3-B533-40C8-91E8-877A61E2E85B}" destId="{81B0BEAB-54ED-4AE7-9F06-9BA19A99A1E7}" srcOrd="0" destOrd="0" presId="urn:microsoft.com/office/officeart/2008/layout/PictureStrips"/>
    <dgm:cxn modelId="{22C0C841-3D28-4DF5-BF79-AF08F9844BD7}" type="presParOf" srcId="{37C8A4F3-B533-40C8-91E8-877A61E2E85B}" destId="{C71B3830-152B-477E-B039-E188DEE9B56A}" srcOrd="1" destOrd="0" presId="urn:microsoft.com/office/officeart/2008/layout/PictureStrips"/>
    <dgm:cxn modelId="{288BCB0D-40B6-405E-AAF8-7C454E0C270E}" type="presParOf" srcId="{2CA41EF1-BE8B-469B-9B5C-4D5AE6AF3701}" destId="{1209F02A-4A37-44DB-8C96-6515F072FC63}" srcOrd="9" destOrd="0" presId="urn:microsoft.com/office/officeart/2008/layout/PictureStrips"/>
    <dgm:cxn modelId="{95AF151A-8A30-450B-ABCD-DB826192AC5B}" type="presParOf" srcId="{2CA41EF1-BE8B-469B-9B5C-4D5AE6AF3701}" destId="{C59C217A-9A0D-4A6B-8FA3-F84C38EFA236}" srcOrd="10" destOrd="0" presId="urn:microsoft.com/office/officeart/2008/layout/PictureStrips"/>
    <dgm:cxn modelId="{A9AE2EBC-9D4F-4B48-A9B8-0A5AEE50BFE9}" type="presParOf" srcId="{C59C217A-9A0D-4A6B-8FA3-F84C38EFA236}" destId="{39647D28-4FA0-4FB6-9CDD-C75234703966}" srcOrd="0" destOrd="0" presId="urn:microsoft.com/office/officeart/2008/layout/PictureStrips"/>
    <dgm:cxn modelId="{579CCB83-36A4-4279-BC82-66B8BADCA037}" type="presParOf" srcId="{C59C217A-9A0D-4A6B-8FA3-F84C38EFA236}" destId="{C8AFAFC4-9694-44F6-ADB2-D522AB0D73A6}" srcOrd="1" destOrd="0" presId="urn:microsoft.com/office/officeart/2008/layout/PictureStrip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9670097-5B76-435B-9D3A-956BACC153B7}" type="doc">
      <dgm:prSet loTypeId="urn:microsoft.com/office/officeart/2005/8/layout/vList2" loCatId="list" qsTypeId="urn:microsoft.com/office/officeart/2005/8/quickstyle/simple4" qsCatId="simple" csTypeId="urn:microsoft.com/office/officeart/2005/8/colors/accent1_2" csCatId="accent1"/>
      <dgm:spPr/>
      <dgm:t>
        <a:bodyPr/>
        <a:lstStyle/>
        <a:p>
          <a:endParaRPr lang="en-IN"/>
        </a:p>
      </dgm:t>
    </dgm:pt>
    <dgm:pt modelId="{2478CB7F-0CDC-4A3A-82DD-FB06CC6E5180}">
      <dgm:prSet/>
      <dgm:spPr/>
      <dgm:t>
        <a:bodyPr/>
        <a:lstStyle/>
        <a:p>
          <a:r>
            <a:rPr lang="en-US"/>
            <a:t>Pre-tax Cost of Debt: 2.08%</a:t>
          </a:r>
          <a:endParaRPr lang="en-IN"/>
        </a:p>
      </dgm:t>
    </dgm:pt>
    <dgm:pt modelId="{77EFB06D-25B2-43EE-ABF2-205110B44AB6}" type="parTrans" cxnId="{6C954399-4B44-4A7F-A055-D869666462D5}">
      <dgm:prSet/>
      <dgm:spPr/>
      <dgm:t>
        <a:bodyPr/>
        <a:lstStyle/>
        <a:p>
          <a:endParaRPr lang="en-IN"/>
        </a:p>
      </dgm:t>
    </dgm:pt>
    <dgm:pt modelId="{5960C7B7-6201-40F8-85A6-FA67BBEFC5AE}" type="sibTrans" cxnId="{6C954399-4B44-4A7F-A055-D869666462D5}">
      <dgm:prSet/>
      <dgm:spPr/>
      <dgm:t>
        <a:bodyPr/>
        <a:lstStyle/>
        <a:p>
          <a:endParaRPr lang="en-IN"/>
        </a:p>
      </dgm:t>
    </dgm:pt>
    <dgm:pt modelId="{42791C2B-B0D2-4A5A-8A0C-B9131F607582}">
      <dgm:prSet/>
      <dgm:spPr/>
      <dgm:t>
        <a:bodyPr/>
        <a:lstStyle/>
        <a:p>
          <a:r>
            <a:rPr lang="en-US"/>
            <a:t>Tax Rate: 27%</a:t>
          </a:r>
          <a:endParaRPr lang="en-IN"/>
        </a:p>
      </dgm:t>
    </dgm:pt>
    <dgm:pt modelId="{4546F2E3-72F3-4B01-8A92-BF2BD57D44BD}" type="parTrans" cxnId="{226CE17F-9B1A-4E0E-8C65-9028D334B3B6}">
      <dgm:prSet/>
      <dgm:spPr/>
      <dgm:t>
        <a:bodyPr/>
        <a:lstStyle/>
        <a:p>
          <a:endParaRPr lang="en-IN"/>
        </a:p>
      </dgm:t>
    </dgm:pt>
    <dgm:pt modelId="{F68CA087-99E8-485F-AB8D-88B3F021391B}" type="sibTrans" cxnId="{226CE17F-9B1A-4E0E-8C65-9028D334B3B6}">
      <dgm:prSet/>
      <dgm:spPr/>
      <dgm:t>
        <a:bodyPr/>
        <a:lstStyle/>
        <a:p>
          <a:endParaRPr lang="en-IN"/>
        </a:p>
      </dgm:t>
    </dgm:pt>
    <dgm:pt modelId="{BB989B1C-BAF6-49A5-8E36-2B7FD36DD09B}">
      <dgm:prSet/>
      <dgm:spPr/>
      <dgm:t>
        <a:bodyPr/>
        <a:lstStyle/>
        <a:p>
          <a:r>
            <a:rPr lang="en-US"/>
            <a:t>After-tax Cost of Debt: 2.27% (per workbook)</a:t>
          </a:r>
          <a:endParaRPr lang="en-IN"/>
        </a:p>
      </dgm:t>
    </dgm:pt>
    <dgm:pt modelId="{04FC7826-9F29-4C42-88E9-91A8D435B78D}" type="parTrans" cxnId="{D6F1A55F-6403-4943-84AB-0AC1390B5884}">
      <dgm:prSet/>
      <dgm:spPr/>
      <dgm:t>
        <a:bodyPr/>
        <a:lstStyle/>
        <a:p>
          <a:endParaRPr lang="en-IN"/>
        </a:p>
      </dgm:t>
    </dgm:pt>
    <dgm:pt modelId="{6132C5EF-E00B-4720-9409-8E8DC8492435}" type="sibTrans" cxnId="{D6F1A55F-6403-4943-84AB-0AC1390B5884}">
      <dgm:prSet/>
      <dgm:spPr/>
      <dgm:t>
        <a:bodyPr/>
        <a:lstStyle/>
        <a:p>
          <a:endParaRPr lang="en-IN"/>
        </a:p>
      </dgm:t>
    </dgm:pt>
    <dgm:pt modelId="{2D77BBD0-F466-4993-AB96-8BE0A6DDF44B}">
      <dgm:prSet/>
      <dgm:spPr/>
      <dgm:t>
        <a:bodyPr/>
        <a:lstStyle/>
        <a:p>
          <a:r>
            <a:rPr lang="en-US"/>
            <a:t>Interest expense is tax deductible, reducing the effective borrowing cost.</a:t>
          </a:r>
          <a:endParaRPr lang="en-IN"/>
        </a:p>
      </dgm:t>
    </dgm:pt>
    <dgm:pt modelId="{03673D6F-1768-4B08-9279-747618DD6C2E}" type="parTrans" cxnId="{E50C386B-7A76-4EDA-98AB-D7E0E57DEE0B}">
      <dgm:prSet/>
      <dgm:spPr/>
      <dgm:t>
        <a:bodyPr/>
        <a:lstStyle/>
        <a:p>
          <a:endParaRPr lang="en-IN"/>
        </a:p>
      </dgm:t>
    </dgm:pt>
    <dgm:pt modelId="{F543B47B-27BD-4786-B1DF-E0B7E3BB69B3}" type="sibTrans" cxnId="{E50C386B-7A76-4EDA-98AB-D7E0E57DEE0B}">
      <dgm:prSet/>
      <dgm:spPr/>
      <dgm:t>
        <a:bodyPr/>
        <a:lstStyle/>
        <a:p>
          <a:endParaRPr lang="en-IN"/>
        </a:p>
      </dgm:t>
    </dgm:pt>
    <dgm:pt modelId="{96914627-1485-4DA3-A11E-52496607B654}" type="pres">
      <dgm:prSet presAssocID="{59670097-5B76-435B-9D3A-956BACC153B7}" presName="linear" presStyleCnt="0">
        <dgm:presLayoutVars>
          <dgm:animLvl val="lvl"/>
          <dgm:resizeHandles val="exact"/>
        </dgm:presLayoutVars>
      </dgm:prSet>
      <dgm:spPr/>
    </dgm:pt>
    <dgm:pt modelId="{E95CF9C7-495F-4AC1-B29E-12C5361ACFEC}" type="pres">
      <dgm:prSet presAssocID="{2478CB7F-0CDC-4A3A-82DD-FB06CC6E5180}" presName="parentText" presStyleLbl="node1" presStyleIdx="0" presStyleCnt="4">
        <dgm:presLayoutVars>
          <dgm:chMax val="0"/>
          <dgm:bulletEnabled val="1"/>
        </dgm:presLayoutVars>
      </dgm:prSet>
      <dgm:spPr/>
    </dgm:pt>
    <dgm:pt modelId="{33DE852B-A22E-4620-9E6A-DCACCE2FC5B4}" type="pres">
      <dgm:prSet presAssocID="{5960C7B7-6201-40F8-85A6-FA67BBEFC5AE}" presName="spacer" presStyleCnt="0"/>
      <dgm:spPr/>
    </dgm:pt>
    <dgm:pt modelId="{C1FFB263-5857-4868-B12E-BC47CC105930}" type="pres">
      <dgm:prSet presAssocID="{42791C2B-B0D2-4A5A-8A0C-B9131F607582}" presName="parentText" presStyleLbl="node1" presStyleIdx="1" presStyleCnt="4">
        <dgm:presLayoutVars>
          <dgm:chMax val="0"/>
          <dgm:bulletEnabled val="1"/>
        </dgm:presLayoutVars>
      </dgm:prSet>
      <dgm:spPr/>
    </dgm:pt>
    <dgm:pt modelId="{EC0C6101-F42A-4308-B973-3B3AC742AD16}" type="pres">
      <dgm:prSet presAssocID="{F68CA087-99E8-485F-AB8D-88B3F021391B}" presName="spacer" presStyleCnt="0"/>
      <dgm:spPr/>
    </dgm:pt>
    <dgm:pt modelId="{65FC9679-E501-4841-AFBA-65F84174A692}" type="pres">
      <dgm:prSet presAssocID="{BB989B1C-BAF6-49A5-8E36-2B7FD36DD09B}" presName="parentText" presStyleLbl="node1" presStyleIdx="2" presStyleCnt="4">
        <dgm:presLayoutVars>
          <dgm:chMax val="0"/>
          <dgm:bulletEnabled val="1"/>
        </dgm:presLayoutVars>
      </dgm:prSet>
      <dgm:spPr/>
    </dgm:pt>
    <dgm:pt modelId="{C3737C4B-0C2C-4CB4-9CC2-40CB85BF495D}" type="pres">
      <dgm:prSet presAssocID="{6132C5EF-E00B-4720-9409-8E8DC8492435}" presName="spacer" presStyleCnt="0"/>
      <dgm:spPr/>
    </dgm:pt>
    <dgm:pt modelId="{8C4E9F2D-2C7C-4150-88C7-6FC5B78D275C}" type="pres">
      <dgm:prSet presAssocID="{2D77BBD0-F466-4993-AB96-8BE0A6DDF44B}" presName="parentText" presStyleLbl="node1" presStyleIdx="3" presStyleCnt="4">
        <dgm:presLayoutVars>
          <dgm:chMax val="0"/>
          <dgm:bulletEnabled val="1"/>
        </dgm:presLayoutVars>
      </dgm:prSet>
      <dgm:spPr/>
    </dgm:pt>
  </dgm:ptLst>
  <dgm:cxnLst>
    <dgm:cxn modelId="{D6F1A55F-6403-4943-84AB-0AC1390B5884}" srcId="{59670097-5B76-435B-9D3A-956BACC153B7}" destId="{BB989B1C-BAF6-49A5-8E36-2B7FD36DD09B}" srcOrd="2" destOrd="0" parTransId="{04FC7826-9F29-4C42-88E9-91A8D435B78D}" sibTransId="{6132C5EF-E00B-4720-9409-8E8DC8492435}"/>
    <dgm:cxn modelId="{E50C386B-7A76-4EDA-98AB-D7E0E57DEE0B}" srcId="{59670097-5B76-435B-9D3A-956BACC153B7}" destId="{2D77BBD0-F466-4993-AB96-8BE0A6DDF44B}" srcOrd="3" destOrd="0" parTransId="{03673D6F-1768-4B08-9279-747618DD6C2E}" sibTransId="{F543B47B-27BD-4786-B1DF-E0B7E3BB69B3}"/>
    <dgm:cxn modelId="{226CE17F-9B1A-4E0E-8C65-9028D334B3B6}" srcId="{59670097-5B76-435B-9D3A-956BACC153B7}" destId="{42791C2B-B0D2-4A5A-8A0C-B9131F607582}" srcOrd="1" destOrd="0" parTransId="{4546F2E3-72F3-4B01-8A92-BF2BD57D44BD}" sibTransId="{F68CA087-99E8-485F-AB8D-88B3F021391B}"/>
    <dgm:cxn modelId="{84258C83-180E-4B0D-93AC-6540C5808CAE}" type="presOf" srcId="{59670097-5B76-435B-9D3A-956BACC153B7}" destId="{96914627-1485-4DA3-A11E-52496607B654}" srcOrd="0" destOrd="0" presId="urn:microsoft.com/office/officeart/2005/8/layout/vList2"/>
    <dgm:cxn modelId="{4FBFBB96-A484-4D58-B33C-C999B0977DAC}" type="presOf" srcId="{2478CB7F-0CDC-4A3A-82DD-FB06CC6E5180}" destId="{E95CF9C7-495F-4AC1-B29E-12C5361ACFEC}" srcOrd="0" destOrd="0" presId="urn:microsoft.com/office/officeart/2005/8/layout/vList2"/>
    <dgm:cxn modelId="{9CDCBD98-7101-4D12-AFE8-6355DCBB9425}" type="presOf" srcId="{42791C2B-B0D2-4A5A-8A0C-B9131F607582}" destId="{C1FFB263-5857-4868-B12E-BC47CC105930}" srcOrd="0" destOrd="0" presId="urn:microsoft.com/office/officeart/2005/8/layout/vList2"/>
    <dgm:cxn modelId="{6C954399-4B44-4A7F-A055-D869666462D5}" srcId="{59670097-5B76-435B-9D3A-956BACC153B7}" destId="{2478CB7F-0CDC-4A3A-82DD-FB06CC6E5180}" srcOrd="0" destOrd="0" parTransId="{77EFB06D-25B2-43EE-ABF2-205110B44AB6}" sibTransId="{5960C7B7-6201-40F8-85A6-FA67BBEFC5AE}"/>
    <dgm:cxn modelId="{E04C0DA7-8995-49F8-B371-DDDE506E36B0}" type="presOf" srcId="{2D77BBD0-F466-4993-AB96-8BE0A6DDF44B}" destId="{8C4E9F2D-2C7C-4150-88C7-6FC5B78D275C}" srcOrd="0" destOrd="0" presId="urn:microsoft.com/office/officeart/2005/8/layout/vList2"/>
    <dgm:cxn modelId="{CF3AC0E2-2DAB-4680-A1FF-02512D3F5AE6}" type="presOf" srcId="{BB989B1C-BAF6-49A5-8E36-2B7FD36DD09B}" destId="{65FC9679-E501-4841-AFBA-65F84174A692}" srcOrd="0" destOrd="0" presId="urn:microsoft.com/office/officeart/2005/8/layout/vList2"/>
    <dgm:cxn modelId="{5DFB8100-9B27-421A-A797-8E8827E9B943}" type="presParOf" srcId="{96914627-1485-4DA3-A11E-52496607B654}" destId="{E95CF9C7-495F-4AC1-B29E-12C5361ACFEC}" srcOrd="0" destOrd="0" presId="urn:microsoft.com/office/officeart/2005/8/layout/vList2"/>
    <dgm:cxn modelId="{F729C320-AF67-48F5-AEBA-3C2664A7CE1C}" type="presParOf" srcId="{96914627-1485-4DA3-A11E-52496607B654}" destId="{33DE852B-A22E-4620-9E6A-DCACCE2FC5B4}" srcOrd="1" destOrd="0" presId="urn:microsoft.com/office/officeart/2005/8/layout/vList2"/>
    <dgm:cxn modelId="{C77108A4-CFDA-44C8-9F20-13091FD4FBA9}" type="presParOf" srcId="{96914627-1485-4DA3-A11E-52496607B654}" destId="{C1FFB263-5857-4868-B12E-BC47CC105930}" srcOrd="2" destOrd="0" presId="urn:microsoft.com/office/officeart/2005/8/layout/vList2"/>
    <dgm:cxn modelId="{362CD9B3-0743-4DA1-A55C-1A138B41BB29}" type="presParOf" srcId="{96914627-1485-4DA3-A11E-52496607B654}" destId="{EC0C6101-F42A-4308-B973-3B3AC742AD16}" srcOrd="3" destOrd="0" presId="urn:microsoft.com/office/officeart/2005/8/layout/vList2"/>
    <dgm:cxn modelId="{27B0D23C-AB70-44FF-9AC0-39CBA178D257}" type="presParOf" srcId="{96914627-1485-4DA3-A11E-52496607B654}" destId="{65FC9679-E501-4841-AFBA-65F84174A692}" srcOrd="4" destOrd="0" presId="urn:microsoft.com/office/officeart/2005/8/layout/vList2"/>
    <dgm:cxn modelId="{0D6C3015-B459-48CD-895D-B3293030BC7A}" type="presParOf" srcId="{96914627-1485-4DA3-A11E-52496607B654}" destId="{C3737C4B-0C2C-4CB4-9CC2-40CB85BF495D}" srcOrd="5" destOrd="0" presId="urn:microsoft.com/office/officeart/2005/8/layout/vList2"/>
    <dgm:cxn modelId="{3EA9A1C1-25B8-4F90-B0B8-FE463CD6FC5F}" type="presParOf" srcId="{96914627-1485-4DA3-A11E-52496607B654}" destId="{8C4E9F2D-2C7C-4150-88C7-6FC5B78D275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C82447-D7EA-49E8-816D-A876F3609E51}"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en-IN"/>
        </a:p>
      </dgm:t>
    </dgm:pt>
    <dgm:pt modelId="{B161CF41-9A76-4883-95CB-D61C93019E97}">
      <dgm:prSet/>
      <dgm:spPr/>
      <dgm:t>
        <a:bodyPr/>
        <a:lstStyle/>
        <a:p>
          <a:r>
            <a:rPr lang="en-US"/>
            <a:t>WACC = (E/V × Re) + (D/V × Rd)</a:t>
          </a:r>
          <a:endParaRPr lang="en-IN"/>
        </a:p>
      </dgm:t>
    </dgm:pt>
    <dgm:pt modelId="{8136340C-94E6-4AD7-AC89-9216EDC3BABB}" type="parTrans" cxnId="{8DF2FAD2-89B7-4CA2-B5E1-C0FA5517BAAD}">
      <dgm:prSet/>
      <dgm:spPr/>
      <dgm:t>
        <a:bodyPr/>
        <a:lstStyle/>
        <a:p>
          <a:endParaRPr lang="en-IN"/>
        </a:p>
      </dgm:t>
    </dgm:pt>
    <dgm:pt modelId="{63E4722E-ADB4-41D6-B3FA-78A7074005A8}" type="sibTrans" cxnId="{8DF2FAD2-89B7-4CA2-B5E1-C0FA5517BAAD}">
      <dgm:prSet/>
      <dgm:spPr/>
      <dgm:t>
        <a:bodyPr/>
        <a:lstStyle/>
        <a:p>
          <a:endParaRPr lang="en-IN"/>
        </a:p>
      </dgm:t>
    </dgm:pt>
    <dgm:pt modelId="{56ADD63C-11C4-4A45-80A7-37DA24AA5F45}">
      <dgm:prSet/>
      <dgm:spPr/>
      <dgm:t>
        <a:bodyPr/>
        <a:lstStyle/>
        <a:p>
          <a:r>
            <a:rPr lang="en-US"/>
            <a:t>Equity Weight: 68.59%</a:t>
          </a:r>
          <a:endParaRPr lang="en-IN"/>
        </a:p>
      </dgm:t>
    </dgm:pt>
    <dgm:pt modelId="{56A317F0-3C58-40D5-908F-E78AA7494095}" type="parTrans" cxnId="{96339DEC-5BAA-4A3F-AE6C-1E95BED8109B}">
      <dgm:prSet/>
      <dgm:spPr/>
      <dgm:t>
        <a:bodyPr/>
        <a:lstStyle/>
        <a:p>
          <a:endParaRPr lang="en-IN"/>
        </a:p>
      </dgm:t>
    </dgm:pt>
    <dgm:pt modelId="{FF505569-8C83-4AF3-91C6-DFB9728B06E4}" type="sibTrans" cxnId="{96339DEC-5BAA-4A3F-AE6C-1E95BED8109B}">
      <dgm:prSet/>
      <dgm:spPr/>
      <dgm:t>
        <a:bodyPr/>
        <a:lstStyle/>
        <a:p>
          <a:endParaRPr lang="en-IN"/>
        </a:p>
      </dgm:t>
    </dgm:pt>
    <dgm:pt modelId="{6DC55563-979F-4222-9BB0-8BD8CC16BD11}">
      <dgm:prSet/>
      <dgm:spPr/>
      <dgm:t>
        <a:bodyPr/>
        <a:lstStyle/>
        <a:p>
          <a:r>
            <a:rPr lang="en-US"/>
            <a:t>Debt Weight: 31.40%</a:t>
          </a:r>
          <a:endParaRPr lang="en-IN"/>
        </a:p>
      </dgm:t>
    </dgm:pt>
    <dgm:pt modelId="{04259531-5507-426F-BAA7-7E9FEE627672}" type="parTrans" cxnId="{24D0874F-F20F-41C9-931B-388C1148AB47}">
      <dgm:prSet/>
      <dgm:spPr/>
      <dgm:t>
        <a:bodyPr/>
        <a:lstStyle/>
        <a:p>
          <a:endParaRPr lang="en-IN"/>
        </a:p>
      </dgm:t>
    </dgm:pt>
    <dgm:pt modelId="{89B6E606-0C1C-4634-8218-C10231D007CD}" type="sibTrans" cxnId="{24D0874F-F20F-41C9-931B-388C1148AB47}">
      <dgm:prSet/>
      <dgm:spPr/>
      <dgm:t>
        <a:bodyPr/>
        <a:lstStyle/>
        <a:p>
          <a:endParaRPr lang="en-IN"/>
        </a:p>
      </dgm:t>
    </dgm:pt>
    <dgm:pt modelId="{52FD527A-156A-4C39-807B-3FA8B013AA42}">
      <dgm:prSet/>
      <dgm:spPr/>
      <dgm:t>
        <a:bodyPr/>
        <a:lstStyle/>
        <a:p>
          <a:r>
            <a:rPr lang="en-US"/>
            <a:t>Cost of Equity: 14.37%</a:t>
          </a:r>
          <a:endParaRPr lang="en-IN"/>
        </a:p>
      </dgm:t>
    </dgm:pt>
    <dgm:pt modelId="{2366F1CD-F215-42B9-B690-CC8CB9B67CFF}" type="parTrans" cxnId="{612B84BE-5A9F-4664-8D17-9B0C47E92725}">
      <dgm:prSet/>
      <dgm:spPr/>
      <dgm:t>
        <a:bodyPr/>
        <a:lstStyle/>
        <a:p>
          <a:endParaRPr lang="en-IN"/>
        </a:p>
      </dgm:t>
    </dgm:pt>
    <dgm:pt modelId="{87D45D3B-8FCD-41AE-90F3-A63E7CDEC72E}" type="sibTrans" cxnId="{612B84BE-5A9F-4664-8D17-9B0C47E92725}">
      <dgm:prSet/>
      <dgm:spPr/>
      <dgm:t>
        <a:bodyPr/>
        <a:lstStyle/>
        <a:p>
          <a:endParaRPr lang="en-IN"/>
        </a:p>
      </dgm:t>
    </dgm:pt>
    <dgm:pt modelId="{386547B0-0AEB-452E-98FC-6F353D432AF9}">
      <dgm:prSet/>
      <dgm:spPr/>
      <dgm:t>
        <a:bodyPr/>
        <a:lstStyle/>
        <a:p>
          <a:r>
            <a:rPr lang="en-US"/>
            <a:t>After-tax Cost of Debt: 2.27%</a:t>
          </a:r>
          <a:endParaRPr lang="en-IN"/>
        </a:p>
      </dgm:t>
    </dgm:pt>
    <dgm:pt modelId="{AB192A63-B557-4A81-9FB6-88769A931F6D}" type="parTrans" cxnId="{B680599C-E0C1-4BE0-A673-DBE49802582C}">
      <dgm:prSet/>
      <dgm:spPr/>
      <dgm:t>
        <a:bodyPr/>
        <a:lstStyle/>
        <a:p>
          <a:endParaRPr lang="en-IN"/>
        </a:p>
      </dgm:t>
    </dgm:pt>
    <dgm:pt modelId="{AD04F995-4825-46E1-91C7-7F7D1427852A}" type="sibTrans" cxnId="{B680599C-E0C1-4BE0-A673-DBE49802582C}">
      <dgm:prSet/>
      <dgm:spPr/>
      <dgm:t>
        <a:bodyPr/>
        <a:lstStyle/>
        <a:p>
          <a:endParaRPr lang="en-IN"/>
        </a:p>
      </dgm:t>
    </dgm:pt>
    <dgm:pt modelId="{D797D335-CDBA-42B8-9095-359FE3D4D683}">
      <dgm:prSet/>
      <dgm:spPr/>
      <dgm:t>
        <a:bodyPr/>
        <a:lstStyle/>
        <a:p>
          <a:r>
            <a:rPr lang="en-US"/>
            <a:t>Final WACC: 10.37%</a:t>
          </a:r>
          <a:endParaRPr lang="en-IN"/>
        </a:p>
      </dgm:t>
    </dgm:pt>
    <dgm:pt modelId="{D858DC82-310D-47C1-AE9F-D77A80142211}" type="parTrans" cxnId="{6255E89D-2B2C-4712-B42B-BDE713C74FC2}">
      <dgm:prSet/>
      <dgm:spPr/>
      <dgm:t>
        <a:bodyPr/>
        <a:lstStyle/>
        <a:p>
          <a:endParaRPr lang="en-IN"/>
        </a:p>
      </dgm:t>
    </dgm:pt>
    <dgm:pt modelId="{09C1CBCE-AD5E-45B3-AF9C-6C5C76178271}" type="sibTrans" cxnId="{6255E89D-2B2C-4712-B42B-BDE713C74FC2}">
      <dgm:prSet/>
      <dgm:spPr/>
      <dgm:t>
        <a:bodyPr/>
        <a:lstStyle/>
        <a:p>
          <a:endParaRPr lang="en-IN"/>
        </a:p>
      </dgm:t>
    </dgm:pt>
    <dgm:pt modelId="{5320B83B-7106-46F9-880F-7A57FDFC0D1D}" type="pres">
      <dgm:prSet presAssocID="{AFC82447-D7EA-49E8-816D-A876F3609E51}" presName="CompostProcess" presStyleCnt="0">
        <dgm:presLayoutVars>
          <dgm:dir/>
          <dgm:resizeHandles val="exact"/>
        </dgm:presLayoutVars>
      </dgm:prSet>
      <dgm:spPr/>
    </dgm:pt>
    <dgm:pt modelId="{646D01E3-7E1A-4D56-8E4D-209B1A7A809D}" type="pres">
      <dgm:prSet presAssocID="{AFC82447-D7EA-49E8-816D-A876F3609E51}" presName="arrow" presStyleLbl="bgShp" presStyleIdx="0" presStyleCnt="1"/>
      <dgm:spPr/>
    </dgm:pt>
    <dgm:pt modelId="{D76CE3E5-D138-41D2-837D-B5FF45823534}" type="pres">
      <dgm:prSet presAssocID="{AFC82447-D7EA-49E8-816D-A876F3609E51}" presName="linearProcess" presStyleCnt="0"/>
      <dgm:spPr/>
    </dgm:pt>
    <dgm:pt modelId="{84F98B05-C080-4477-96AB-95719DC1BE02}" type="pres">
      <dgm:prSet presAssocID="{B161CF41-9A76-4883-95CB-D61C93019E97}" presName="textNode" presStyleLbl="node1" presStyleIdx="0" presStyleCnt="6">
        <dgm:presLayoutVars>
          <dgm:bulletEnabled val="1"/>
        </dgm:presLayoutVars>
      </dgm:prSet>
      <dgm:spPr/>
    </dgm:pt>
    <dgm:pt modelId="{3E91F982-0315-4A15-95D6-91F871BB31C0}" type="pres">
      <dgm:prSet presAssocID="{63E4722E-ADB4-41D6-B3FA-78A7074005A8}" presName="sibTrans" presStyleCnt="0"/>
      <dgm:spPr/>
    </dgm:pt>
    <dgm:pt modelId="{3BB1B077-A6B1-40BC-8490-5C76D933B873}" type="pres">
      <dgm:prSet presAssocID="{56ADD63C-11C4-4A45-80A7-37DA24AA5F45}" presName="textNode" presStyleLbl="node1" presStyleIdx="1" presStyleCnt="6">
        <dgm:presLayoutVars>
          <dgm:bulletEnabled val="1"/>
        </dgm:presLayoutVars>
      </dgm:prSet>
      <dgm:spPr/>
    </dgm:pt>
    <dgm:pt modelId="{4F34662A-56AC-4A1C-8AEA-A93E89935F1B}" type="pres">
      <dgm:prSet presAssocID="{FF505569-8C83-4AF3-91C6-DFB9728B06E4}" presName="sibTrans" presStyleCnt="0"/>
      <dgm:spPr/>
    </dgm:pt>
    <dgm:pt modelId="{2A720207-EF95-4A59-AF54-3722424384DD}" type="pres">
      <dgm:prSet presAssocID="{6DC55563-979F-4222-9BB0-8BD8CC16BD11}" presName="textNode" presStyleLbl="node1" presStyleIdx="2" presStyleCnt="6">
        <dgm:presLayoutVars>
          <dgm:bulletEnabled val="1"/>
        </dgm:presLayoutVars>
      </dgm:prSet>
      <dgm:spPr/>
    </dgm:pt>
    <dgm:pt modelId="{060B0332-340C-49B0-8845-CD8F058235C8}" type="pres">
      <dgm:prSet presAssocID="{89B6E606-0C1C-4634-8218-C10231D007CD}" presName="sibTrans" presStyleCnt="0"/>
      <dgm:spPr/>
    </dgm:pt>
    <dgm:pt modelId="{1DD4FBBF-166E-4C88-ADBD-C54D03D071C8}" type="pres">
      <dgm:prSet presAssocID="{52FD527A-156A-4C39-807B-3FA8B013AA42}" presName="textNode" presStyleLbl="node1" presStyleIdx="3" presStyleCnt="6">
        <dgm:presLayoutVars>
          <dgm:bulletEnabled val="1"/>
        </dgm:presLayoutVars>
      </dgm:prSet>
      <dgm:spPr/>
    </dgm:pt>
    <dgm:pt modelId="{7E21E211-2787-48FF-A1B7-AF0F3E489F8E}" type="pres">
      <dgm:prSet presAssocID="{87D45D3B-8FCD-41AE-90F3-A63E7CDEC72E}" presName="sibTrans" presStyleCnt="0"/>
      <dgm:spPr/>
    </dgm:pt>
    <dgm:pt modelId="{67639147-60FC-47A1-981F-DA6107558546}" type="pres">
      <dgm:prSet presAssocID="{386547B0-0AEB-452E-98FC-6F353D432AF9}" presName="textNode" presStyleLbl="node1" presStyleIdx="4" presStyleCnt="6">
        <dgm:presLayoutVars>
          <dgm:bulletEnabled val="1"/>
        </dgm:presLayoutVars>
      </dgm:prSet>
      <dgm:spPr/>
    </dgm:pt>
    <dgm:pt modelId="{D7F006A4-B858-4DDD-AE8E-7EE84E70CFE9}" type="pres">
      <dgm:prSet presAssocID="{AD04F995-4825-46E1-91C7-7F7D1427852A}" presName="sibTrans" presStyleCnt="0"/>
      <dgm:spPr/>
    </dgm:pt>
    <dgm:pt modelId="{CE5EC1EB-480A-4AED-85A1-884F73B11C82}" type="pres">
      <dgm:prSet presAssocID="{D797D335-CDBA-42B8-9095-359FE3D4D683}" presName="textNode" presStyleLbl="node1" presStyleIdx="5" presStyleCnt="6">
        <dgm:presLayoutVars>
          <dgm:bulletEnabled val="1"/>
        </dgm:presLayoutVars>
      </dgm:prSet>
      <dgm:spPr/>
    </dgm:pt>
  </dgm:ptLst>
  <dgm:cxnLst>
    <dgm:cxn modelId="{B1702111-0402-495E-98E6-A94A95A3F2F9}" type="presOf" srcId="{D797D335-CDBA-42B8-9095-359FE3D4D683}" destId="{CE5EC1EB-480A-4AED-85A1-884F73B11C82}" srcOrd="0" destOrd="0" presId="urn:microsoft.com/office/officeart/2005/8/layout/hProcess9"/>
    <dgm:cxn modelId="{24D0874F-F20F-41C9-931B-388C1148AB47}" srcId="{AFC82447-D7EA-49E8-816D-A876F3609E51}" destId="{6DC55563-979F-4222-9BB0-8BD8CC16BD11}" srcOrd="2" destOrd="0" parTransId="{04259531-5507-426F-BAA7-7E9FEE627672}" sibTransId="{89B6E606-0C1C-4634-8218-C10231D007CD}"/>
    <dgm:cxn modelId="{F792048E-624E-43F1-A068-7DFAC8FBE6F7}" type="presOf" srcId="{56ADD63C-11C4-4A45-80A7-37DA24AA5F45}" destId="{3BB1B077-A6B1-40BC-8490-5C76D933B873}" srcOrd="0" destOrd="0" presId="urn:microsoft.com/office/officeart/2005/8/layout/hProcess9"/>
    <dgm:cxn modelId="{B680599C-E0C1-4BE0-A673-DBE49802582C}" srcId="{AFC82447-D7EA-49E8-816D-A876F3609E51}" destId="{386547B0-0AEB-452E-98FC-6F353D432AF9}" srcOrd="4" destOrd="0" parTransId="{AB192A63-B557-4A81-9FB6-88769A931F6D}" sibTransId="{AD04F995-4825-46E1-91C7-7F7D1427852A}"/>
    <dgm:cxn modelId="{6255E89D-2B2C-4712-B42B-BDE713C74FC2}" srcId="{AFC82447-D7EA-49E8-816D-A876F3609E51}" destId="{D797D335-CDBA-42B8-9095-359FE3D4D683}" srcOrd="5" destOrd="0" parTransId="{D858DC82-310D-47C1-AE9F-D77A80142211}" sibTransId="{09C1CBCE-AD5E-45B3-AF9C-6C5C76178271}"/>
    <dgm:cxn modelId="{394597A8-9A4E-4C10-A71C-BF4DF3D3A710}" type="presOf" srcId="{386547B0-0AEB-452E-98FC-6F353D432AF9}" destId="{67639147-60FC-47A1-981F-DA6107558546}" srcOrd="0" destOrd="0" presId="urn:microsoft.com/office/officeart/2005/8/layout/hProcess9"/>
    <dgm:cxn modelId="{612B84BE-5A9F-4664-8D17-9B0C47E92725}" srcId="{AFC82447-D7EA-49E8-816D-A876F3609E51}" destId="{52FD527A-156A-4C39-807B-3FA8B013AA42}" srcOrd="3" destOrd="0" parTransId="{2366F1CD-F215-42B9-B690-CC8CB9B67CFF}" sibTransId="{87D45D3B-8FCD-41AE-90F3-A63E7CDEC72E}"/>
    <dgm:cxn modelId="{8DF2FAD2-89B7-4CA2-B5E1-C0FA5517BAAD}" srcId="{AFC82447-D7EA-49E8-816D-A876F3609E51}" destId="{B161CF41-9A76-4883-95CB-D61C93019E97}" srcOrd="0" destOrd="0" parTransId="{8136340C-94E6-4AD7-AC89-9216EDC3BABB}" sibTransId="{63E4722E-ADB4-41D6-B3FA-78A7074005A8}"/>
    <dgm:cxn modelId="{709B3CE0-A362-4964-9DF5-612ADBB900A3}" type="presOf" srcId="{52FD527A-156A-4C39-807B-3FA8B013AA42}" destId="{1DD4FBBF-166E-4C88-ADBD-C54D03D071C8}" srcOrd="0" destOrd="0" presId="urn:microsoft.com/office/officeart/2005/8/layout/hProcess9"/>
    <dgm:cxn modelId="{8E0584E5-33B2-4E9B-AFF7-8AB7839C8159}" type="presOf" srcId="{AFC82447-D7EA-49E8-816D-A876F3609E51}" destId="{5320B83B-7106-46F9-880F-7A57FDFC0D1D}" srcOrd="0" destOrd="0" presId="urn:microsoft.com/office/officeart/2005/8/layout/hProcess9"/>
    <dgm:cxn modelId="{96339DEC-5BAA-4A3F-AE6C-1E95BED8109B}" srcId="{AFC82447-D7EA-49E8-816D-A876F3609E51}" destId="{56ADD63C-11C4-4A45-80A7-37DA24AA5F45}" srcOrd="1" destOrd="0" parTransId="{56A317F0-3C58-40D5-908F-E78AA7494095}" sibTransId="{FF505569-8C83-4AF3-91C6-DFB9728B06E4}"/>
    <dgm:cxn modelId="{6F5C09F1-5762-46FD-8624-0DF88A40641F}" type="presOf" srcId="{B161CF41-9A76-4883-95CB-D61C93019E97}" destId="{84F98B05-C080-4477-96AB-95719DC1BE02}" srcOrd="0" destOrd="0" presId="urn:microsoft.com/office/officeart/2005/8/layout/hProcess9"/>
    <dgm:cxn modelId="{3FCDFBFC-8793-40F9-A227-A68B27D626B4}" type="presOf" srcId="{6DC55563-979F-4222-9BB0-8BD8CC16BD11}" destId="{2A720207-EF95-4A59-AF54-3722424384DD}" srcOrd="0" destOrd="0" presId="urn:microsoft.com/office/officeart/2005/8/layout/hProcess9"/>
    <dgm:cxn modelId="{ABB2EB9E-2948-4F1A-95BC-42871532E45F}" type="presParOf" srcId="{5320B83B-7106-46F9-880F-7A57FDFC0D1D}" destId="{646D01E3-7E1A-4D56-8E4D-209B1A7A809D}" srcOrd="0" destOrd="0" presId="urn:microsoft.com/office/officeart/2005/8/layout/hProcess9"/>
    <dgm:cxn modelId="{5F960869-E7F9-4A21-8302-ED10C0C01528}" type="presParOf" srcId="{5320B83B-7106-46F9-880F-7A57FDFC0D1D}" destId="{D76CE3E5-D138-41D2-837D-B5FF45823534}" srcOrd="1" destOrd="0" presId="urn:microsoft.com/office/officeart/2005/8/layout/hProcess9"/>
    <dgm:cxn modelId="{ED951E18-4A53-4F16-9AEE-05D0B29D7FBB}" type="presParOf" srcId="{D76CE3E5-D138-41D2-837D-B5FF45823534}" destId="{84F98B05-C080-4477-96AB-95719DC1BE02}" srcOrd="0" destOrd="0" presId="urn:microsoft.com/office/officeart/2005/8/layout/hProcess9"/>
    <dgm:cxn modelId="{793E6781-1E9A-42CA-AF1D-77B65D423211}" type="presParOf" srcId="{D76CE3E5-D138-41D2-837D-B5FF45823534}" destId="{3E91F982-0315-4A15-95D6-91F871BB31C0}" srcOrd="1" destOrd="0" presId="urn:microsoft.com/office/officeart/2005/8/layout/hProcess9"/>
    <dgm:cxn modelId="{37AE0418-4F99-4D9A-B764-030F4D79C4E3}" type="presParOf" srcId="{D76CE3E5-D138-41D2-837D-B5FF45823534}" destId="{3BB1B077-A6B1-40BC-8490-5C76D933B873}" srcOrd="2" destOrd="0" presId="urn:microsoft.com/office/officeart/2005/8/layout/hProcess9"/>
    <dgm:cxn modelId="{B350816D-7770-4656-B0B5-06ECC2101BF4}" type="presParOf" srcId="{D76CE3E5-D138-41D2-837D-B5FF45823534}" destId="{4F34662A-56AC-4A1C-8AEA-A93E89935F1B}" srcOrd="3" destOrd="0" presId="urn:microsoft.com/office/officeart/2005/8/layout/hProcess9"/>
    <dgm:cxn modelId="{861616ED-61E3-49DE-9F10-1F0E02F487FD}" type="presParOf" srcId="{D76CE3E5-D138-41D2-837D-B5FF45823534}" destId="{2A720207-EF95-4A59-AF54-3722424384DD}" srcOrd="4" destOrd="0" presId="urn:microsoft.com/office/officeart/2005/8/layout/hProcess9"/>
    <dgm:cxn modelId="{EA750B42-0C52-4616-9778-411B3E894006}" type="presParOf" srcId="{D76CE3E5-D138-41D2-837D-B5FF45823534}" destId="{060B0332-340C-49B0-8845-CD8F058235C8}" srcOrd="5" destOrd="0" presId="urn:microsoft.com/office/officeart/2005/8/layout/hProcess9"/>
    <dgm:cxn modelId="{3BAD5899-73F6-4982-8E64-1A29341DDEB6}" type="presParOf" srcId="{D76CE3E5-D138-41D2-837D-B5FF45823534}" destId="{1DD4FBBF-166E-4C88-ADBD-C54D03D071C8}" srcOrd="6" destOrd="0" presId="urn:microsoft.com/office/officeart/2005/8/layout/hProcess9"/>
    <dgm:cxn modelId="{0ECD3CFD-4D14-400E-A3B3-7B2CD51E518A}" type="presParOf" srcId="{D76CE3E5-D138-41D2-837D-B5FF45823534}" destId="{7E21E211-2787-48FF-A1B7-AF0F3E489F8E}" srcOrd="7" destOrd="0" presId="urn:microsoft.com/office/officeart/2005/8/layout/hProcess9"/>
    <dgm:cxn modelId="{9D8145F9-B50B-437F-A0BB-A66525F89D59}" type="presParOf" srcId="{D76CE3E5-D138-41D2-837D-B5FF45823534}" destId="{67639147-60FC-47A1-981F-DA6107558546}" srcOrd="8" destOrd="0" presId="urn:microsoft.com/office/officeart/2005/8/layout/hProcess9"/>
    <dgm:cxn modelId="{30C0EFBC-CB07-41FA-BD91-7DFD2B725D2A}" type="presParOf" srcId="{D76CE3E5-D138-41D2-837D-B5FF45823534}" destId="{D7F006A4-B858-4DDD-AE8E-7EE84E70CFE9}" srcOrd="9" destOrd="0" presId="urn:microsoft.com/office/officeart/2005/8/layout/hProcess9"/>
    <dgm:cxn modelId="{CC31883A-CD3A-4C6C-8E77-8291DBED5D49}" type="presParOf" srcId="{D76CE3E5-D138-41D2-837D-B5FF45823534}" destId="{CE5EC1EB-480A-4AED-85A1-884F73B11C82}" srcOrd="1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28ED43C-E1AB-4FF9-BB65-CA3C0CCEF7AA}" type="doc">
      <dgm:prSet loTypeId="urn:diagrams.loki3.com/TabbedArc+Icon" loCatId="officeonline" qsTypeId="urn:microsoft.com/office/officeart/2005/8/quickstyle/simple1" qsCatId="simple" csTypeId="urn:microsoft.com/office/officeart/2005/8/colors/accent1_2" csCatId="accent1"/>
      <dgm:spPr/>
      <dgm:t>
        <a:bodyPr/>
        <a:lstStyle/>
        <a:p>
          <a:endParaRPr lang="en-IN"/>
        </a:p>
      </dgm:t>
    </dgm:pt>
    <dgm:pt modelId="{4634A2E5-AB0F-4EA4-A0A0-7CE31CBE2508}">
      <dgm:prSet/>
      <dgm:spPr/>
      <dgm:t>
        <a:bodyPr/>
        <a:lstStyle/>
        <a:p>
          <a:r>
            <a:rPr lang="en-US"/>
            <a:t>If ROIC &gt; WACC → Company creates shareholder value.</a:t>
          </a:r>
          <a:endParaRPr lang="en-IN"/>
        </a:p>
      </dgm:t>
    </dgm:pt>
    <dgm:pt modelId="{FCE03847-D445-4D16-9854-C495A6C99CC1}" type="parTrans" cxnId="{AB26896A-2AA9-4996-A26F-6F502876D8AB}">
      <dgm:prSet/>
      <dgm:spPr/>
      <dgm:t>
        <a:bodyPr/>
        <a:lstStyle/>
        <a:p>
          <a:endParaRPr lang="en-IN"/>
        </a:p>
      </dgm:t>
    </dgm:pt>
    <dgm:pt modelId="{704E2F12-E675-4216-8656-00735BB8207A}" type="sibTrans" cxnId="{AB26896A-2AA9-4996-A26F-6F502876D8AB}">
      <dgm:prSet/>
      <dgm:spPr/>
      <dgm:t>
        <a:bodyPr/>
        <a:lstStyle/>
        <a:p>
          <a:endParaRPr lang="en-IN"/>
        </a:p>
      </dgm:t>
    </dgm:pt>
    <dgm:pt modelId="{6410BBDB-A66E-4EA4-89CD-91F369A8F4D5}">
      <dgm:prSet/>
      <dgm:spPr/>
      <dgm:t>
        <a:bodyPr/>
        <a:lstStyle/>
        <a:p>
          <a:r>
            <a:rPr lang="en-US"/>
            <a:t>If ROIC &lt; WACC → Company destroys shareholder value.</a:t>
          </a:r>
          <a:endParaRPr lang="en-IN"/>
        </a:p>
      </dgm:t>
    </dgm:pt>
    <dgm:pt modelId="{FD3FB8D1-84B8-4923-B17A-A2767D423E0F}" type="parTrans" cxnId="{4897C7E4-5C9C-42E1-A36C-715FF8EA0B42}">
      <dgm:prSet/>
      <dgm:spPr/>
      <dgm:t>
        <a:bodyPr/>
        <a:lstStyle/>
        <a:p>
          <a:endParaRPr lang="en-IN"/>
        </a:p>
      </dgm:t>
    </dgm:pt>
    <dgm:pt modelId="{E192B303-E619-4262-BA87-72D2CF336054}" type="sibTrans" cxnId="{4897C7E4-5C9C-42E1-A36C-715FF8EA0B42}">
      <dgm:prSet/>
      <dgm:spPr/>
      <dgm:t>
        <a:bodyPr/>
        <a:lstStyle/>
        <a:p>
          <a:endParaRPr lang="en-IN"/>
        </a:p>
      </dgm:t>
    </dgm:pt>
    <dgm:pt modelId="{11A7A571-7201-414F-85FC-6FC3579B685C}">
      <dgm:prSet/>
      <dgm:spPr/>
      <dgm:t>
        <a:bodyPr/>
        <a:lstStyle/>
        <a:p>
          <a:r>
            <a:rPr lang="en-US"/>
            <a:t>With a WACC of 10.37%, Tesla should invest only in projects earning above this hurdle rate.</a:t>
          </a:r>
          <a:endParaRPr lang="en-IN"/>
        </a:p>
      </dgm:t>
    </dgm:pt>
    <dgm:pt modelId="{3377C6AB-4658-421E-8ADA-1D64521E898C}" type="parTrans" cxnId="{E92465BE-19CC-4C51-BC0A-CAB14AECD18B}">
      <dgm:prSet/>
      <dgm:spPr/>
      <dgm:t>
        <a:bodyPr/>
        <a:lstStyle/>
        <a:p>
          <a:endParaRPr lang="en-IN"/>
        </a:p>
      </dgm:t>
    </dgm:pt>
    <dgm:pt modelId="{6B70085A-73C3-4A5F-BB63-67BADB7DF9DC}" type="sibTrans" cxnId="{E92465BE-19CC-4C51-BC0A-CAB14AECD18B}">
      <dgm:prSet/>
      <dgm:spPr/>
      <dgm:t>
        <a:bodyPr/>
        <a:lstStyle/>
        <a:p>
          <a:endParaRPr lang="en-IN"/>
        </a:p>
      </dgm:t>
    </dgm:pt>
    <dgm:pt modelId="{50625808-D7E0-416A-B205-EC6478049400}" type="pres">
      <dgm:prSet presAssocID="{628ED43C-E1AB-4FF9-BB65-CA3C0CCEF7AA}" presName="Name0" presStyleCnt="0">
        <dgm:presLayoutVars>
          <dgm:dir/>
          <dgm:resizeHandles val="exact"/>
        </dgm:presLayoutVars>
      </dgm:prSet>
      <dgm:spPr/>
    </dgm:pt>
    <dgm:pt modelId="{C1FF4B05-5CB2-45FD-906E-B0C77F74076D}" type="pres">
      <dgm:prSet presAssocID="{4634A2E5-AB0F-4EA4-A0A0-7CE31CBE2508}" presName="twoplus" presStyleLbl="node1" presStyleIdx="0" presStyleCnt="3">
        <dgm:presLayoutVars>
          <dgm:bulletEnabled val="1"/>
        </dgm:presLayoutVars>
      </dgm:prSet>
      <dgm:spPr/>
    </dgm:pt>
    <dgm:pt modelId="{963F7655-2E7C-48EA-941F-F03FC232F2E8}" type="pres">
      <dgm:prSet presAssocID="{6410BBDB-A66E-4EA4-89CD-91F369A8F4D5}" presName="twoplus" presStyleLbl="node1" presStyleIdx="1" presStyleCnt="3">
        <dgm:presLayoutVars>
          <dgm:bulletEnabled val="1"/>
        </dgm:presLayoutVars>
      </dgm:prSet>
      <dgm:spPr/>
    </dgm:pt>
    <dgm:pt modelId="{A33732F0-1BAD-4C52-B457-2BFA5A5E8EB4}" type="pres">
      <dgm:prSet presAssocID="{11A7A571-7201-414F-85FC-6FC3579B685C}" presName="twoplus" presStyleLbl="node1" presStyleIdx="2" presStyleCnt="3">
        <dgm:presLayoutVars>
          <dgm:bulletEnabled val="1"/>
        </dgm:presLayoutVars>
      </dgm:prSet>
      <dgm:spPr/>
    </dgm:pt>
  </dgm:ptLst>
  <dgm:cxnLst>
    <dgm:cxn modelId="{5142070B-9FCA-4861-9A4E-375862DA04EE}" type="presOf" srcId="{6410BBDB-A66E-4EA4-89CD-91F369A8F4D5}" destId="{963F7655-2E7C-48EA-941F-F03FC232F2E8}" srcOrd="0" destOrd="0" presId="urn:diagrams.loki3.com/TabbedArc+Icon"/>
    <dgm:cxn modelId="{AB26896A-2AA9-4996-A26F-6F502876D8AB}" srcId="{628ED43C-E1AB-4FF9-BB65-CA3C0CCEF7AA}" destId="{4634A2E5-AB0F-4EA4-A0A0-7CE31CBE2508}" srcOrd="0" destOrd="0" parTransId="{FCE03847-D445-4D16-9854-C495A6C99CC1}" sibTransId="{704E2F12-E675-4216-8656-00735BB8207A}"/>
    <dgm:cxn modelId="{D4F42452-FAF3-4A5D-9F5D-EDD841E69071}" type="presOf" srcId="{11A7A571-7201-414F-85FC-6FC3579B685C}" destId="{A33732F0-1BAD-4C52-B457-2BFA5A5E8EB4}" srcOrd="0" destOrd="0" presId="urn:diagrams.loki3.com/TabbedArc+Icon"/>
    <dgm:cxn modelId="{F662E1A3-6AFB-4DCD-A3DC-2BB3EC9376DB}" type="presOf" srcId="{4634A2E5-AB0F-4EA4-A0A0-7CE31CBE2508}" destId="{C1FF4B05-5CB2-45FD-906E-B0C77F74076D}" srcOrd="0" destOrd="0" presId="urn:diagrams.loki3.com/TabbedArc+Icon"/>
    <dgm:cxn modelId="{C33AC3B2-9C87-4AB9-81CB-A60E219AE382}" type="presOf" srcId="{628ED43C-E1AB-4FF9-BB65-CA3C0CCEF7AA}" destId="{50625808-D7E0-416A-B205-EC6478049400}" srcOrd="0" destOrd="0" presId="urn:diagrams.loki3.com/TabbedArc+Icon"/>
    <dgm:cxn modelId="{E92465BE-19CC-4C51-BC0A-CAB14AECD18B}" srcId="{628ED43C-E1AB-4FF9-BB65-CA3C0CCEF7AA}" destId="{11A7A571-7201-414F-85FC-6FC3579B685C}" srcOrd="2" destOrd="0" parTransId="{3377C6AB-4658-421E-8ADA-1D64521E898C}" sibTransId="{6B70085A-73C3-4A5F-BB63-67BADB7DF9DC}"/>
    <dgm:cxn modelId="{4897C7E4-5C9C-42E1-A36C-715FF8EA0B42}" srcId="{628ED43C-E1AB-4FF9-BB65-CA3C0CCEF7AA}" destId="{6410BBDB-A66E-4EA4-89CD-91F369A8F4D5}" srcOrd="1" destOrd="0" parTransId="{FD3FB8D1-84B8-4923-B17A-A2767D423E0F}" sibTransId="{E192B303-E619-4262-BA87-72D2CF336054}"/>
    <dgm:cxn modelId="{4AC350A0-8D6D-4C24-9D2A-71A28D28E6C7}" type="presParOf" srcId="{50625808-D7E0-416A-B205-EC6478049400}" destId="{C1FF4B05-5CB2-45FD-906E-B0C77F74076D}" srcOrd="0" destOrd="0" presId="urn:diagrams.loki3.com/TabbedArc+Icon"/>
    <dgm:cxn modelId="{9980ABC3-9DDB-4279-A215-4552A632DF5C}" type="presParOf" srcId="{50625808-D7E0-416A-B205-EC6478049400}" destId="{963F7655-2E7C-48EA-941F-F03FC232F2E8}" srcOrd="1" destOrd="0" presId="urn:diagrams.loki3.com/TabbedArc+Icon"/>
    <dgm:cxn modelId="{96F1A24B-608C-489A-BD81-994CC59BD1EE}" type="presParOf" srcId="{50625808-D7E0-416A-B205-EC6478049400}" destId="{A33732F0-1BAD-4C52-B457-2BFA5A5E8EB4}" srcOrd="2" destOrd="0" presId="urn:diagrams.loki3.com/TabbedArc+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C56FC4F-F8C2-41D2-8AE4-4A6F9B54DAFA}" type="doc">
      <dgm:prSet loTypeId="urn:microsoft.com/office/officeart/2005/8/layout/cycle4" loCatId="matrix" qsTypeId="urn:microsoft.com/office/officeart/2005/8/quickstyle/simple1" qsCatId="simple" csTypeId="urn:microsoft.com/office/officeart/2005/8/colors/accent1_2" csCatId="accent1"/>
      <dgm:spPr/>
      <dgm:t>
        <a:bodyPr/>
        <a:lstStyle/>
        <a:p>
          <a:endParaRPr lang="en-IN"/>
        </a:p>
      </dgm:t>
    </dgm:pt>
    <dgm:pt modelId="{4F5D5C11-2545-4F41-ACF9-028F3FA42FB5}">
      <dgm:prSet/>
      <dgm:spPr/>
      <dgm:t>
        <a:bodyPr/>
        <a:lstStyle/>
        <a:p>
          <a:r>
            <a:rPr lang="en-US"/>
            <a:t>Historical beta may not predict future risk.</a:t>
          </a:r>
          <a:endParaRPr lang="en-IN"/>
        </a:p>
      </dgm:t>
    </dgm:pt>
    <dgm:pt modelId="{A8803199-568E-4F8B-AD84-1685C303D1EA}" type="parTrans" cxnId="{FD5AF06B-78A8-4851-9CC9-338AD2BD0D4C}">
      <dgm:prSet/>
      <dgm:spPr/>
      <dgm:t>
        <a:bodyPr/>
        <a:lstStyle/>
        <a:p>
          <a:endParaRPr lang="en-IN"/>
        </a:p>
      </dgm:t>
    </dgm:pt>
    <dgm:pt modelId="{446DA1BF-4806-49FF-8E69-8574DF70FA81}" type="sibTrans" cxnId="{FD5AF06B-78A8-4851-9CC9-338AD2BD0D4C}">
      <dgm:prSet/>
      <dgm:spPr/>
      <dgm:t>
        <a:bodyPr/>
        <a:lstStyle/>
        <a:p>
          <a:endParaRPr lang="en-IN"/>
        </a:p>
      </dgm:t>
    </dgm:pt>
    <dgm:pt modelId="{7359F3DF-40E7-4848-89B7-16AE5693F150}">
      <dgm:prSet/>
      <dgm:spPr/>
      <dgm:t>
        <a:bodyPr/>
        <a:lstStyle/>
        <a:p>
          <a:r>
            <a:rPr lang="en-US" dirty="0"/>
            <a:t>Market conditions and interest rates change over time.</a:t>
          </a:r>
          <a:endParaRPr lang="en-IN" dirty="0"/>
        </a:p>
      </dgm:t>
    </dgm:pt>
    <dgm:pt modelId="{B2F775E9-C9E7-4E44-934F-6F67263A6987}" type="parTrans" cxnId="{2FA4E038-6C9F-45CC-B3CB-61F1D7FE75B3}">
      <dgm:prSet/>
      <dgm:spPr/>
      <dgm:t>
        <a:bodyPr/>
        <a:lstStyle/>
        <a:p>
          <a:endParaRPr lang="en-IN"/>
        </a:p>
      </dgm:t>
    </dgm:pt>
    <dgm:pt modelId="{4089F68C-FC2B-4B2D-8FAB-84E615B4DB66}" type="sibTrans" cxnId="{2FA4E038-6C9F-45CC-B3CB-61F1D7FE75B3}">
      <dgm:prSet/>
      <dgm:spPr/>
      <dgm:t>
        <a:bodyPr/>
        <a:lstStyle/>
        <a:p>
          <a:endParaRPr lang="en-IN"/>
        </a:p>
      </dgm:t>
    </dgm:pt>
    <dgm:pt modelId="{CF38EB30-6B81-4F60-848C-A9194DC0FA09}">
      <dgm:prSet/>
      <dgm:spPr/>
      <dgm:t>
        <a:bodyPr/>
        <a:lstStyle/>
        <a:p>
          <a:r>
            <a:rPr lang="en-US"/>
            <a:t>Capital structure may change.</a:t>
          </a:r>
          <a:endParaRPr lang="en-IN"/>
        </a:p>
      </dgm:t>
    </dgm:pt>
    <dgm:pt modelId="{C03C2321-D584-4629-9064-0B471998C4C9}" type="parTrans" cxnId="{7C515A4A-608C-455C-869E-C42C22595186}">
      <dgm:prSet/>
      <dgm:spPr/>
      <dgm:t>
        <a:bodyPr/>
        <a:lstStyle/>
        <a:p>
          <a:endParaRPr lang="en-IN"/>
        </a:p>
      </dgm:t>
    </dgm:pt>
    <dgm:pt modelId="{31895558-E88F-4A75-AF19-B390FD9000DF}" type="sibTrans" cxnId="{7C515A4A-608C-455C-869E-C42C22595186}">
      <dgm:prSet/>
      <dgm:spPr/>
      <dgm:t>
        <a:bodyPr/>
        <a:lstStyle/>
        <a:p>
          <a:endParaRPr lang="en-IN"/>
        </a:p>
      </dgm:t>
    </dgm:pt>
    <dgm:pt modelId="{4BAD092D-E83E-43F3-89F0-3B296F942270}">
      <dgm:prSet/>
      <dgm:spPr/>
      <dgm:t>
        <a:bodyPr/>
        <a:lstStyle/>
        <a:p>
          <a:r>
            <a:rPr lang="en-US"/>
            <a:t>CAPM assumptions may not fully reflect real markets</a:t>
          </a:r>
          <a:endParaRPr lang="en-IN"/>
        </a:p>
      </dgm:t>
    </dgm:pt>
    <dgm:pt modelId="{923FFCF5-01DB-4552-9B4D-FBBBCAA0A398}" type="parTrans" cxnId="{EC851C56-09FB-470E-89B3-467AE9ECF9CD}">
      <dgm:prSet/>
      <dgm:spPr/>
      <dgm:t>
        <a:bodyPr/>
        <a:lstStyle/>
        <a:p>
          <a:endParaRPr lang="en-IN"/>
        </a:p>
      </dgm:t>
    </dgm:pt>
    <dgm:pt modelId="{D98912C6-3A25-4E6E-AEB7-5A2644D8FD57}" type="sibTrans" cxnId="{EC851C56-09FB-470E-89B3-467AE9ECF9CD}">
      <dgm:prSet/>
      <dgm:spPr/>
      <dgm:t>
        <a:bodyPr/>
        <a:lstStyle/>
        <a:p>
          <a:endParaRPr lang="en-IN"/>
        </a:p>
      </dgm:t>
    </dgm:pt>
    <dgm:pt modelId="{93907CF3-CBA7-426E-98C8-6DD4BEE481E9}" type="pres">
      <dgm:prSet presAssocID="{CC56FC4F-F8C2-41D2-8AE4-4A6F9B54DAFA}" presName="cycleMatrixDiagram" presStyleCnt="0">
        <dgm:presLayoutVars>
          <dgm:chMax val="1"/>
          <dgm:dir/>
          <dgm:animLvl val="lvl"/>
          <dgm:resizeHandles val="exact"/>
        </dgm:presLayoutVars>
      </dgm:prSet>
      <dgm:spPr/>
    </dgm:pt>
    <dgm:pt modelId="{403206BC-0F96-4A48-9A29-3A724D208F8F}" type="pres">
      <dgm:prSet presAssocID="{CC56FC4F-F8C2-41D2-8AE4-4A6F9B54DAFA}" presName="children" presStyleCnt="0"/>
      <dgm:spPr/>
    </dgm:pt>
    <dgm:pt modelId="{D1FD2F5B-187F-4322-B37C-C5C5D4E82DD1}" type="pres">
      <dgm:prSet presAssocID="{CC56FC4F-F8C2-41D2-8AE4-4A6F9B54DAFA}" presName="childPlaceholder" presStyleCnt="0"/>
      <dgm:spPr/>
    </dgm:pt>
    <dgm:pt modelId="{2E82703E-E75E-4122-B57F-90B6A60A2589}" type="pres">
      <dgm:prSet presAssocID="{CC56FC4F-F8C2-41D2-8AE4-4A6F9B54DAFA}" presName="circle" presStyleCnt="0"/>
      <dgm:spPr/>
    </dgm:pt>
    <dgm:pt modelId="{7A151112-5A8E-464A-802A-D480F015EEA2}" type="pres">
      <dgm:prSet presAssocID="{CC56FC4F-F8C2-41D2-8AE4-4A6F9B54DAFA}" presName="quadrant1" presStyleLbl="node1" presStyleIdx="0" presStyleCnt="4">
        <dgm:presLayoutVars>
          <dgm:chMax val="1"/>
          <dgm:bulletEnabled val="1"/>
        </dgm:presLayoutVars>
      </dgm:prSet>
      <dgm:spPr/>
    </dgm:pt>
    <dgm:pt modelId="{2BEE324A-6365-4C6B-BC75-F47C880E8583}" type="pres">
      <dgm:prSet presAssocID="{CC56FC4F-F8C2-41D2-8AE4-4A6F9B54DAFA}" presName="quadrant2" presStyleLbl="node1" presStyleIdx="1" presStyleCnt="4">
        <dgm:presLayoutVars>
          <dgm:chMax val="1"/>
          <dgm:bulletEnabled val="1"/>
        </dgm:presLayoutVars>
      </dgm:prSet>
      <dgm:spPr/>
    </dgm:pt>
    <dgm:pt modelId="{B7FDA55E-B123-4059-996A-252DB87CB137}" type="pres">
      <dgm:prSet presAssocID="{CC56FC4F-F8C2-41D2-8AE4-4A6F9B54DAFA}" presName="quadrant3" presStyleLbl="node1" presStyleIdx="2" presStyleCnt="4">
        <dgm:presLayoutVars>
          <dgm:chMax val="1"/>
          <dgm:bulletEnabled val="1"/>
        </dgm:presLayoutVars>
      </dgm:prSet>
      <dgm:spPr/>
    </dgm:pt>
    <dgm:pt modelId="{38057287-A24F-4797-AF72-D48D81F57080}" type="pres">
      <dgm:prSet presAssocID="{CC56FC4F-F8C2-41D2-8AE4-4A6F9B54DAFA}" presName="quadrant4" presStyleLbl="node1" presStyleIdx="3" presStyleCnt="4">
        <dgm:presLayoutVars>
          <dgm:chMax val="1"/>
          <dgm:bulletEnabled val="1"/>
        </dgm:presLayoutVars>
      </dgm:prSet>
      <dgm:spPr/>
    </dgm:pt>
    <dgm:pt modelId="{6A015592-999F-4B5B-BF2E-99DBF2E8B9D5}" type="pres">
      <dgm:prSet presAssocID="{CC56FC4F-F8C2-41D2-8AE4-4A6F9B54DAFA}" presName="quadrantPlaceholder" presStyleCnt="0"/>
      <dgm:spPr/>
    </dgm:pt>
    <dgm:pt modelId="{D565B38B-2A33-4112-BB32-29AB878C8DAC}" type="pres">
      <dgm:prSet presAssocID="{CC56FC4F-F8C2-41D2-8AE4-4A6F9B54DAFA}" presName="center1" presStyleLbl="fgShp" presStyleIdx="0" presStyleCnt="2"/>
      <dgm:spPr/>
    </dgm:pt>
    <dgm:pt modelId="{B47CFFD7-ADDD-4A01-AB31-8EF147A8170D}" type="pres">
      <dgm:prSet presAssocID="{CC56FC4F-F8C2-41D2-8AE4-4A6F9B54DAFA}" presName="center2" presStyleLbl="fgShp" presStyleIdx="1" presStyleCnt="2"/>
      <dgm:spPr/>
    </dgm:pt>
  </dgm:ptLst>
  <dgm:cxnLst>
    <dgm:cxn modelId="{8610C62F-2AD0-43AC-A126-CEA7D4153D54}" type="presOf" srcId="{7359F3DF-40E7-4848-89B7-16AE5693F150}" destId="{2BEE324A-6365-4C6B-BC75-F47C880E8583}" srcOrd="0" destOrd="0" presId="urn:microsoft.com/office/officeart/2005/8/layout/cycle4"/>
    <dgm:cxn modelId="{2FA4E038-6C9F-45CC-B3CB-61F1D7FE75B3}" srcId="{CC56FC4F-F8C2-41D2-8AE4-4A6F9B54DAFA}" destId="{7359F3DF-40E7-4848-89B7-16AE5693F150}" srcOrd="1" destOrd="0" parTransId="{B2F775E9-C9E7-4E44-934F-6F67263A6987}" sibTransId="{4089F68C-FC2B-4B2D-8FAB-84E615B4DB66}"/>
    <dgm:cxn modelId="{E0B22C41-85B0-4476-852A-29BB4543FDEC}" type="presOf" srcId="{CC56FC4F-F8C2-41D2-8AE4-4A6F9B54DAFA}" destId="{93907CF3-CBA7-426E-98C8-6DD4BEE481E9}" srcOrd="0" destOrd="0" presId="urn:microsoft.com/office/officeart/2005/8/layout/cycle4"/>
    <dgm:cxn modelId="{7C515A4A-608C-455C-869E-C42C22595186}" srcId="{CC56FC4F-F8C2-41D2-8AE4-4A6F9B54DAFA}" destId="{CF38EB30-6B81-4F60-848C-A9194DC0FA09}" srcOrd="2" destOrd="0" parTransId="{C03C2321-D584-4629-9064-0B471998C4C9}" sibTransId="{31895558-E88F-4A75-AF19-B390FD9000DF}"/>
    <dgm:cxn modelId="{B9F1B36A-D83D-4027-97AC-E098F447ADE9}" type="presOf" srcId="{4F5D5C11-2545-4F41-ACF9-028F3FA42FB5}" destId="{7A151112-5A8E-464A-802A-D480F015EEA2}" srcOrd="0" destOrd="0" presId="urn:microsoft.com/office/officeart/2005/8/layout/cycle4"/>
    <dgm:cxn modelId="{FD5AF06B-78A8-4851-9CC9-338AD2BD0D4C}" srcId="{CC56FC4F-F8C2-41D2-8AE4-4A6F9B54DAFA}" destId="{4F5D5C11-2545-4F41-ACF9-028F3FA42FB5}" srcOrd="0" destOrd="0" parTransId="{A8803199-568E-4F8B-AD84-1685C303D1EA}" sibTransId="{446DA1BF-4806-49FF-8E69-8574DF70FA81}"/>
    <dgm:cxn modelId="{EC851C56-09FB-470E-89B3-467AE9ECF9CD}" srcId="{CC56FC4F-F8C2-41D2-8AE4-4A6F9B54DAFA}" destId="{4BAD092D-E83E-43F3-89F0-3B296F942270}" srcOrd="3" destOrd="0" parTransId="{923FFCF5-01DB-4552-9B4D-FBBBCAA0A398}" sibTransId="{D98912C6-3A25-4E6E-AEB7-5A2644D8FD57}"/>
    <dgm:cxn modelId="{1E8F297F-1EA6-43A9-B2F5-F9D060C925F0}" type="presOf" srcId="{CF38EB30-6B81-4F60-848C-A9194DC0FA09}" destId="{B7FDA55E-B123-4059-996A-252DB87CB137}" srcOrd="0" destOrd="0" presId="urn:microsoft.com/office/officeart/2005/8/layout/cycle4"/>
    <dgm:cxn modelId="{9495C2E2-FE5B-4B1F-85AE-3E13E6796F7B}" type="presOf" srcId="{4BAD092D-E83E-43F3-89F0-3B296F942270}" destId="{38057287-A24F-4797-AF72-D48D81F57080}" srcOrd="0" destOrd="0" presId="urn:microsoft.com/office/officeart/2005/8/layout/cycle4"/>
    <dgm:cxn modelId="{D6FBD709-9837-4463-A58B-CF65B6940AFC}" type="presParOf" srcId="{93907CF3-CBA7-426E-98C8-6DD4BEE481E9}" destId="{403206BC-0F96-4A48-9A29-3A724D208F8F}" srcOrd="0" destOrd="0" presId="urn:microsoft.com/office/officeart/2005/8/layout/cycle4"/>
    <dgm:cxn modelId="{964778CD-183C-4543-92C9-51B066409357}" type="presParOf" srcId="{403206BC-0F96-4A48-9A29-3A724D208F8F}" destId="{D1FD2F5B-187F-4322-B37C-C5C5D4E82DD1}" srcOrd="0" destOrd="0" presId="urn:microsoft.com/office/officeart/2005/8/layout/cycle4"/>
    <dgm:cxn modelId="{64DE7EB4-BF1B-463E-9801-277C20504696}" type="presParOf" srcId="{93907CF3-CBA7-426E-98C8-6DD4BEE481E9}" destId="{2E82703E-E75E-4122-B57F-90B6A60A2589}" srcOrd="1" destOrd="0" presId="urn:microsoft.com/office/officeart/2005/8/layout/cycle4"/>
    <dgm:cxn modelId="{EE46ECD1-D1B7-4342-8A73-60CF59F88BA7}" type="presParOf" srcId="{2E82703E-E75E-4122-B57F-90B6A60A2589}" destId="{7A151112-5A8E-464A-802A-D480F015EEA2}" srcOrd="0" destOrd="0" presId="urn:microsoft.com/office/officeart/2005/8/layout/cycle4"/>
    <dgm:cxn modelId="{EE4CFC43-7648-4268-BB9D-A71D742ED2F8}" type="presParOf" srcId="{2E82703E-E75E-4122-B57F-90B6A60A2589}" destId="{2BEE324A-6365-4C6B-BC75-F47C880E8583}" srcOrd="1" destOrd="0" presId="urn:microsoft.com/office/officeart/2005/8/layout/cycle4"/>
    <dgm:cxn modelId="{B089FD9D-AA0D-4728-B6C9-15104E9320D2}" type="presParOf" srcId="{2E82703E-E75E-4122-B57F-90B6A60A2589}" destId="{B7FDA55E-B123-4059-996A-252DB87CB137}" srcOrd="2" destOrd="0" presId="urn:microsoft.com/office/officeart/2005/8/layout/cycle4"/>
    <dgm:cxn modelId="{C2EBD403-09C7-41DA-A5B8-5F727C385038}" type="presParOf" srcId="{2E82703E-E75E-4122-B57F-90B6A60A2589}" destId="{38057287-A24F-4797-AF72-D48D81F57080}" srcOrd="3" destOrd="0" presId="urn:microsoft.com/office/officeart/2005/8/layout/cycle4"/>
    <dgm:cxn modelId="{0A740DEA-E7F0-49B3-AEE5-D5AC61C592D5}" type="presParOf" srcId="{2E82703E-E75E-4122-B57F-90B6A60A2589}" destId="{6A015592-999F-4B5B-BF2E-99DBF2E8B9D5}" srcOrd="4" destOrd="0" presId="urn:microsoft.com/office/officeart/2005/8/layout/cycle4"/>
    <dgm:cxn modelId="{210893A6-7043-4AFB-BE43-FBF6CFB4F481}" type="presParOf" srcId="{93907CF3-CBA7-426E-98C8-6DD4BEE481E9}" destId="{D565B38B-2A33-4112-BB32-29AB878C8DAC}" srcOrd="2" destOrd="0" presId="urn:microsoft.com/office/officeart/2005/8/layout/cycle4"/>
    <dgm:cxn modelId="{4195F326-56AC-4352-85EE-22E85D2A6F79}" type="presParOf" srcId="{93907CF3-CBA7-426E-98C8-6DD4BEE481E9}" destId="{B47CFFD7-ADDD-4A01-AB31-8EF147A8170D}"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FE3FFD7-773D-4252-A1A9-96B1152F68E9}"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en-IN"/>
        </a:p>
      </dgm:t>
    </dgm:pt>
    <dgm:pt modelId="{D0584330-EF85-4924-B5C9-DF41052B5253}">
      <dgm:prSet/>
      <dgm:spPr/>
      <dgm:t>
        <a:bodyPr/>
        <a:lstStyle/>
        <a:p>
          <a:r>
            <a:rPr lang="en-US" dirty="0"/>
            <a:t>Tesla's WACC is approximately 10.37%.</a:t>
          </a:r>
          <a:endParaRPr lang="en-IN" dirty="0"/>
        </a:p>
      </dgm:t>
    </dgm:pt>
    <dgm:pt modelId="{01CA531A-DD9D-46D5-881A-4D36AB691E15}" type="parTrans" cxnId="{88DEBB67-6109-4BED-A966-3A1748D74871}">
      <dgm:prSet/>
      <dgm:spPr/>
      <dgm:t>
        <a:bodyPr/>
        <a:lstStyle/>
        <a:p>
          <a:endParaRPr lang="en-IN"/>
        </a:p>
      </dgm:t>
    </dgm:pt>
    <dgm:pt modelId="{DB91BD71-9342-4776-994C-96E3F1E2C9DD}" type="sibTrans" cxnId="{88DEBB67-6109-4BED-A966-3A1748D74871}">
      <dgm:prSet/>
      <dgm:spPr/>
      <dgm:t>
        <a:bodyPr/>
        <a:lstStyle/>
        <a:p>
          <a:endParaRPr lang="en-IN"/>
        </a:p>
      </dgm:t>
    </dgm:pt>
    <dgm:pt modelId="{D9C3CA14-B35C-40FA-97A7-62AD2D209966}">
      <dgm:prSet/>
      <dgm:spPr/>
      <dgm:t>
        <a:bodyPr/>
        <a:lstStyle/>
        <a:p>
          <a:r>
            <a:rPr lang="en-US"/>
            <a:t>A ROIC above WACC indicates value creation.</a:t>
          </a:r>
          <a:endParaRPr lang="en-IN"/>
        </a:p>
      </dgm:t>
    </dgm:pt>
    <dgm:pt modelId="{CA1A1C3F-DEAE-4177-895B-8D9FC6DE8CC4}" type="parTrans" cxnId="{51C7667C-319B-4989-A8C7-32496A57C823}">
      <dgm:prSet/>
      <dgm:spPr/>
      <dgm:t>
        <a:bodyPr/>
        <a:lstStyle/>
        <a:p>
          <a:endParaRPr lang="en-IN"/>
        </a:p>
      </dgm:t>
    </dgm:pt>
    <dgm:pt modelId="{D8C2489F-1490-4BE7-8827-6BC299C98781}" type="sibTrans" cxnId="{51C7667C-319B-4989-A8C7-32496A57C823}">
      <dgm:prSet/>
      <dgm:spPr/>
      <dgm:t>
        <a:bodyPr/>
        <a:lstStyle/>
        <a:p>
          <a:endParaRPr lang="en-IN"/>
        </a:p>
      </dgm:t>
    </dgm:pt>
    <dgm:pt modelId="{2717B7AC-2A7A-4B69-943E-8D6B93FB2278}">
      <dgm:prSet/>
      <dgm:spPr/>
      <dgm:t>
        <a:bodyPr/>
        <a:lstStyle/>
        <a:p>
          <a:r>
            <a:rPr lang="en-US"/>
            <a:t>Sensitivity analysis shows valuation is highly dependent on interest rates and beta.</a:t>
          </a:r>
          <a:endParaRPr lang="en-IN"/>
        </a:p>
      </dgm:t>
    </dgm:pt>
    <dgm:pt modelId="{69F9D6C4-57E7-4ECB-A74B-91C51B112CDB}" type="parTrans" cxnId="{D46F942B-C01C-421F-BE1C-15A570647838}">
      <dgm:prSet/>
      <dgm:spPr/>
      <dgm:t>
        <a:bodyPr/>
        <a:lstStyle/>
        <a:p>
          <a:endParaRPr lang="en-IN"/>
        </a:p>
      </dgm:t>
    </dgm:pt>
    <dgm:pt modelId="{7B63768A-7B77-4BDD-BA5C-D821AF4A126C}" type="sibTrans" cxnId="{D46F942B-C01C-421F-BE1C-15A570647838}">
      <dgm:prSet/>
      <dgm:spPr/>
      <dgm:t>
        <a:bodyPr/>
        <a:lstStyle/>
        <a:p>
          <a:endParaRPr lang="en-IN"/>
        </a:p>
      </dgm:t>
    </dgm:pt>
    <dgm:pt modelId="{B1574240-19BB-4089-ADC3-5698D3C6A3BE}">
      <dgm:prSet/>
      <dgm:spPr/>
      <dgm:t>
        <a:bodyPr/>
        <a:lstStyle/>
        <a:p>
          <a:r>
            <a:rPr lang="en-US"/>
            <a:t>Management should pursue projects with expected returns above WACC.</a:t>
          </a:r>
          <a:endParaRPr lang="en-IN"/>
        </a:p>
      </dgm:t>
    </dgm:pt>
    <dgm:pt modelId="{1A637FE9-5DA3-48C2-A721-C5380813222D}" type="parTrans" cxnId="{C9C4EFEC-AFFD-44AD-A173-152B83B027EF}">
      <dgm:prSet/>
      <dgm:spPr/>
      <dgm:t>
        <a:bodyPr/>
        <a:lstStyle/>
        <a:p>
          <a:endParaRPr lang="en-IN"/>
        </a:p>
      </dgm:t>
    </dgm:pt>
    <dgm:pt modelId="{26C0314F-F9EC-4F07-84C8-2758276CA935}" type="sibTrans" cxnId="{C9C4EFEC-AFFD-44AD-A173-152B83B027EF}">
      <dgm:prSet/>
      <dgm:spPr/>
      <dgm:t>
        <a:bodyPr/>
        <a:lstStyle/>
        <a:p>
          <a:endParaRPr lang="en-IN"/>
        </a:p>
      </dgm:t>
    </dgm:pt>
    <dgm:pt modelId="{03F42312-33D2-4D9E-9383-5F275458648B}" type="pres">
      <dgm:prSet presAssocID="{EFE3FFD7-773D-4252-A1A9-96B1152F68E9}" presName="matrix" presStyleCnt="0">
        <dgm:presLayoutVars>
          <dgm:chMax val="1"/>
          <dgm:dir/>
          <dgm:resizeHandles val="exact"/>
        </dgm:presLayoutVars>
      </dgm:prSet>
      <dgm:spPr/>
    </dgm:pt>
    <dgm:pt modelId="{7635BC3D-0FAF-46F8-AC80-12A26B516165}" type="pres">
      <dgm:prSet presAssocID="{EFE3FFD7-773D-4252-A1A9-96B1152F68E9}" presName="diamond" presStyleLbl="bgShp" presStyleIdx="0" presStyleCnt="1"/>
      <dgm:spPr/>
    </dgm:pt>
    <dgm:pt modelId="{536E83C2-B62E-420F-A0AC-7AAE3D69AC49}" type="pres">
      <dgm:prSet presAssocID="{EFE3FFD7-773D-4252-A1A9-96B1152F68E9}" presName="quad1" presStyleLbl="node1" presStyleIdx="0" presStyleCnt="4">
        <dgm:presLayoutVars>
          <dgm:chMax val="0"/>
          <dgm:chPref val="0"/>
          <dgm:bulletEnabled val="1"/>
        </dgm:presLayoutVars>
      </dgm:prSet>
      <dgm:spPr/>
    </dgm:pt>
    <dgm:pt modelId="{50249B00-B92C-4CAA-972E-598508806CE6}" type="pres">
      <dgm:prSet presAssocID="{EFE3FFD7-773D-4252-A1A9-96B1152F68E9}" presName="quad2" presStyleLbl="node1" presStyleIdx="1" presStyleCnt="4">
        <dgm:presLayoutVars>
          <dgm:chMax val="0"/>
          <dgm:chPref val="0"/>
          <dgm:bulletEnabled val="1"/>
        </dgm:presLayoutVars>
      </dgm:prSet>
      <dgm:spPr/>
    </dgm:pt>
    <dgm:pt modelId="{542741DB-DA7F-4D99-BF81-504692621D8A}" type="pres">
      <dgm:prSet presAssocID="{EFE3FFD7-773D-4252-A1A9-96B1152F68E9}" presName="quad3" presStyleLbl="node1" presStyleIdx="2" presStyleCnt="4">
        <dgm:presLayoutVars>
          <dgm:chMax val="0"/>
          <dgm:chPref val="0"/>
          <dgm:bulletEnabled val="1"/>
        </dgm:presLayoutVars>
      </dgm:prSet>
      <dgm:spPr/>
    </dgm:pt>
    <dgm:pt modelId="{AA8A7744-6E4E-48D0-A07C-E1661BFF0EE6}" type="pres">
      <dgm:prSet presAssocID="{EFE3FFD7-773D-4252-A1A9-96B1152F68E9}" presName="quad4" presStyleLbl="node1" presStyleIdx="3" presStyleCnt="4">
        <dgm:presLayoutVars>
          <dgm:chMax val="0"/>
          <dgm:chPref val="0"/>
          <dgm:bulletEnabled val="1"/>
        </dgm:presLayoutVars>
      </dgm:prSet>
      <dgm:spPr/>
    </dgm:pt>
  </dgm:ptLst>
  <dgm:cxnLst>
    <dgm:cxn modelId="{256E9F11-1400-45C5-B7C3-257AF3F698CD}" type="presOf" srcId="{EFE3FFD7-773D-4252-A1A9-96B1152F68E9}" destId="{03F42312-33D2-4D9E-9383-5F275458648B}" srcOrd="0" destOrd="0" presId="urn:microsoft.com/office/officeart/2005/8/layout/matrix3"/>
    <dgm:cxn modelId="{D46F942B-C01C-421F-BE1C-15A570647838}" srcId="{EFE3FFD7-773D-4252-A1A9-96B1152F68E9}" destId="{2717B7AC-2A7A-4B69-943E-8D6B93FB2278}" srcOrd="2" destOrd="0" parTransId="{69F9D6C4-57E7-4ECB-A74B-91C51B112CDB}" sibTransId="{7B63768A-7B77-4BDD-BA5C-D821AF4A126C}"/>
    <dgm:cxn modelId="{88DEBB67-6109-4BED-A966-3A1748D74871}" srcId="{EFE3FFD7-773D-4252-A1A9-96B1152F68E9}" destId="{D0584330-EF85-4924-B5C9-DF41052B5253}" srcOrd="0" destOrd="0" parTransId="{01CA531A-DD9D-46D5-881A-4D36AB691E15}" sibTransId="{DB91BD71-9342-4776-994C-96E3F1E2C9DD}"/>
    <dgm:cxn modelId="{3A9F2E6F-8A33-4493-99A2-5DF114E54A5E}" type="presOf" srcId="{2717B7AC-2A7A-4B69-943E-8D6B93FB2278}" destId="{542741DB-DA7F-4D99-BF81-504692621D8A}" srcOrd="0" destOrd="0" presId="urn:microsoft.com/office/officeart/2005/8/layout/matrix3"/>
    <dgm:cxn modelId="{51C7667C-319B-4989-A8C7-32496A57C823}" srcId="{EFE3FFD7-773D-4252-A1A9-96B1152F68E9}" destId="{D9C3CA14-B35C-40FA-97A7-62AD2D209966}" srcOrd="1" destOrd="0" parTransId="{CA1A1C3F-DEAE-4177-895B-8D9FC6DE8CC4}" sibTransId="{D8C2489F-1490-4BE7-8827-6BC299C98781}"/>
    <dgm:cxn modelId="{66AD8B88-F71F-4EEA-A7CE-5F9B99D2ABD0}" type="presOf" srcId="{D0584330-EF85-4924-B5C9-DF41052B5253}" destId="{536E83C2-B62E-420F-A0AC-7AAE3D69AC49}" srcOrd="0" destOrd="0" presId="urn:microsoft.com/office/officeart/2005/8/layout/matrix3"/>
    <dgm:cxn modelId="{1FDF6AB3-FF55-4001-A6BE-364E52B7E68F}" type="presOf" srcId="{B1574240-19BB-4089-ADC3-5698D3C6A3BE}" destId="{AA8A7744-6E4E-48D0-A07C-E1661BFF0EE6}" srcOrd="0" destOrd="0" presId="urn:microsoft.com/office/officeart/2005/8/layout/matrix3"/>
    <dgm:cxn modelId="{355202D9-369C-481B-A7AA-F173BB46EB21}" type="presOf" srcId="{D9C3CA14-B35C-40FA-97A7-62AD2D209966}" destId="{50249B00-B92C-4CAA-972E-598508806CE6}" srcOrd="0" destOrd="0" presId="urn:microsoft.com/office/officeart/2005/8/layout/matrix3"/>
    <dgm:cxn modelId="{C9C4EFEC-AFFD-44AD-A173-152B83B027EF}" srcId="{EFE3FFD7-773D-4252-A1A9-96B1152F68E9}" destId="{B1574240-19BB-4089-ADC3-5698D3C6A3BE}" srcOrd="3" destOrd="0" parTransId="{1A637FE9-5DA3-48C2-A721-C5380813222D}" sibTransId="{26C0314F-F9EC-4F07-84C8-2758276CA935}"/>
    <dgm:cxn modelId="{C113FECD-1A9F-4B94-9357-1D1F33E88933}" type="presParOf" srcId="{03F42312-33D2-4D9E-9383-5F275458648B}" destId="{7635BC3D-0FAF-46F8-AC80-12A26B516165}" srcOrd="0" destOrd="0" presId="urn:microsoft.com/office/officeart/2005/8/layout/matrix3"/>
    <dgm:cxn modelId="{3E4A9560-3355-48AE-90EA-631B7E7246BA}" type="presParOf" srcId="{03F42312-33D2-4D9E-9383-5F275458648B}" destId="{536E83C2-B62E-420F-A0AC-7AAE3D69AC49}" srcOrd="1" destOrd="0" presId="urn:microsoft.com/office/officeart/2005/8/layout/matrix3"/>
    <dgm:cxn modelId="{BC69686C-DA91-4916-993D-EA8C3FC764A3}" type="presParOf" srcId="{03F42312-33D2-4D9E-9383-5F275458648B}" destId="{50249B00-B92C-4CAA-972E-598508806CE6}" srcOrd="2" destOrd="0" presId="urn:microsoft.com/office/officeart/2005/8/layout/matrix3"/>
    <dgm:cxn modelId="{8977E460-3BC4-4DC4-860C-B621BA680377}" type="presParOf" srcId="{03F42312-33D2-4D9E-9383-5F275458648B}" destId="{542741DB-DA7F-4D99-BF81-504692621D8A}" srcOrd="3" destOrd="0" presId="urn:microsoft.com/office/officeart/2005/8/layout/matrix3"/>
    <dgm:cxn modelId="{7BD38A24-3545-4779-88FF-8ADAC37D9103}" type="presParOf" srcId="{03F42312-33D2-4D9E-9383-5F275458648B}" destId="{AA8A7744-6E4E-48D0-A07C-E1661BFF0EE6}"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C12933-1863-4738-8886-15A6AB120196}">
      <dsp:nvSpPr>
        <dsp:cNvPr id="0" name=""/>
        <dsp:cNvSpPr/>
      </dsp:nvSpPr>
      <dsp:spPr>
        <a:xfrm>
          <a:off x="-4503178" y="-690549"/>
          <a:ext cx="5364527" cy="5364527"/>
        </a:xfrm>
        <a:prstGeom prst="blockArc">
          <a:avLst>
            <a:gd name="adj1" fmla="val 18900000"/>
            <a:gd name="adj2" fmla="val 2700000"/>
            <a:gd name="adj3" fmla="val 403"/>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C5F0BF-55B0-49A0-9C92-4138997369B8}">
      <dsp:nvSpPr>
        <dsp:cNvPr id="0" name=""/>
        <dsp:cNvSpPr/>
      </dsp:nvSpPr>
      <dsp:spPr>
        <a:xfrm>
          <a:off x="377092" y="248884"/>
          <a:ext cx="6722415" cy="498087"/>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5357" tIns="63500" rIns="63500" bIns="63500" numCol="1" spcCol="1270" anchor="ctr" anchorCtr="0">
          <a:noAutofit/>
        </a:bodyPr>
        <a:lstStyle/>
        <a:p>
          <a:pPr marL="0" lvl="0" indent="0" algn="l" defTabSz="1111250">
            <a:lnSpc>
              <a:spcPct val="90000"/>
            </a:lnSpc>
            <a:spcBef>
              <a:spcPct val="0"/>
            </a:spcBef>
            <a:spcAft>
              <a:spcPct val="35000"/>
            </a:spcAft>
            <a:buNone/>
          </a:pPr>
          <a:r>
            <a:rPr lang="en-IN" sz="2500" kern="1200" dirty="0"/>
            <a:t>• Market Cap (E)  = 32155000 </a:t>
          </a:r>
        </a:p>
      </dsp:txBody>
      <dsp:txXfrm>
        <a:off x="377092" y="248884"/>
        <a:ext cx="6722415" cy="498087"/>
      </dsp:txXfrm>
    </dsp:sp>
    <dsp:sp modelId="{44E3D646-4D4A-431C-A5B0-80847DD098EF}">
      <dsp:nvSpPr>
        <dsp:cNvPr id="0" name=""/>
        <dsp:cNvSpPr/>
      </dsp:nvSpPr>
      <dsp:spPr>
        <a:xfrm>
          <a:off x="65787" y="186623"/>
          <a:ext cx="622609" cy="622609"/>
        </a:xfrm>
        <a:prstGeom prst="ellipse">
          <a:avLst/>
        </a:prstGeom>
        <a:solidFill>
          <a:schemeClr val="l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F6EA6D-46FE-48C9-83DC-905A084E2C51}">
      <dsp:nvSpPr>
        <dsp:cNvPr id="0" name=""/>
        <dsp:cNvSpPr/>
      </dsp:nvSpPr>
      <dsp:spPr>
        <a:xfrm>
          <a:off x="734008" y="995777"/>
          <a:ext cx="6365499" cy="498087"/>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5357" tIns="63500" rIns="63500" bIns="63500" numCol="1" spcCol="1270" anchor="ctr" anchorCtr="0">
          <a:noAutofit/>
        </a:bodyPr>
        <a:lstStyle/>
        <a:p>
          <a:pPr marL="0" lvl="0" indent="0" algn="l" defTabSz="1111250">
            <a:lnSpc>
              <a:spcPct val="90000"/>
            </a:lnSpc>
            <a:spcBef>
              <a:spcPct val="0"/>
            </a:spcBef>
            <a:spcAft>
              <a:spcPct val="35000"/>
            </a:spcAft>
            <a:buNone/>
          </a:pPr>
          <a:r>
            <a:rPr lang="en-US" sz="2500" kern="1200" dirty="0"/>
            <a:t>• Market Value of Debt (D)= </a:t>
          </a:r>
          <a:r>
            <a:rPr lang="en-IN" sz="2500" kern="1200" dirty="0"/>
            <a:t>14719000</a:t>
          </a:r>
          <a:endParaRPr lang="en-US" sz="2500" kern="1200" dirty="0"/>
        </a:p>
      </dsp:txBody>
      <dsp:txXfrm>
        <a:off x="734008" y="995777"/>
        <a:ext cx="6365499" cy="498087"/>
      </dsp:txXfrm>
    </dsp:sp>
    <dsp:sp modelId="{93189EC5-C308-4923-A573-D6B04D5343D1}">
      <dsp:nvSpPr>
        <dsp:cNvPr id="0" name=""/>
        <dsp:cNvSpPr/>
      </dsp:nvSpPr>
      <dsp:spPr>
        <a:xfrm>
          <a:off x="422703" y="933516"/>
          <a:ext cx="622609" cy="622609"/>
        </a:xfrm>
        <a:prstGeom prst="ellipse">
          <a:avLst/>
        </a:prstGeom>
        <a:solidFill>
          <a:schemeClr val="l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96C2429-2BBE-4EED-9B58-115D0EAA37B6}">
      <dsp:nvSpPr>
        <dsp:cNvPr id="0" name=""/>
        <dsp:cNvSpPr/>
      </dsp:nvSpPr>
      <dsp:spPr>
        <a:xfrm>
          <a:off x="843552" y="1742670"/>
          <a:ext cx="6255955" cy="498087"/>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5357" tIns="63500" rIns="63500" bIns="63500" numCol="1" spcCol="1270" anchor="ctr" anchorCtr="0">
          <a:noAutofit/>
        </a:bodyPr>
        <a:lstStyle/>
        <a:p>
          <a:pPr marL="0" lvl="0" indent="0" algn="l" defTabSz="1111250">
            <a:lnSpc>
              <a:spcPct val="90000"/>
            </a:lnSpc>
            <a:spcBef>
              <a:spcPct val="0"/>
            </a:spcBef>
            <a:spcAft>
              <a:spcPct val="35000"/>
            </a:spcAft>
            <a:buNone/>
          </a:pPr>
          <a:r>
            <a:rPr lang="en-IN" sz="2500" kern="1200" dirty="0"/>
            <a:t>• Total Value =46874000</a:t>
          </a:r>
        </a:p>
      </dsp:txBody>
      <dsp:txXfrm>
        <a:off x="843552" y="1742670"/>
        <a:ext cx="6255955" cy="498087"/>
      </dsp:txXfrm>
    </dsp:sp>
    <dsp:sp modelId="{6BCE7D50-528C-4395-8595-D07B48187A37}">
      <dsp:nvSpPr>
        <dsp:cNvPr id="0" name=""/>
        <dsp:cNvSpPr/>
      </dsp:nvSpPr>
      <dsp:spPr>
        <a:xfrm>
          <a:off x="532247" y="1680409"/>
          <a:ext cx="622609" cy="622609"/>
        </a:xfrm>
        <a:prstGeom prst="ellipse">
          <a:avLst/>
        </a:prstGeom>
        <a:solidFill>
          <a:schemeClr val="l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383C0B6-C608-4A2D-81CD-99148E7E831D}">
      <dsp:nvSpPr>
        <dsp:cNvPr id="0" name=""/>
        <dsp:cNvSpPr/>
      </dsp:nvSpPr>
      <dsp:spPr>
        <a:xfrm>
          <a:off x="734008" y="2489562"/>
          <a:ext cx="6365499" cy="498087"/>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5357" tIns="63500" rIns="63500" bIns="63500" numCol="1" spcCol="1270" anchor="ctr" anchorCtr="0">
          <a:noAutofit/>
        </a:bodyPr>
        <a:lstStyle/>
        <a:p>
          <a:pPr marL="0" lvl="0" indent="0" algn="l" defTabSz="1111250">
            <a:lnSpc>
              <a:spcPct val="90000"/>
            </a:lnSpc>
            <a:spcBef>
              <a:spcPct val="0"/>
            </a:spcBef>
            <a:spcAft>
              <a:spcPct val="35000"/>
            </a:spcAft>
            <a:buNone/>
          </a:pPr>
          <a:r>
            <a:rPr lang="en-IN" sz="2500" kern="1200" dirty="0"/>
            <a:t>• E/V =  68.59%</a:t>
          </a:r>
        </a:p>
      </dsp:txBody>
      <dsp:txXfrm>
        <a:off x="734008" y="2489562"/>
        <a:ext cx="6365499" cy="498087"/>
      </dsp:txXfrm>
    </dsp:sp>
    <dsp:sp modelId="{4DAD1BD3-03FD-4B61-B837-73DEFA2553EB}">
      <dsp:nvSpPr>
        <dsp:cNvPr id="0" name=""/>
        <dsp:cNvSpPr/>
      </dsp:nvSpPr>
      <dsp:spPr>
        <a:xfrm>
          <a:off x="422703" y="2427301"/>
          <a:ext cx="622609" cy="622609"/>
        </a:xfrm>
        <a:prstGeom prst="ellipse">
          <a:avLst/>
        </a:prstGeom>
        <a:solidFill>
          <a:schemeClr val="l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807514F-B977-4D24-91E0-FC51915D2DDF}">
      <dsp:nvSpPr>
        <dsp:cNvPr id="0" name=""/>
        <dsp:cNvSpPr/>
      </dsp:nvSpPr>
      <dsp:spPr>
        <a:xfrm>
          <a:off x="377092" y="3236455"/>
          <a:ext cx="6722415" cy="498087"/>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5357" tIns="63500" rIns="63500" bIns="63500" numCol="1" spcCol="1270" anchor="ctr" anchorCtr="0">
          <a:noAutofit/>
        </a:bodyPr>
        <a:lstStyle/>
        <a:p>
          <a:pPr marL="0" lvl="0" indent="0" algn="l" defTabSz="1111250">
            <a:lnSpc>
              <a:spcPct val="90000"/>
            </a:lnSpc>
            <a:spcBef>
              <a:spcPct val="0"/>
            </a:spcBef>
            <a:spcAft>
              <a:spcPct val="35000"/>
            </a:spcAft>
            <a:buNone/>
          </a:pPr>
          <a:r>
            <a:rPr lang="en-IN" sz="2500" kern="1200" dirty="0"/>
            <a:t>• D/V=  31.4%</a:t>
          </a:r>
        </a:p>
      </dsp:txBody>
      <dsp:txXfrm>
        <a:off x="377092" y="3236455"/>
        <a:ext cx="6722415" cy="498087"/>
      </dsp:txXfrm>
    </dsp:sp>
    <dsp:sp modelId="{4CC081F7-D4F7-47A5-B56A-DB35CD8F0F2F}">
      <dsp:nvSpPr>
        <dsp:cNvPr id="0" name=""/>
        <dsp:cNvSpPr/>
      </dsp:nvSpPr>
      <dsp:spPr>
        <a:xfrm>
          <a:off x="65787" y="3174194"/>
          <a:ext cx="622609" cy="622609"/>
        </a:xfrm>
        <a:prstGeom prst="ellipse">
          <a:avLst/>
        </a:prstGeom>
        <a:solidFill>
          <a:schemeClr val="l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6F2D0B-2A3C-46AC-AF67-AD4C014331EE}">
      <dsp:nvSpPr>
        <dsp:cNvPr id="0" name=""/>
        <dsp:cNvSpPr/>
      </dsp:nvSpPr>
      <dsp:spPr>
        <a:xfrm>
          <a:off x="314087" y="236273"/>
          <a:ext cx="3637905" cy="1136845"/>
        </a:xfrm>
        <a:prstGeom prst="rect">
          <a:avLst/>
        </a:prstGeom>
        <a:solidFill>
          <a:schemeClr val="lt1">
            <a:alpha val="4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70023"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Formula: Re = Rf + β(Rm − Rf)</a:t>
          </a:r>
          <a:endParaRPr lang="en-IN" sz="2200" kern="1200"/>
        </a:p>
      </dsp:txBody>
      <dsp:txXfrm>
        <a:off x="314087" y="236273"/>
        <a:ext cx="3637905" cy="1136845"/>
      </dsp:txXfrm>
    </dsp:sp>
    <dsp:sp modelId="{C79F3F34-BC85-49FD-A9FB-EF363B81FF69}">
      <dsp:nvSpPr>
        <dsp:cNvPr id="0" name=""/>
        <dsp:cNvSpPr/>
      </dsp:nvSpPr>
      <dsp:spPr>
        <a:xfrm>
          <a:off x="162507" y="72062"/>
          <a:ext cx="795791" cy="119368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l="-25000" r="-25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94F1CEA-12A9-4428-A564-EDCC9F1CE317}">
      <dsp:nvSpPr>
        <dsp:cNvPr id="0" name=""/>
        <dsp:cNvSpPr/>
      </dsp:nvSpPr>
      <dsp:spPr>
        <a:xfrm>
          <a:off x="4283820" y="235719"/>
          <a:ext cx="3637905" cy="1136845"/>
        </a:xfrm>
        <a:prstGeom prst="rect">
          <a:avLst/>
        </a:prstGeom>
        <a:solidFill>
          <a:schemeClr val="lt1">
            <a:alpha val="4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70023"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Risk-free Rate: 4.30%</a:t>
          </a:r>
          <a:endParaRPr lang="en-IN" sz="2200" kern="1200"/>
        </a:p>
      </dsp:txBody>
      <dsp:txXfrm>
        <a:off x="4283820" y="235719"/>
        <a:ext cx="3637905" cy="1136845"/>
      </dsp:txXfrm>
    </dsp:sp>
    <dsp:sp modelId="{E7F0C751-2132-4D0E-98B3-55B55C7967EE}">
      <dsp:nvSpPr>
        <dsp:cNvPr id="0" name=""/>
        <dsp:cNvSpPr/>
      </dsp:nvSpPr>
      <dsp:spPr>
        <a:xfrm>
          <a:off x="4252394" y="255529"/>
          <a:ext cx="752460" cy="966469"/>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l="-14000" r="-14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5DCF976-E8A0-43CF-A16C-72ACC3A14212}">
      <dsp:nvSpPr>
        <dsp:cNvPr id="0" name=""/>
        <dsp:cNvSpPr/>
      </dsp:nvSpPr>
      <dsp:spPr>
        <a:xfrm>
          <a:off x="303254" y="1667435"/>
          <a:ext cx="3637905" cy="1136845"/>
        </a:xfrm>
        <a:prstGeom prst="rect">
          <a:avLst/>
        </a:prstGeom>
        <a:solidFill>
          <a:schemeClr val="lt1">
            <a:alpha val="4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70023"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Beta: 1.83</a:t>
          </a:r>
          <a:endParaRPr lang="en-IN" sz="2200" kern="1200"/>
        </a:p>
      </dsp:txBody>
      <dsp:txXfrm>
        <a:off x="303254" y="1667435"/>
        <a:ext cx="3637905" cy="1136845"/>
      </dsp:txXfrm>
    </dsp:sp>
    <dsp:sp modelId="{C3169B53-1F91-446F-8EF4-754096CBAA1D}">
      <dsp:nvSpPr>
        <dsp:cNvPr id="0" name=""/>
        <dsp:cNvSpPr/>
      </dsp:nvSpPr>
      <dsp:spPr>
        <a:xfrm>
          <a:off x="151675" y="1503224"/>
          <a:ext cx="795791" cy="1193687"/>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l="-25000" r="-25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5FE85C-F3E5-4A26-817C-EE44EE6449B8}">
      <dsp:nvSpPr>
        <dsp:cNvPr id="0" name=""/>
        <dsp:cNvSpPr/>
      </dsp:nvSpPr>
      <dsp:spPr>
        <a:xfrm>
          <a:off x="4294653" y="1667435"/>
          <a:ext cx="3637905" cy="1136845"/>
        </a:xfrm>
        <a:prstGeom prst="rect">
          <a:avLst/>
        </a:prstGeom>
        <a:solidFill>
          <a:schemeClr val="lt1">
            <a:alpha val="4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70023"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Market Risk Premium: 5.50%</a:t>
          </a:r>
          <a:endParaRPr lang="en-IN" sz="2200" kern="1200"/>
        </a:p>
      </dsp:txBody>
      <dsp:txXfrm>
        <a:off x="4294653" y="1667435"/>
        <a:ext cx="3637905" cy="1136845"/>
      </dsp:txXfrm>
    </dsp:sp>
    <dsp:sp modelId="{957E95BC-DE6F-4748-B0A6-1D37957BAE16}">
      <dsp:nvSpPr>
        <dsp:cNvPr id="0" name=""/>
        <dsp:cNvSpPr/>
      </dsp:nvSpPr>
      <dsp:spPr>
        <a:xfrm>
          <a:off x="4143074" y="1503224"/>
          <a:ext cx="795791" cy="1193687"/>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l="-25000" r="-25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1B0BEAB-54ED-4AE7-9F06-9BA19A99A1E7}">
      <dsp:nvSpPr>
        <dsp:cNvPr id="0" name=""/>
        <dsp:cNvSpPr/>
      </dsp:nvSpPr>
      <dsp:spPr>
        <a:xfrm>
          <a:off x="303254" y="3098597"/>
          <a:ext cx="3637905" cy="1136845"/>
        </a:xfrm>
        <a:prstGeom prst="rect">
          <a:avLst/>
        </a:prstGeom>
        <a:solidFill>
          <a:schemeClr val="lt1">
            <a:alpha val="4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70023"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Cost of Equity (Re): 14.37%</a:t>
          </a:r>
          <a:endParaRPr lang="en-IN" sz="2200" kern="1200"/>
        </a:p>
      </dsp:txBody>
      <dsp:txXfrm>
        <a:off x="303254" y="3098597"/>
        <a:ext cx="3637905" cy="1136845"/>
      </dsp:txXfrm>
    </dsp:sp>
    <dsp:sp modelId="{C71B3830-152B-477E-B039-E188DEE9B56A}">
      <dsp:nvSpPr>
        <dsp:cNvPr id="0" name=""/>
        <dsp:cNvSpPr/>
      </dsp:nvSpPr>
      <dsp:spPr>
        <a:xfrm>
          <a:off x="151675" y="2934386"/>
          <a:ext cx="795791" cy="1193687"/>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l="-25000" r="-25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9647D28-4FA0-4FB6-9CDD-C75234703966}">
      <dsp:nvSpPr>
        <dsp:cNvPr id="0" name=""/>
        <dsp:cNvSpPr/>
      </dsp:nvSpPr>
      <dsp:spPr>
        <a:xfrm>
          <a:off x="4294653" y="3098597"/>
          <a:ext cx="3637905" cy="1136845"/>
        </a:xfrm>
        <a:prstGeom prst="rect">
          <a:avLst/>
        </a:prstGeom>
        <a:solidFill>
          <a:schemeClr val="lt1">
            <a:alpha val="4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70023"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Beta &gt; 1 indicates Tesla is more volatile than the market.</a:t>
          </a:r>
          <a:endParaRPr lang="en-IN" sz="2200" kern="1200"/>
        </a:p>
      </dsp:txBody>
      <dsp:txXfrm>
        <a:off x="4294653" y="3098597"/>
        <a:ext cx="3637905" cy="1136845"/>
      </dsp:txXfrm>
    </dsp:sp>
    <dsp:sp modelId="{C8AFAFC4-9694-44F6-ADB2-D522AB0D73A6}">
      <dsp:nvSpPr>
        <dsp:cNvPr id="0" name=""/>
        <dsp:cNvSpPr/>
      </dsp:nvSpPr>
      <dsp:spPr>
        <a:xfrm>
          <a:off x="4143074" y="2934386"/>
          <a:ext cx="795791" cy="1193687"/>
        </a:xfrm>
        <a:prstGeom prst="rect">
          <a:avLst/>
        </a:prstGeom>
        <a:blipFill>
          <a:blip xmlns:r="http://schemas.openxmlformats.org/officeDocument/2006/relationships" r:embed="rId11">
            <a:extLst>
              <a:ext uri="{96DAC541-7B7A-43D3-8B79-37D633B846F1}">
                <asvg:svgBlip xmlns:asvg="http://schemas.microsoft.com/office/drawing/2016/SVG/main" r:embed="rId12"/>
              </a:ext>
            </a:extLst>
          </a:blip>
          <a:srcRect/>
          <a:stretch>
            <a:fillRect l="-25000" r="-25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5CF9C7-495F-4AC1-B29E-12C5361ACFEC}">
      <dsp:nvSpPr>
        <dsp:cNvPr id="0" name=""/>
        <dsp:cNvSpPr/>
      </dsp:nvSpPr>
      <dsp:spPr>
        <a:xfrm>
          <a:off x="0" y="66528"/>
          <a:ext cx="7282375" cy="993128"/>
        </a:xfrm>
        <a:prstGeom prst="roundRect">
          <a:avLst/>
        </a:prstGeom>
        <a:gradFill rotWithShape="0">
          <a:gsLst>
            <a:gs pos="0">
              <a:schemeClr val="accent1">
                <a:hueOff val="0"/>
                <a:satOff val="0"/>
                <a:lumOff val="0"/>
                <a:alphaOff val="0"/>
                <a:tint val="96000"/>
                <a:lumMod val="104000"/>
              </a:schemeClr>
            </a:gs>
            <a:gs pos="100000">
              <a:schemeClr val="accent1">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Pre-tax Cost of Debt: 2.08%</a:t>
          </a:r>
          <a:endParaRPr lang="en-IN" sz="2500" kern="1200"/>
        </a:p>
      </dsp:txBody>
      <dsp:txXfrm>
        <a:off x="48481" y="115009"/>
        <a:ext cx="7185413" cy="896166"/>
      </dsp:txXfrm>
    </dsp:sp>
    <dsp:sp modelId="{C1FFB263-5857-4868-B12E-BC47CC105930}">
      <dsp:nvSpPr>
        <dsp:cNvPr id="0" name=""/>
        <dsp:cNvSpPr/>
      </dsp:nvSpPr>
      <dsp:spPr>
        <a:xfrm>
          <a:off x="0" y="1131657"/>
          <a:ext cx="7282375" cy="993128"/>
        </a:xfrm>
        <a:prstGeom prst="roundRect">
          <a:avLst/>
        </a:prstGeom>
        <a:gradFill rotWithShape="0">
          <a:gsLst>
            <a:gs pos="0">
              <a:schemeClr val="accent1">
                <a:hueOff val="0"/>
                <a:satOff val="0"/>
                <a:lumOff val="0"/>
                <a:alphaOff val="0"/>
                <a:tint val="96000"/>
                <a:lumMod val="104000"/>
              </a:schemeClr>
            </a:gs>
            <a:gs pos="100000">
              <a:schemeClr val="accent1">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Tax Rate: 27%</a:t>
          </a:r>
          <a:endParaRPr lang="en-IN" sz="2500" kern="1200"/>
        </a:p>
      </dsp:txBody>
      <dsp:txXfrm>
        <a:off x="48481" y="1180138"/>
        <a:ext cx="7185413" cy="896166"/>
      </dsp:txXfrm>
    </dsp:sp>
    <dsp:sp modelId="{65FC9679-E501-4841-AFBA-65F84174A692}">
      <dsp:nvSpPr>
        <dsp:cNvPr id="0" name=""/>
        <dsp:cNvSpPr/>
      </dsp:nvSpPr>
      <dsp:spPr>
        <a:xfrm>
          <a:off x="0" y="2196786"/>
          <a:ext cx="7282375" cy="993128"/>
        </a:xfrm>
        <a:prstGeom prst="roundRect">
          <a:avLst/>
        </a:prstGeom>
        <a:gradFill rotWithShape="0">
          <a:gsLst>
            <a:gs pos="0">
              <a:schemeClr val="accent1">
                <a:hueOff val="0"/>
                <a:satOff val="0"/>
                <a:lumOff val="0"/>
                <a:alphaOff val="0"/>
                <a:tint val="96000"/>
                <a:lumMod val="104000"/>
              </a:schemeClr>
            </a:gs>
            <a:gs pos="100000">
              <a:schemeClr val="accent1">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After-tax Cost of Debt: 2.27% (per workbook)</a:t>
          </a:r>
          <a:endParaRPr lang="en-IN" sz="2500" kern="1200"/>
        </a:p>
      </dsp:txBody>
      <dsp:txXfrm>
        <a:off x="48481" y="2245267"/>
        <a:ext cx="7185413" cy="896166"/>
      </dsp:txXfrm>
    </dsp:sp>
    <dsp:sp modelId="{8C4E9F2D-2C7C-4150-88C7-6FC5B78D275C}">
      <dsp:nvSpPr>
        <dsp:cNvPr id="0" name=""/>
        <dsp:cNvSpPr/>
      </dsp:nvSpPr>
      <dsp:spPr>
        <a:xfrm>
          <a:off x="0" y="3261915"/>
          <a:ext cx="7282375" cy="993128"/>
        </a:xfrm>
        <a:prstGeom prst="roundRect">
          <a:avLst/>
        </a:prstGeom>
        <a:gradFill rotWithShape="0">
          <a:gsLst>
            <a:gs pos="0">
              <a:schemeClr val="accent1">
                <a:hueOff val="0"/>
                <a:satOff val="0"/>
                <a:lumOff val="0"/>
                <a:alphaOff val="0"/>
                <a:tint val="96000"/>
                <a:lumMod val="104000"/>
              </a:schemeClr>
            </a:gs>
            <a:gs pos="100000">
              <a:schemeClr val="accent1">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Interest expense is tax deductible, reducing the effective borrowing cost.</a:t>
          </a:r>
          <a:endParaRPr lang="en-IN" sz="2500" kern="1200"/>
        </a:p>
      </dsp:txBody>
      <dsp:txXfrm>
        <a:off x="48481" y="3310396"/>
        <a:ext cx="7185413" cy="8961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6D01E3-7E1A-4D56-8E4D-209B1A7A809D}">
      <dsp:nvSpPr>
        <dsp:cNvPr id="0" name=""/>
        <dsp:cNvSpPr/>
      </dsp:nvSpPr>
      <dsp:spPr>
        <a:xfrm>
          <a:off x="626715" y="0"/>
          <a:ext cx="7102777" cy="377762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F98B05-C080-4477-96AB-95719DC1BE02}">
      <dsp:nvSpPr>
        <dsp:cNvPr id="0" name=""/>
        <dsp:cNvSpPr/>
      </dsp:nvSpPr>
      <dsp:spPr>
        <a:xfrm>
          <a:off x="2295" y="1133286"/>
          <a:ext cx="1336259" cy="151104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WACC = (E/V × Re) + (D/V × Rd)</a:t>
          </a:r>
          <a:endParaRPr lang="en-IN" sz="1800" kern="1200"/>
        </a:p>
      </dsp:txBody>
      <dsp:txXfrm>
        <a:off x="67526" y="1198517"/>
        <a:ext cx="1205797" cy="1380586"/>
      </dsp:txXfrm>
    </dsp:sp>
    <dsp:sp modelId="{3BB1B077-A6B1-40BC-8490-5C76D933B873}">
      <dsp:nvSpPr>
        <dsp:cNvPr id="0" name=""/>
        <dsp:cNvSpPr/>
      </dsp:nvSpPr>
      <dsp:spPr>
        <a:xfrm>
          <a:off x="1405367" y="1133286"/>
          <a:ext cx="1336259" cy="151104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Equity Weight: 68.59%</a:t>
          </a:r>
          <a:endParaRPr lang="en-IN" sz="1800" kern="1200"/>
        </a:p>
      </dsp:txBody>
      <dsp:txXfrm>
        <a:off x="1470598" y="1198517"/>
        <a:ext cx="1205797" cy="1380586"/>
      </dsp:txXfrm>
    </dsp:sp>
    <dsp:sp modelId="{2A720207-EF95-4A59-AF54-3722424384DD}">
      <dsp:nvSpPr>
        <dsp:cNvPr id="0" name=""/>
        <dsp:cNvSpPr/>
      </dsp:nvSpPr>
      <dsp:spPr>
        <a:xfrm>
          <a:off x="2808439" y="1133286"/>
          <a:ext cx="1336259" cy="151104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Debt Weight: 31.40%</a:t>
          </a:r>
          <a:endParaRPr lang="en-IN" sz="1800" kern="1200"/>
        </a:p>
      </dsp:txBody>
      <dsp:txXfrm>
        <a:off x="2873670" y="1198517"/>
        <a:ext cx="1205797" cy="1380586"/>
      </dsp:txXfrm>
    </dsp:sp>
    <dsp:sp modelId="{1DD4FBBF-166E-4C88-ADBD-C54D03D071C8}">
      <dsp:nvSpPr>
        <dsp:cNvPr id="0" name=""/>
        <dsp:cNvSpPr/>
      </dsp:nvSpPr>
      <dsp:spPr>
        <a:xfrm>
          <a:off x="4211510" y="1133286"/>
          <a:ext cx="1336259" cy="151104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Cost of Equity: 14.37%</a:t>
          </a:r>
          <a:endParaRPr lang="en-IN" sz="1800" kern="1200"/>
        </a:p>
      </dsp:txBody>
      <dsp:txXfrm>
        <a:off x="4276741" y="1198517"/>
        <a:ext cx="1205797" cy="1380586"/>
      </dsp:txXfrm>
    </dsp:sp>
    <dsp:sp modelId="{67639147-60FC-47A1-981F-DA6107558546}">
      <dsp:nvSpPr>
        <dsp:cNvPr id="0" name=""/>
        <dsp:cNvSpPr/>
      </dsp:nvSpPr>
      <dsp:spPr>
        <a:xfrm>
          <a:off x="5614582" y="1133286"/>
          <a:ext cx="1336259" cy="151104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After-tax Cost of Debt: 2.27%</a:t>
          </a:r>
          <a:endParaRPr lang="en-IN" sz="1800" kern="1200"/>
        </a:p>
      </dsp:txBody>
      <dsp:txXfrm>
        <a:off x="5679813" y="1198517"/>
        <a:ext cx="1205797" cy="1380586"/>
      </dsp:txXfrm>
    </dsp:sp>
    <dsp:sp modelId="{CE5EC1EB-480A-4AED-85A1-884F73B11C82}">
      <dsp:nvSpPr>
        <dsp:cNvPr id="0" name=""/>
        <dsp:cNvSpPr/>
      </dsp:nvSpPr>
      <dsp:spPr>
        <a:xfrm>
          <a:off x="7017654" y="1133286"/>
          <a:ext cx="1336259" cy="151104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Final WACC: 10.37%</a:t>
          </a:r>
          <a:endParaRPr lang="en-IN" sz="1800" kern="1200"/>
        </a:p>
      </dsp:txBody>
      <dsp:txXfrm>
        <a:off x="7082885" y="1198517"/>
        <a:ext cx="1205797" cy="13805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FF4B05-5CB2-45FD-906E-B0C77F74076D}">
      <dsp:nvSpPr>
        <dsp:cNvPr id="0" name=""/>
        <dsp:cNvSpPr/>
      </dsp:nvSpPr>
      <dsp:spPr>
        <a:xfrm rot="19200000">
          <a:off x="2026" y="2080339"/>
          <a:ext cx="2706395" cy="1759157"/>
        </a:xfrm>
        <a:prstGeom prst="round2Same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24130" rIns="72390" bIns="24130" numCol="1" spcCol="1270" anchor="ctr" anchorCtr="0">
          <a:noAutofit/>
        </a:bodyPr>
        <a:lstStyle/>
        <a:p>
          <a:pPr marL="0" lvl="0" indent="0" algn="ctr" defTabSz="844550">
            <a:lnSpc>
              <a:spcPct val="90000"/>
            </a:lnSpc>
            <a:spcBef>
              <a:spcPct val="0"/>
            </a:spcBef>
            <a:spcAft>
              <a:spcPct val="35000"/>
            </a:spcAft>
            <a:buNone/>
          </a:pPr>
          <a:r>
            <a:rPr lang="en-US" sz="1900" kern="1200"/>
            <a:t>If ROIC &gt; WACC → Company creates shareholder value.</a:t>
          </a:r>
          <a:endParaRPr lang="en-IN" sz="1900" kern="1200"/>
        </a:p>
      </dsp:txBody>
      <dsp:txXfrm>
        <a:off x="115501" y="2156169"/>
        <a:ext cx="2534645" cy="1673282"/>
      </dsp:txXfrm>
    </dsp:sp>
    <dsp:sp modelId="{963F7655-2E7C-48EA-941F-F03FC232F2E8}">
      <dsp:nvSpPr>
        <dsp:cNvPr id="0" name=""/>
        <dsp:cNvSpPr/>
      </dsp:nvSpPr>
      <dsp:spPr>
        <a:xfrm>
          <a:off x="3066817" y="964846"/>
          <a:ext cx="2706395" cy="1759157"/>
        </a:xfrm>
        <a:prstGeom prst="round2Same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24130" rIns="72390" bIns="24130" numCol="1" spcCol="1270" anchor="ctr" anchorCtr="0">
          <a:noAutofit/>
        </a:bodyPr>
        <a:lstStyle/>
        <a:p>
          <a:pPr marL="0" lvl="0" indent="0" algn="ctr" defTabSz="844550">
            <a:lnSpc>
              <a:spcPct val="90000"/>
            </a:lnSpc>
            <a:spcBef>
              <a:spcPct val="0"/>
            </a:spcBef>
            <a:spcAft>
              <a:spcPct val="35000"/>
            </a:spcAft>
            <a:buNone/>
          </a:pPr>
          <a:r>
            <a:rPr lang="en-US" sz="1900" kern="1200"/>
            <a:t>If ROIC &lt; WACC → Company destroys shareholder value.</a:t>
          </a:r>
          <a:endParaRPr lang="en-IN" sz="1900" kern="1200"/>
        </a:p>
      </dsp:txBody>
      <dsp:txXfrm>
        <a:off x="3152692" y="1050721"/>
        <a:ext cx="2534645" cy="1673282"/>
      </dsp:txXfrm>
    </dsp:sp>
    <dsp:sp modelId="{A33732F0-1BAD-4C52-B457-2BFA5A5E8EB4}">
      <dsp:nvSpPr>
        <dsp:cNvPr id="0" name=""/>
        <dsp:cNvSpPr/>
      </dsp:nvSpPr>
      <dsp:spPr>
        <a:xfrm rot="2400000">
          <a:off x="6131607" y="2080339"/>
          <a:ext cx="2706395" cy="1759157"/>
        </a:xfrm>
        <a:prstGeom prst="round2Same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24130" rIns="72390" bIns="24130" numCol="1" spcCol="1270" anchor="ctr" anchorCtr="0">
          <a:noAutofit/>
        </a:bodyPr>
        <a:lstStyle/>
        <a:p>
          <a:pPr marL="0" lvl="0" indent="0" algn="ctr" defTabSz="844550">
            <a:lnSpc>
              <a:spcPct val="90000"/>
            </a:lnSpc>
            <a:spcBef>
              <a:spcPct val="0"/>
            </a:spcBef>
            <a:spcAft>
              <a:spcPct val="35000"/>
            </a:spcAft>
            <a:buNone/>
          </a:pPr>
          <a:r>
            <a:rPr lang="en-US" sz="1900" kern="1200"/>
            <a:t>With a WACC of 10.37%, Tesla should invest only in projects earning above this hurdle rate.</a:t>
          </a:r>
          <a:endParaRPr lang="en-IN" sz="1900" kern="1200"/>
        </a:p>
      </dsp:txBody>
      <dsp:txXfrm>
        <a:off x="6189882" y="2156169"/>
        <a:ext cx="2534645" cy="167328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151112-5A8E-464A-802A-D480F015EEA2}">
      <dsp:nvSpPr>
        <dsp:cNvPr id="0" name=""/>
        <dsp:cNvSpPr/>
      </dsp:nvSpPr>
      <dsp:spPr>
        <a:xfrm>
          <a:off x="2189525" y="312883"/>
          <a:ext cx="2376820" cy="2376820"/>
        </a:xfrm>
        <a:prstGeom prst="pieWedg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a:t>Historical beta may not predict future risk.</a:t>
          </a:r>
          <a:endParaRPr lang="en-IN" sz="1700" kern="1200"/>
        </a:p>
      </dsp:txBody>
      <dsp:txXfrm>
        <a:off x="2885679" y="1009037"/>
        <a:ext cx="1680666" cy="1680666"/>
      </dsp:txXfrm>
    </dsp:sp>
    <dsp:sp modelId="{2BEE324A-6365-4C6B-BC75-F47C880E8583}">
      <dsp:nvSpPr>
        <dsp:cNvPr id="0" name=""/>
        <dsp:cNvSpPr/>
      </dsp:nvSpPr>
      <dsp:spPr>
        <a:xfrm rot="5400000">
          <a:off x="4676129" y="312883"/>
          <a:ext cx="2376820" cy="2376820"/>
        </a:xfrm>
        <a:prstGeom prst="pieWedg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Market conditions and interest rates change over time.</a:t>
          </a:r>
          <a:endParaRPr lang="en-IN" sz="1700" kern="1200" dirty="0"/>
        </a:p>
      </dsp:txBody>
      <dsp:txXfrm rot="-5400000">
        <a:off x="4676129" y="1009037"/>
        <a:ext cx="1680666" cy="1680666"/>
      </dsp:txXfrm>
    </dsp:sp>
    <dsp:sp modelId="{B7FDA55E-B123-4059-996A-252DB87CB137}">
      <dsp:nvSpPr>
        <dsp:cNvPr id="0" name=""/>
        <dsp:cNvSpPr/>
      </dsp:nvSpPr>
      <dsp:spPr>
        <a:xfrm rot="10800000">
          <a:off x="4676129" y="2799487"/>
          <a:ext cx="2376820" cy="2376820"/>
        </a:xfrm>
        <a:prstGeom prst="pieWedg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a:t>Capital structure may change.</a:t>
          </a:r>
          <a:endParaRPr lang="en-IN" sz="1700" kern="1200"/>
        </a:p>
      </dsp:txBody>
      <dsp:txXfrm rot="10800000">
        <a:off x="4676129" y="2799487"/>
        <a:ext cx="1680666" cy="1680666"/>
      </dsp:txXfrm>
    </dsp:sp>
    <dsp:sp modelId="{38057287-A24F-4797-AF72-D48D81F57080}">
      <dsp:nvSpPr>
        <dsp:cNvPr id="0" name=""/>
        <dsp:cNvSpPr/>
      </dsp:nvSpPr>
      <dsp:spPr>
        <a:xfrm rot="16200000">
          <a:off x="2189525" y="2799487"/>
          <a:ext cx="2376820" cy="2376820"/>
        </a:xfrm>
        <a:prstGeom prst="pieWedg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a:t>CAPM assumptions may not fully reflect real markets</a:t>
          </a:r>
          <a:endParaRPr lang="en-IN" sz="1700" kern="1200"/>
        </a:p>
      </dsp:txBody>
      <dsp:txXfrm rot="5400000">
        <a:off x="2885679" y="2799487"/>
        <a:ext cx="1680666" cy="1680666"/>
      </dsp:txXfrm>
    </dsp:sp>
    <dsp:sp modelId="{D565B38B-2A33-4112-BB32-29AB878C8DAC}">
      <dsp:nvSpPr>
        <dsp:cNvPr id="0" name=""/>
        <dsp:cNvSpPr/>
      </dsp:nvSpPr>
      <dsp:spPr>
        <a:xfrm>
          <a:off x="4210920" y="2250568"/>
          <a:ext cx="820634" cy="713594"/>
        </a:xfrm>
        <a:prstGeom prst="circularArrow">
          <a:avLst/>
        </a:prstGeom>
        <a:solidFill>
          <a:schemeClr val="accent1">
            <a:tint val="6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47CFFD7-ADDD-4A01-AB31-8EF147A8170D}">
      <dsp:nvSpPr>
        <dsp:cNvPr id="0" name=""/>
        <dsp:cNvSpPr/>
      </dsp:nvSpPr>
      <dsp:spPr>
        <a:xfrm rot="10800000">
          <a:off x="4210920" y="2525028"/>
          <a:ext cx="820634" cy="713594"/>
        </a:xfrm>
        <a:prstGeom prst="circularArrow">
          <a:avLst/>
        </a:prstGeom>
        <a:solidFill>
          <a:schemeClr val="accent1">
            <a:tint val="6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35BC3D-0FAF-46F8-AC80-12A26B516165}">
      <dsp:nvSpPr>
        <dsp:cNvPr id="0" name=""/>
        <dsp:cNvSpPr/>
      </dsp:nvSpPr>
      <dsp:spPr>
        <a:xfrm>
          <a:off x="1343463" y="0"/>
          <a:ext cx="5753687" cy="5753687"/>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6E83C2-B62E-420F-A0AC-7AAE3D69AC49}">
      <dsp:nvSpPr>
        <dsp:cNvPr id="0" name=""/>
        <dsp:cNvSpPr/>
      </dsp:nvSpPr>
      <dsp:spPr>
        <a:xfrm>
          <a:off x="1890064" y="546600"/>
          <a:ext cx="2243937" cy="224393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Tesla's WACC is approximately 10.37%.</a:t>
          </a:r>
          <a:endParaRPr lang="en-IN" sz="1900" kern="1200" dirty="0"/>
        </a:p>
      </dsp:txBody>
      <dsp:txXfrm>
        <a:off x="1999604" y="656140"/>
        <a:ext cx="2024857" cy="2024857"/>
      </dsp:txXfrm>
    </dsp:sp>
    <dsp:sp modelId="{50249B00-B92C-4CAA-972E-598508806CE6}">
      <dsp:nvSpPr>
        <dsp:cNvPr id="0" name=""/>
        <dsp:cNvSpPr/>
      </dsp:nvSpPr>
      <dsp:spPr>
        <a:xfrm>
          <a:off x="4306612" y="546600"/>
          <a:ext cx="2243937" cy="224393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A ROIC above WACC indicates value creation.</a:t>
          </a:r>
          <a:endParaRPr lang="en-IN" sz="1900" kern="1200"/>
        </a:p>
      </dsp:txBody>
      <dsp:txXfrm>
        <a:off x="4416152" y="656140"/>
        <a:ext cx="2024857" cy="2024857"/>
      </dsp:txXfrm>
    </dsp:sp>
    <dsp:sp modelId="{542741DB-DA7F-4D99-BF81-504692621D8A}">
      <dsp:nvSpPr>
        <dsp:cNvPr id="0" name=""/>
        <dsp:cNvSpPr/>
      </dsp:nvSpPr>
      <dsp:spPr>
        <a:xfrm>
          <a:off x="1890064" y="2963148"/>
          <a:ext cx="2243937" cy="224393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Sensitivity analysis shows valuation is highly dependent on interest rates and beta.</a:t>
          </a:r>
          <a:endParaRPr lang="en-IN" sz="1900" kern="1200"/>
        </a:p>
      </dsp:txBody>
      <dsp:txXfrm>
        <a:off x="1999604" y="3072688"/>
        <a:ext cx="2024857" cy="2024857"/>
      </dsp:txXfrm>
    </dsp:sp>
    <dsp:sp modelId="{AA8A7744-6E4E-48D0-A07C-E1661BFF0EE6}">
      <dsp:nvSpPr>
        <dsp:cNvPr id="0" name=""/>
        <dsp:cNvSpPr/>
      </dsp:nvSpPr>
      <dsp:spPr>
        <a:xfrm>
          <a:off x="4306612" y="2963148"/>
          <a:ext cx="2243937" cy="224393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Management should pursue projects with expected returns above WACC.</a:t>
          </a:r>
          <a:endParaRPr lang="en-IN" sz="1900" kern="1200"/>
        </a:p>
      </dsp:txBody>
      <dsp:txXfrm>
        <a:off x="4416152" y="3072688"/>
        <a:ext cx="2024857" cy="2024857"/>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diagrams.loki3.com/TabbedArc+Icon">
  <dgm:title val="Tabbed Arc"/>
  <dgm:desc val="Use to show a set of related items arcing over a common area.  Best with small amounts of text."/>
  <dgm:catLst>
    <dgm:cat type="relationship" pri="20500"/>
    <dgm:cat type="officeonline" pri="4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dir/>
      <dgm:resizeHandles val="exact"/>
    </dgm:varLst>
    <dgm:choose name="Name1">
      <dgm:if name="Name2" axis="ch" ptType="node" func="cnt" op="equ" val="1">
        <dgm:alg type="cycle"/>
      </dgm:if>
      <dgm:else name="Name3">
        <dgm:choose name="Name4">
          <dgm:if name="Name5" axis="ch" ptType="node" func="cnt" op="lte" val="3">
            <dgm:choose name="Name6">
              <dgm:if name="Name7" func="var" arg="dir" op="equ" val="norm">
                <dgm:alg type="cycle">
                  <dgm:param type="stAng" val="-40"/>
                  <dgm:param type="spanAng" val="80"/>
                  <dgm:param type="rotPath" val="alongPath"/>
                </dgm:alg>
              </dgm:if>
              <dgm:else name="Name8">
                <dgm:alg type="cycle">
                  <dgm:param type="stAng" val="40"/>
                  <dgm:param type="spanAng" val="-80"/>
                  <dgm:param type="rotPath" val="alongPath"/>
                </dgm:alg>
              </dgm:else>
            </dgm:choose>
          </dgm:if>
          <dgm:else name="Name9">
            <dgm:choose name="Name10">
              <dgm:if name="Name11" func="var" arg="dir" op="equ" val="norm">
                <dgm:alg type="cycle">
                  <dgm:param type="stAng" val="-60"/>
                  <dgm:param type="spanAng" val="120"/>
                  <dgm:param type="rotPath" val="alongPath"/>
                </dgm:alg>
              </dgm:if>
              <dgm:else name="Name12">
                <dgm:alg type="cycle">
                  <dgm:param type="stAng" val="60"/>
                  <dgm:param type="spanAng" val="-120"/>
                  <dgm:param type="rotPath" val="alongPath"/>
                </dgm:alg>
              </dgm:else>
            </dgm:choose>
          </dgm:else>
        </dgm:choose>
      </dgm:else>
    </dgm:choose>
    <dgm:shape xmlns:r="http://schemas.openxmlformats.org/officeDocument/2006/relationships" r:blip="">
      <dgm:adjLst/>
    </dgm:shape>
    <dgm:presOf/>
    <dgm:choose name="Name13">
      <dgm:if name="Name14" axis="ch" ptType="node" func="cnt" op="equ" val="2">
        <dgm:constrLst>
          <dgm:constr type="w" for="ch" ptType="node" refType="w"/>
          <dgm:constr type="primFontSz" for="ch" ptType="node" op="equ" val="65"/>
          <dgm:constr type="sibSp" refType="w" fact="0.22"/>
        </dgm:constrLst>
      </dgm:if>
      <dgm:else name="Name15">
        <dgm:constrLst>
          <dgm:constr type="w" for="ch" ptType="node" refType="w"/>
          <dgm:constr type="primFontSz" for="ch" ptType="node" op="equ" val="65"/>
          <dgm:constr type="sibSp" refType="w" fact="0.14"/>
        </dgm:constrLst>
      </dgm:else>
    </dgm:choose>
    <dgm:ruleLst/>
    <dgm:forEach name="Name16" axis="ch" ptType="node">
      <dgm:choose name="Name17">
        <dgm:if name="Name18" axis="par ch" ptType="doc node" func="cnt" op="equ" val="1">
          <dgm:layoutNode name="one">
            <dgm:varLst>
              <dgm:bulletEnabled val="1"/>
            </dgm:varLst>
            <dgm:alg type="tx"/>
            <dgm:shape xmlns:r="http://schemas.openxmlformats.org/officeDocument/2006/relationships" type="round2SameRect" r:blip="">
              <dgm:adjLst/>
            </dgm:shape>
            <dgm:presOf axis="desOrSelf" ptType="node"/>
            <dgm:constrLst>
              <dgm:constr type="h" refType="w" fact="0.65"/>
              <dgm:constr type="tMarg" refType="primFontSz" fact="0.1"/>
              <dgm:constr type="bMarg" refType="primFontSz" fact="0.1"/>
              <dgm:constr type="lMarg" refType="primFontSz" fact="0.3"/>
              <dgm:constr type="rMarg" refType="primFontSz" fact="0.3"/>
            </dgm:constrLst>
            <dgm:ruleLst>
              <dgm:rule type="primFontSz" val="5" fact="NaN" max="NaN"/>
            </dgm:ruleLst>
          </dgm:layoutNode>
        </dgm:if>
        <dgm:else name="Name19">
          <dgm:layoutNode name="twoplus">
            <dgm:varLst>
              <dgm:bulletEnabled val="1"/>
            </dgm:varLst>
            <dgm:alg type="tx">
              <dgm:param type="autoTxRot" val="grav"/>
            </dgm:alg>
            <dgm:shape xmlns:r="http://schemas.openxmlformats.org/officeDocument/2006/relationships" type="round2SameRect" r:blip="">
              <dgm:adjLst/>
            </dgm:shape>
            <dgm:presOf axis="desOrSelf" ptType="node"/>
            <dgm:constrLst>
              <dgm:constr type="h" refType="w" fact="0.65"/>
              <dgm:constr type="tMarg" refType="primFontSz" fact="0.1"/>
              <dgm:constr type="bMarg" refType="primFontSz" fact="0.1"/>
              <dgm:constr type="lMarg" refType="primFontSz" fact="0.3"/>
              <dgm:constr type="rMarg" refType="primFontSz" fact="0.3"/>
            </dgm:constrLst>
            <dgm:ruleLst>
              <dgm:rule type="primFontSz" val="5" fact="NaN" max="NaN"/>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7.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98493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18357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12909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54051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46011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9013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76974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77708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42334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8900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614010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26861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89453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38518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5511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0831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8/10/2026</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48433212"/>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 id="2147483895" r:id="rId12"/>
    <p:sldLayoutId id="2147483896" r:id="rId13"/>
    <p:sldLayoutId id="2147483897" r:id="rId14"/>
    <p:sldLayoutId id="2147483898" r:id="rId15"/>
    <p:sldLayoutId id="214748389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14.jp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5634" y="203152"/>
            <a:ext cx="7772400" cy="1470025"/>
          </a:xfrm>
        </p:spPr>
        <p:txBody>
          <a:bodyPr/>
          <a:lstStyle/>
          <a:p>
            <a:pPr>
              <a:defRPr sz="2800"/>
            </a:pPr>
            <a:r>
              <a:rPr lang="en-US" dirty="0"/>
              <a:t> </a:t>
            </a:r>
            <a:endParaRPr dirty="0"/>
          </a:p>
        </p:txBody>
      </p:sp>
      <p:sp>
        <p:nvSpPr>
          <p:cNvPr id="3" name="Subtitle 2"/>
          <p:cNvSpPr>
            <a:spLocks noGrp="1"/>
          </p:cNvSpPr>
          <p:nvPr>
            <p:ph type="subTitle" idx="1"/>
          </p:nvPr>
        </p:nvSpPr>
        <p:spPr>
          <a:xfrm>
            <a:off x="1119552" y="2515334"/>
            <a:ext cx="7025641" cy="3322758"/>
          </a:xfrm>
        </p:spPr>
        <p:txBody>
          <a:bodyPr/>
          <a:lstStyle/>
          <a:p>
            <a:pPr>
              <a:defRPr sz="1800"/>
            </a:pPr>
            <a:endParaRPr dirty="0"/>
          </a:p>
        </p:txBody>
      </p:sp>
      <p:sp>
        <p:nvSpPr>
          <p:cNvPr id="5" name="AutoShape 2" descr="Tesla Logo">
            <a:extLst>
              <a:ext uri="{FF2B5EF4-FFF2-40B4-BE49-F238E27FC236}">
                <a16:creationId xmlns:a16="http://schemas.microsoft.com/office/drawing/2014/main" id="{DD7BA81E-442B-F56D-8383-2D4DCF3119CA}"/>
              </a:ext>
            </a:extLst>
          </p:cNvPr>
          <p:cNvSpPr>
            <a:spLocks noChangeAspect="1" noChangeArrowheads="1"/>
          </p:cNvSpPr>
          <p:nvPr/>
        </p:nvSpPr>
        <p:spPr bwMode="auto">
          <a:xfrm>
            <a:off x="4870938" y="3203331"/>
            <a:ext cx="451338" cy="45133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116A9083-E8EA-B56C-F884-8480F2B0634A}"/>
              </a:ext>
            </a:extLst>
          </p:cNvPr>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1642" y="764787"/>
            <a:ext cx="5201189" cy="810795"/>
          </a:xfrm>
        </p:spPr>
        <p:txBody>
          <a:bodyPr/>
          <a:lstStyle/>
          <a:p>
            <a:pPr>
              <a:defRPr sz="2800"/>
            </a:pPr>
            <a:r>
              <a:rPr b="1" dirty="0"/>
              <a:t>Company Overview</a:t>
            </a:r>
          </a:p>
        </p:txBody>
      </p:sp>
      <p:sp>
        <p:nvSpPr>
          <p:cNvPr id="3" name="Content Placeholder 2"/>
          <p:cNvSpPr>
            <a:spLocks noGrp="1"/>
          </p:cNvSpPr>
          <p:nvPr>
            <p:ph idx="1"/>
          </p:nvPr>
        </p:nvSpPr>
        <p:spPr>
          <a:xfrm>
            <a:off x="810821" y="1575582"/>
            <a:ext cx="8210843" cy="5181128"/>
          </a:xfrm>
        </p:spPr>
        <p:txBody>
          <a:bodyPr>
            <a:normAutofit/>
          </a:bodyPr>
          <a:lstStyle/>
          <a:p>
            <a:r>
              <a:rPr lang="en-US" sz="2000" b="1" dirty="0"/>
              <a:t>1. Industry</a:t>
            </a:r>
          </a:p>
          <a:p>
            <a:pPr marL="0" indent="0">
              <a:buNone/>
            </a:pPr>
            <a:r>
              <a:rPr lang="en-US" sz="2000" dirty="0"/>
              <a:t>Tesla Inc. operates in the </a:t>
            </a:r>
            <a:r>
              <a:rPr lang="en-US" sz="2000" b="1" dirty="0"/>
              <a:t>Automotive and Clean Energy</a:t>
            </a:r>
            <a:r>
              <a:rPr lang="en-US" sz="2000" dirty="0"/>
              <a:t> industry. The company designs, manufactures, and sells electric vehicles (EVs), battery energy storage systems, and solar energy products. Tesla is recognized as one of the global leaders in sustainable transportation and renewable energy solutions.</a:t>
            </a:r>
          </a:p>
          <a:p>
            <a:pPr marL="0" indent="0">
              <a:buNone/>
            </a:pPr>
            <a:endParaRPr lang="en-US" sz="2000" dirty="0"/>
          </a:p>
          <a:p>
            <a:r>
              <a:rPr lang="en-US" sz="2000" b="1" dirty="0"/>
              <a:t>2. Business Summary</a:t>
            </a:r>
          </a:p>
          <a:p>
            <a:pPr marL="0" indent="0">
              <a:buNone/>
            </a:pPr>
            <a:r>
              <a:rPr lang="en-US" sz="2000" dirty="0"/>
              <a:t>Founded in 2003 and headquartered in Austin, Texas, Tesla develops innovative electric vehicles such as the Model 3, Model Y, Model S, and Model X. In addition to automobiles, the company offers energy storage products, solar panels, and charging infrastructure. Tesla focuses on technological innovation, automation, and sustainability to accelerate the world's transition to clean energy.</a:t>
            </a:r>
          </a:p>
          <a:p>
            <a:pPr marL="0" indent="0">
              <a:buNone/>
            </a:pPr>
            <a:endParaRPr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6F88A-BBEA-2DD7-49AD-E2CAD83F46EB}"/>
              </a:ext>
            </a:extLst>
          </p:cNvPr>
          <p:cNvSpPr>
            <a:spLocks noGrp="1"/>
          </p:cNvSpPr>
          <p:nvPr>
            <p:ph type="title"/>
          </p:nvPr>
        </p:nvSpPr>
        <p:spPr>
          <a:xfrm flipV="1">
            <a:off x="1790456" y="259079"/>
            <a:ext cx="1627993" cy="45719"/>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035E12A9-792F-A576-A895-D9CB52C11F33}"/>
              </a:ext>
            </a:extLst>
          </p:cNvPr>
          <p:cNvSpPr>
            <a:spLocks noGrp="1"/>
          </p:cNvSpPr>
          <p:nvPr>
            <p:ph idx="1"/>
          </p:nvPr>
        </p:nvSpPr>
        <p:spPr>
          <a:xfrm>
            <a:off x="844062" y="1543931"/>
            <a:ext cx="7779433" cy="5233181"/>
          </a:xfrm>
        </p:spPr>
        <p:txBody>
          <a:bodyPr>
            <a:normAutofit/>
          </a:bodyPr>
          <a:lstStyle/>
          <a:p>
            <a:r>
              <a:rPr lang="en-US" sz="2000" b="1" dirty="0"/>
              <a:t>3. Why Selected</a:t>
            </a:r>
          </a:p>
          <a:p>
            <a:pPr marL="0" indent="0">
              <a:buNone/>
            </a:pPr>
            <a:r>
              <a:rPr lang="en-US" sz="2000" dirty="0"/>
              <a:t>Tesla was selected because it is one of the world's most valuable and influential companies, with strong financial performance and significant market presence. Its publicly available financial statements, high-growth business model, and active capital market data make it an excellent company for analyzing capital structure, cost of capital, and WACC valuation.</a:t>
            </a:r>
          </a:p>
          <a:p>
            <a:pPr marL="0" indent="0">
              <a:buNone/>
            </a:pPr>
            <a:br>
              <a:rPr lang="en-US" altLang="en-US" sz="2000" dirty="0">
                <a:solidFill>
                  <a:schemeClr val="tx1"/>
                </a:solidFill>
                <a:latin typeface="Arial" panose="020B0604020202020204" pitchFamily="34" charset="0"/>
              </a:rPr>
            </a:br>
            <a:endParaRPr lang="en-IN" sz="2000" dirty="0"/>
          </a:p>
        </p:txBody>
      </p:sp>
    </p:spTree>
    <p:extLst>
      <p:ext uri="{BB962C8B-B14F-4D97-AF65-F5344CB8AC3E}">
        <p14:creationId xmlns:p14="http://schemas.microsoft.com/office/powerpoint/2010/main" val="1197226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0456" y="624110"/>
            <a:ext cx="6589199" cy="1280890"/>
          </a:xfrm>
        </p:spPr>
        <p:txBody>
          <a:bodyPr>
            <a:normAutofit/>
          </a:bodyPr>
          <a:lstStyle/>
          <a:p>
            <a:pPr>
              <a:defRPr sz="2800"/>
            </a:pPr>
            <a:r>
              <a:rPr sz="3200" b="1" dirty="0"/>
              <a:t>Capital Structure Analysis</a:t>
            </a:r>
          </a:p>
        </p:txBody>
      </p:sp>
      <p:sp>
        <p:nvSpPr>
          <p:cNvPr id="3" name="Content Placeholder 2"/>
          <p:cNvSpPr>
            <a:spLocks noGrp="1"/>
          </p:cNvSpPr>
          <p:nvPr>
            <p:ph idx="1"/>
          </p:nvPr>
        </p:nvSpPr>
        <p:spPr>
          <a:xfrm>
            <a:off x="1065212" y="5466581"/>
            <a:ext cx="8039686" cy="1012505"/>
          </a:xfrm>
        </p:spPr>
        <p:txBody>
          <a:bodyPr>
            <a:normAutofit lnSpcReduction="10000"/>
          </a:bodyPr>
          <a:lstStyle/>
          <a:p>
            <a:r>
              <a:rPr lang="en-US" b="1" dirty="0"/>
              <a:t>Meaning</a:t>
            </a:r>
          </a:p>
          <a:p>
            <a:pPr marL="0" indent="0">
              <a:buNone/>
            </a:pPr>
            <a:r>
              <a:rPr lang="en-US" dirty="0"/>
              <a:t>The company is financed </a:t>
            </a:r>
            <a:r>
              <a:rPr lang="en-US" b="1" dirty="0"/>
              <a:t>68.59% by shareholders and 31.4% by lenders</a:t>
            </a:r>
            <a:r>
              <a:rPr lang="en-US" dirty="0"/>
              <a:t>.</a:t>
            </a:r>
          </a:p>
          <a:p>
            <a:pPr marL="0" indent="0">
              <a:buNone/>
              <a:defRPr sz="1800"/>
            </a:pPr>
            <a:endParaRPr dirty="0"/>
          </a:p>
        </p:txBody>
      </p:sp>
      <p:graphicFrame>
        <p:nvGraphicFramePr>
          <p:cNvPr id="5" name="Diagram 4">
            <a:extLst>
              <a:ext uri="{FF2B5EF4-FFF2-40B4-BE49-F238E27FC236}">
                <a16:creationId xmlns:a16="http://schemas.microsoft.com/office/drawing/2014/main" id="{43CE29EB-235B-FFAC-6D23-BAF323162480}"/>
              </a:ext>
            </a:extLst>
          </p:cNvPr>
          <p:cNvGraphicFramePr/>
          <p:nvPr>
            <p:extLst>
              <p:ext uri="{D42A27DB-BD31-4B8C-83A1-F6EECF244321}">
                <p14:modId xmlns:p14="http://schemas.microsoft.com/office/powerpoint/2010/main" val="2572693087"/>
              </p:ext>
            </p:extLst>
          </p:nvPr>
        </p:nvGraphicFramePr>
        <p:xfrm>
          <a:off x="995289" y="1306758"/>
          <a:ext cx="7153422" cy="39834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8874" y="750719"/>
            <a:ext cx="6589199" cy="1280890"/>
          </a:xfrm>
        </p:spPr>
        <p:txBody>
          <a:bodyPr>
            <a:normAutofit/>
          </a:bodyPr>
          <a:lstStyle/>
          <a:p>
            <a:pPr>
              <a:defRPr sz="2800"/>
            </a:pPr>
            <a:r>
              <a:rPr sz="3200" dirty="0">
                <a:latin typeface="Berlin Sans FB Demi" panose="020E0802020502020306" pitchFamily="34" charset="0"/>
              </a:rPr>
              <a:t>Cost of Equity (CAPM)</a:t>
            </a:r>
          </a:p>
        </p:txBody>
      </p:sp>
      <p:graphicFrame>
        <p:nvGraphicFramePr>
          <p:cNvPr id="5" name="Content Placeholder 4">
            <a:extLst>
              <a:ext uri="{FF2B5EF4-FFF2-40B4-BE49-F238E27FC236}">
                <a16:creationId xmlns:a16="http://schemas.microsoft.com/office/drawing/2014/main" id="{3ABEDD94-CFEE-D085-0E3C-F3C3EF5A2F45}"/>
              </a:ext>
            </a:extLst>
          </p:cNvPr>
          <p:cNvGraphicFramePr>
            <a:graphicFrameLocks noGrp="1"/>
          </p:cNvGraphicFramePr>
          <p:nvPr>
            <p:ph idx="1"/>
            <p:extLst>
              <p:ext uri="{D42A27DB-BD31-4B8C-83A1-F6EECF244321}">
                <p14:modId xmlns:p14="http://schemas.microsoft.com/office/powerpoint/2010/main" val="2418237463"/>
              </p:ext>
            </p:extLst>
          </p:nvPr>
        </p:nvGraphicFramePr>
        <p:xfrm>
          <a:off x="815927" y="1926385"/>
          <a:ext cx="8084234" cy="43075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4316" y="693558"/>
            <a:ext cx="6125795" cy="769481"/>
          </a:xfrm>
        </p:spPr>
        <p:txBody>
          <a:bodyPr>
            <a:normAutofit/>
          </a:bodyPr>
          <a:lstStyle/>
          <a:p>
            <a:pPr>
              <a:defRPr sz="2800"/>
            </a:pPr>
            <a:r>
              <a:rPr sz="3200" dirty="0">
                <a:latin typeface="Berlin Sans FB Demi" panose="020E0802020502020306" pitchFamily="34" charset="0"/>
              </a:rPr>
              <a:t>After-Tax Cost of Debt</a:t>
            </a:r>
          </a:p>
        </p:txBody>
      </p:sp>
      <p:graphicFrame>
        <p:nvGraphicFramePr>
          <p:cNvPr id="4" name="Content Placeholder 3">
            <a:extLst>
              <a:ext uri="{FF2B5EF4-FFF2-40B4-BE49-F238E27FC236}">
                <a16:creationId xmlns:a16="http://schemas.microsoft.com/office/drawing/2014/main" id="{614D3173-7C4D-6968-0CE7-E05CF866C0FA}"/>
              </a:ext>
            </a:extLst>
          </p:cNvPr>
          <p:cNvGraphicFramePr>
            <a:graphicFrameLocks noGrp="1"/>
          </p:cNvGraphicFramePr>
          <p:nvPr>
            <p:ph idx="1"/>
            <p:extLst>
              <p:ext uri="{D42A27DB-BD31-4B8C-83A1-F6EECF244321}">
                <p14:modId xmlns:p14="http://schemas.microsoft.com/office/powerpoint/2010/main" val="4293950727"/>
              </p:ext>
            </p:extLst>
          </p:nvPr>
        </p:nvGraphicFramePr>
        <p:xfrm>
          <a:off x="1153551" y="2124222"/>
          <a:ext cx="7282375" cy="4321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5004239" cy="867065"/>
          </a:xfrm>
        </p:spPr>
        <p:txBody>
          <a:bodyPr>
            <a:normAutofit/>
          </a:bodyPr>
          <a:lstStyle/>
          <a:p>
            <a:pPr>
              <a:defRPr sz="2800"/>
            </a:pPr>
            <a:r>
              <a:rPr sz="3200" dirty="0">
                <a:latin typeface="Berlin Sans FB Demi" panose="020E0802020502020306" pitchFamily="34" charset="0"/>
              </a:rPr>
              <a:t>WACC Calculation</a:t>
            </a:r>
          </a:p>
        </p:txBody>
      </p:sp>
      <p:graphicFrame>
        <p:nvGraphicFramePr>
          <p:cNvPr id="4" name="Content Placeholder 3">
            <a:extLst>
              <a:ext uri="{FF2B5EF4-FFF2-40B4-BE49-F238E27FC236}">
                <a16:creationId xmlns:a16="http://schemas.microsoft.com/office/drawing/2014/main" id="{7FC9E8D9-6E15-3F1D-0806-C30457848A38}"/>
              </a:ext>
            </a:extLst>
          </p:cNvPr>
          <p:cNvGraphicFramePr>
            <a:graphicFrameLocks noGrp="1"/>
          </p:cNvGraphicFramePr>
          <p:nvPr>
            <p:ph idx="1"/>
            <p:extLst>
              <p:ext uri="{D42A27DB-BD31-4B8C-83A1-F6EECF244321}">
                <p14:modId xmlns:p14="http://schemas.microsoft.com/office/powerpoint/2010/main" val="3948431438"/>
              </p:ext>
            </p:extLst>
          </p:nvPr>
        </p:nvGraphicFramePr>
        <p:xfrm>
          <a:off x="492369" y="2133600"/>
          <a:ext cx="8356209" cy="37776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4525" y="632820"/>
            <a:ext cx="4427464" cy="627915"/>
          </a:xfrm>
        </p:spPr>
        <p:txBody>
          <a:bodyPr>
            <a:normAutofit/>
          </a:bodyPr>
          <a:lstStyle/>
          <a:p>
            <a:pPr>
              <a:defRPr sz="2800"/>
            </a:pPr>
            <a:r>
              <a:rPr sz="3200" dirty="0">
                <a:latin typeface="Berlin Sans FB Demi" panose="020E0802020502020306" pitchFamily="34" charset="0"/>
              </a:rPr>
              <a:t>ROIC vs WACC</a:t>
            </a:r>
          </a:p>
        </p:txBody>
      </p:sp>
      <p:graphicFrame>
        <p:nvGraphicFramePr>
          <p:cNvPr id="4" name="Content Placeholder 3">
            <a:extLst>
              <a:ext uri="{FF2B5EF4-FFF2-40B4-BE49-F238E27FC236}">
                <a16:creationId xmlns:a16="http://schemas.microsoft.com/office/drawing/2014/main" id="{25AD658F-1B14-F9F3-FE05-B7C70BD08868}"/>
              </a:ext>
            </a:extLst>
          </p:cNvPr>
          <p:cNvGraphicFramePr>
            <a:graphicFrameLocks noGrp="1"/>
          </p:cNvGraphicFramePr>
          <p:nvPr>
            <p:ph idx="1"/>
            <p:extLst>
              <p:ext uri="{D42A27DB-BD31-4B8C-83A1-F6EECF244321}">
                <p14:modId xmlns:p14="http://schemas.microsoft.com/office/powerpoint/2010/main" val="2232155022"/>
              </p:ext>
            </p:extLst>
          </p:nvPr>
        </p:nvGraphicFramePr>
        <p:xfrm>
          <a:off x="247700" y="1260735"/>
          <a:ext cx="8840030" cy="48043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4106ABCE-4DE7-5415-3AE0-808D331EEF81}"/>
              </a:ext>
            </a:extLst>
          </p:cNvPr>
          <p:cNvPicPr>
            <a:picLocks noChangeAspect="1"/>
          </p:cNvPicPr>
          <p:nvPr/>
        </p:nvPicPr>
        <p:blipFill>
          <a:blip r:embed="rId7"/>
          <a:stretch>
            <a:fillRect/>
          </a:stretch>
        </p:blipFill>
        <p:spPr>
          <a:xfrm>
            <a:off x="2627020" y="4464095"/>
            <a:ext cx="4053254" cy="20131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3594" y="624110"/>
            <a:ext cx="6589199" cy="1280890"/>
          </a:xfrm>
        </p:spPr>
        <p:txBody>
          <a:bodyPr>
            <a:normAutofit/>
          </a:bodyPr>
          <a:lstStyle/>
          <a:p>
            <a:pPr>
              <a:defRPr sz="2800"/>
            </a:pPr>
            <a:r>
              <a:rPr sz="3200" dirty="0">
                <a:latin typeface="Britannic Bold" panose="020B0903060703020204" pitchFamily="34" charset="0"/>
              </a:rPr>
              <a:t>Sensitivity Analysis</a:t>
            </a:r>
          </a:p>
        </p:txBody>
      </p:sp>
      <p:sp>
        <p:nvSpPr>
          <p:cNvPr id="3" name="Content Placeholder 2"/>
          <p:cNvSpPr>
            <a:spLocks noGrp="1"/>
          </p:cNvSpPr>
          <p:nvPr>
            <p:ph idx="1"/>
          </p:nvPr>
        </p:nvSpPr>
        <p:spPr>
          <a:xfrm>
            <a:off x="971207" y="1462151"/>
            <a:ext cx="7778898" cy="5234071"/>
          </a:xfrm>
        </p:spPr>
        <p:txBody>
          <a:bodyPr>
            <a:normAutofit/>
          </a:bodyPr>
          <a:lstStyle/>
          <a:p>
            <a:pPr>
              <a:defRPr sz="1800"/>
            </a:pPr>
            <a:r>
              <a:rPr sz="2000" dirty="0"/>
              <a:t>• Interest rate </a:t>
            </a:r>
            <a:r>
              <a:rPr lang="en-IN" sz="2000" dirty="0"/>
              <a:t>±</a:t>
            </a:r>
            <a:r>
              <a:rPr sz="2000" dirty="0"/>
              <a:t>1</a:t>
            </a:r>
            <a:r>
              <a:rPr lang="en-US" sz="2000" dirty="0"/>
              <a:t>0</a:t>
            </a:r>
            <a:r>
              <a:rPr sz="2000" dirty="0"/>
              <a:t>%</a:t>
            </a:r>
          </a:p>
          <a:p>
            <a:pPr>
              <a:defRPr sz="1800"/>
            </a:pPr>
            <a:r>
              <a:rPr sz="2000" dirty="0"/>
              <a:t>• Beta </a:t>
            </a:r>
            <a:r>
              <a:rPr lang="en-IN" sz="2000" dirty="0"/>
              <a:t>±10%</a:t>
            </a:r>
            <a:endParaRPr sz="2000" dirty="0"/>
          </a:p>
          <a:p>
            <a:pPr>
              <a:defRPr sz="1800"/>
            </a:pPr>
            <a:r>
              <a:rPr lang="en-US" sz="2000" dirty="0"/>
              <a:t>Sensitivity analysis was performed to examine how changes in the Weighted Average Cost of Capital (WACC) affect Tesla's valuation. A lower WACC increases the present value of future cash flows, resulting in a higher enterprise value and share price. Conversely, a higher WACC decreases the present value of future cash flows, reducing enterprise value and equity value. Additionally, changes in beta affect the cost of equity through the CAPM model, which subsequently changes the WACC and overall company valuation. This analysis demonstrates that Tesla's valuation is highly sensitive to the discount rate assumptions used in the DCF model.</a:t>
            </a:r>
            <a:endParaRPr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4654" y="722584"/>
            <a:ext cx="6589199" cy="1280890"/>
          </a:xfrm>
        </p:spPr>
        <p:txBody>
          <a:bodyPr>
            <a:normAutofit/>
          </a:bodyPr>
          <a:lstStyle/>
          <a:p>
            <a:pPr>
              <a:defRPr sz="2800"/>
            </a:pPr>
            <a:r>
              <a:rPr sz="3200" b="1" dirty="0">
                <a:effectLst>
                  <a:outerShdw blurRad="38100" dist="38100" dir="2700000" algn="tl">
                    <a:srgbClr val="000000">
                      <a:alpha val="43137"/>
                    </a:srgbClr>
                  </a:outerShdw>
                </a:effectLst>
                <a:latin typeface="Berlin Sans FB Demi" panose="020E0802020502020306" pitchFamily="34" charset="0"/>
              </a:rPr>
              <a:t>Limitations</a:t>
            </a:r>
          </a:p>
        </p:txBody>
      </p:sp>
      <p:graphicFrame>
        <p:nvGraphicFramePr>
          <p:cNvPr id="4" name="Content Placeholder 3">
            <a:extLst>
              <a:ext uri="{FF2B5EF4-FFF2-40B4-BE49-F238E27FC236}">
                <a16:creationId xmlns:a16="http://schemas.microsoft.com/office/drawing/2014/main" id="{8651EB75-28DB-18D2-CF7F-26F0E6D43819}"/>
              </a:ext>
            </a:extLst>
          </p:cNvPr>
          <p:cNvGraphicFramePr>
            <a:graphicFrameLocks noGrp="1"/>
          </p:cNvGraphicFramePr>
          <p:nvPr>
            <p:ph idx="1"/>
            <p:extLst>
              <p:ext uri="{D42A27DB-BD31-4B8C-83A1-F6EECF244321}">
                <p14:modId xmlns:p14="http://schemas.microsoft.com/office/powerpoint/2010/main" val="1285206112"/>
              </p:ext>
            </p:extLst>
          </p:nvPr>
        </p:nvGraphicFramePr>
        <p:xfrm>
          <a:off x="168810" y="1223889"/>
          <a:ext cx="9242475" cy="54891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2249" y="601106"/>
            <a:ext cx="4019501" cy="923336"/>
          </a:xfrm>
        </p:spPr>
        <p:txBody>
          <a:bodyPr>
            <a:normAutofit/>
          </a:bodyPr>
          <a:lstStyle/>
          <a:p>
            <a:pPr algn="ctr">
              <a:defRPr sz="2800"/>
            </a:pPr>
            <a:r>
              <a:rPr sz="3200" b="1" dirty="0">
                <a:effectLst>
                  <a:outerShdw blurRad="38100" dist="38100" dir="2700000" algn="tl">
                    <a:srgbClr val="000000">
                      <a:alpha val="43137"/>
                    </a:srgbClr>
                  </a:outerShdw>
                </a:effectLst>
                <a:latin typeface="Berlin Sans FB Demi" panose="020E0802020502020306" pitchFamily="34" charset="0"/>
              </a:rPr>
              <a:t>Final Conclusion</a:t>
            </a:r>
          </a:p>
        </p:txBody>
      </p:sp>
      <p:graphicFrame>
        <p:nvGraphicFramePr>
          <p:cNvPr id="4" name="Content Placeholder 3">
            <a:extLst>
              <a:ext uri="{FF2B5EF4-FFF2-40B4-BE49-F238E27FC236}">
                <a16:creationId xmlns:a16="http://schemas.microsoft.com/office/drawing/2014/main" id="{313F01BA-F367-2ABF-0E58-0AA8BE7AB677}"/>
              </a:ext>
            </a:extLst>
          </p:cNvPr>
          <p:cNvGraphicFramePr>
            <a:graphicFrameLocks noGrp="1"/>
          </p:cNvGraphicFramePr>
          <p:nvPr>
            <p:ph idx="1"/>
            <p:extLst>
              <p:ext uri="{D42A27DB-BD31-4B8C-83A1-F6EECF244321}">
                <p14:modId xmlns:p14="http://schemas.microsoft.com/office/powerpoint/2010/main" val="1113961778"/>
              </p:ext>
            </p:extLst>
          </p:nvPr>
        </p:nvGraphicFramePr>
        <p:xfrm>
          <a:off x="407963" y="1308295"/>
          <a:ext cx="8440615" cy="57536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1661</TotalTime>
  <Words>621</Words>
  <Application>Microsoft Office PowerPoint</Application>
  <PresentationFormat>On-screen Show (4:3)</PresentationFormat>
  <Paragraphs>55</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Berlin Sans FB Demi</vt:lpstr>
      <vt:lpstr>Britannic Bold</vt:lpstr>
      <vt:lpstr>Century Gothic</vt:lpstr>
      <vt:lpstr>Wingdings 3</vt:lpstr>
      <vt:lpstr>Wisp</vt:lpstr>
      <vt:lpstr> </vt:lpstr>
      <vt:lpstr>Company Overview</vt:lpstr>
      <vt:lpstr>PowerPoint Presentation</vt:lpstr>
      <vt:lpstr>Capital Structure Analysis</vt:lpstr>
      <vt:lpstr>Cost of Equity (CAPM)</vt:lpstr>
      <vt:lpstr>After-Tax Cost of Debt</vt:lpstr>
      <vt:lpstr>WACC Calculation</vt:lpstr>
      <vt:lpstr>ROIC vs WACC</vt:lpstr>
      <vt:lpstr>Sensitivity Analysis</vt:lpstr>
      <vt:lpstr>Limitations</vt:lpstr>
      <vt:lpstr>Final 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Govind Patidar</cp:lastModifiedBy>
  <cp:revision>23</cp:revision>
  <dcterms:created xsi:type="dcterms:W3CDTF">2013-01-27T09:14:16Z</dcterms:created>
  <dcterms:modified xsi:type="dcterms:W3CDTF">2026-08-10T07:51:36Z</dcterms:modified>
  <cp:category/>
</cp:coreProperties>
</file>